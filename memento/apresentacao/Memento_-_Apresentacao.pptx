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1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9144000" cy="6858000"/>
  <p:notesSz cx="6797675" cy="987425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mover o slide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&lt;cabeçalho&gt;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B6B8AA2-8D9A-42E2-AC8B-AF8D27B7C09D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sldNum" idx="37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D843D3-0AA9-4F39-9834-A4C1993E6847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sldNum" idx="38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AAE8617-01B9-4233-8CD3-D0F324B0920C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sldNum" idx="39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5A6065-8D21-47B4-97FB-33CA1B77AA31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sldNum" idx="40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59D9E57-757B-4357-9042-015B17E759EB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41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DFB6FA-4827-4DC6-B98A-F8FEB1636737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sldNum" idx="42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B9FC1B-10D6-4964-B98D-DDDF78FD6047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sldImg"/>
          </p:nvPr>
        </p:nvSpPr>
        <p:spPr>
          <a:xfrm>
            <a:off x="932040" y="741240"/>
            <a:ext cx="4933440" cy="370152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679680" y="4690440"/>
            <a:ext cx="5437800" cy="444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sldNum" idx="43"/>
          </p:nvPr>
        </p:nvSpPr>
        <p:spPr>
          <a:xfrm>
            <a:off x="3850560" y="9378720"/>
            <a:ext cx="2945160" cy="493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6D6152-10C6-48D4-B8B0-40F43AEF029A}" type="slidenum">
              <a:rPr lang="pt-B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lide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o título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E902B52-CB80-4704-A236-2EC0F6B40DC5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e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editar o título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D38045-3D08-4710-AA4C-A36939B9F56C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e texto verticai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tí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ul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</a:t>
            </a: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8DB8CE-0DE9-4A97-A013-501CE201453B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A40CB8-F393-4F55-B8C3-06E74C887CE8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beçalho da Se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pt-BR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7EB828-C684-4F14-BAEF-181C23567C03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uas Partes d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12444DD-1FDC-4EE2-9BC1-C64DD7FE76AB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B51835-420F-4434-ACB7-F8937F4D3AB9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ment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E771A90-273E-4AD2-A8E2-F21668F049A1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m br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A4B3A7-B971-4FDB-BD2D-6318722AD799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údo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nível</a:t>
            </a:r>
            <a:endParaRPr lang="pt-BR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Terceiro nível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Quarto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nível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7DE757-8E53-4654-8AF4-3FC44C1B109C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m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título mestre</a:t>
            </a:r>
            <a:endParaRPr lang="pt-BR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pt-BR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texto mestre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FC75399-33C1-4D26-9C8B-F489C819CA50}" type="slidenum">
              <a:rPr lang="pt-BR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66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67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68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69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70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Memento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Comportamentais: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Memento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Sem violar o encapsulamento, captura e externaliza o estado interno de um objeto, de modo que ele possa ser restaurado para esse estado mais tarde.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73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D79BD921-545F-42EE-9793-D8F6DD0CBA0D}" type="slidenum">
              <a:t>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76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77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78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79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80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Memento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Comportamentais: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Memento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1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Problema</a:t>
            </a: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320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6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Muitas aplicações precisam voltar a um estado anterior: desfazer uma edição, recarregar um checkpoint, cancelar uma alteração.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320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6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Ex.: um jogo em que o personagem salva o progresso antes de uma fase difícil e volta se for derrotado.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320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6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Para copiar o estado, outra classe teria que ler todos os atributos do objeto, obrigando-o a expor campos privados com getters e setters.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320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6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Expor o estado quebra o encapsulamento: qualquer mudança nos atributos passa a afetar quem faz as cópias.</a:t>
            </a:r>
            <a:endParaRPr lang="pt-BR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83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3F825F48-5D32-4F8D-A2E7-CD12E23C4CF6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86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87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88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89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90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Memento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lnSpcReduction="9999"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Comportamentais: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Memento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1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Solução</a:t>
            </a: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O próprio objeto (Originator, aqui o Personagem) cria uma “foto” do seu estado: o Memento.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O Memento é imutável e guarda uma cópia dos campos (fase, nivel, vida) sem expô-los a outras classes.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Só o Originator lê o conteúdo do Memento; para os demais objetos ele é uma caixa fechada.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O Caretaker (Checkpoints) guarda os Mementos em uma pilha e decide quando salvar e quando voltar.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Para voltar, o Caretaker devolve um Memento ao Originator, que copia o estado salvo de volta para si.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3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F311CF6-1F9A-4969-BDE2-A168238A21AA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96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97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98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99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00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Memento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14972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85000" lnSpcReduction="9999"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Comportamentais: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Memento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1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Estrutura</a:t>
            </a: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Main (Cliente) joga com o Personagem e pede ao Checkpoints para salvar ou voltar.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Personagem (Originator) cria o Memento com seu estado e sabe restaurá-lo.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14680" lvl="3" indent="-34308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pt-BR" sz="1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Checkpoints (Caretaker) guarda os Mementos em uma pilha, sem ler o conteúdo deles.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03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" name="Rectangle 106"/>
          <p:cNvSpPr/>
          <p:nvPr/>
        </p:nvSpPr>
        <p:spPr>
          <a:xfrm>
            <a:off x="4716000" y="1700000"/>
            <a:ext cx="1700000" cy="500000"/>
          </a:xfrm>
          <a:prstGeom prst="rect">
            <a:avLst/>
          </a:prstGeom>
          <a:solidFill>
            <a:srgbClr val="EAF1FB"/>
          </a:solidFill>
          <a:ln w="12700">
            <a:solidFill>
              <a:srgbClr val="4040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tIns="27360" rIns="45720" bIns="27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Main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(Cliente)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Rectangle 107"/>
          <p:cNvSpPr/>
          <p:nvPr/>
        </p:nvSpPr>
        <p:spPr>
          <a:xfrm>
            <a:off x="6736000" y="1625000"/>
            <a:ext cx="1950000" cy="1050000"/>
          </a:xfrm>
          <a:prstGeom prst="rect">
            <a:avLst/>
          </a:prstGeom>
          <a:solidFill>
            <a:srgbClr val="EAF1FB"/>
          </a:solidFill>
          <a:ln w="12700">
            <a:solidFill>
              <a:srgbClr val="4040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tIns="27360" rIns="45720" bIns="27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Personagem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(Originator)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- fase, nivel, vida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+ salvar(): Memento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+ restaurar(m: Memento)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ectangle 108"/>
          <p:cNvSpPr/>
          <p:nvPr/>
        </p:nvSpPr>
        <p:spPr>
          <a:xfrm>
            <a:off x="4716000" y="3700000"/>
            <a:ext cx="1700000" cy="1050000"/>
          </a:xfrm>
          <a:prstGeom prst="rect">
            <a:avLst/>
          </a:prstGeom>
          <a:solidFill>
            <a:srgbClr val="EAF1FB"/>
          </a:solidFill>
          <a:ln w="12700">
            <a:solidFill>
              <a:srgbClr val="4040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tIns="27360" rIns="45720" bIns="27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Checkpoints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(Caretaker)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- historico: Deque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+ salvar()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+ voltar()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Rectangle 109"/>
          <p:cNvSpPr/>
          <p:nvPr/>
        </p:nvSpPr>
        <p:spPr>
          <a:xfrm>
            <a:off x="6736000" y="3700000"/>
            <a:ext cx="1950000" cy="1050000"/>
          </a:xfrm>
          <a:prstGeom prst="rect">
            <a:avLst/>
          </a:prstGeom>
          <a:solidFill>
            <a:srgbClr val="FFF3D6"/>
          </a:solidFill>
          <a:ln w="12700">
            <a:solidFill>
              <a:srgbClr val="4040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tIns="27360" rIns="45720" bIns="27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Memento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- fase, nivel, vida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(privados, imutáveis)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202020"/>
                </a:solidFill>
                <a:effectLst/>
                <a:uFillTx/>
                <a:latin typeface="Calibri"/>
              </a:rPr>
              <a:t>+ rotulo(): String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0" name="Connector 110"/>
          <p:cNvCxnSpPr/>
          <p:nvPr/>
        </p:nvCxnSpPr>
        <p:spPr>
          <a:xfrm>
            <a:off x="6416000" y="1950000"/>
            <a:ext cx="320000" cy="0"/>
          </a:xfrm>
          <a:prstGeom prst="straightConnector1">
            <a:avLst/>
          </a:prstGeom>
          <a:ln w="15875">
            <a:solidFill>
              <a:srgbClr val="606060"/>
            </a:solidFill>
            <a:round/>
            <a:tailEnd len="med" type="triangle" w="med"/>
          </a:ln>
        </p:spPr>
      </p:cxnSp>
      <p:cxnSp>
        <p:nvCxnSpPr>
          <p:cNvPr id="111" name="Connector 111"/>
          <p:cNvCxnSpPr/>
          <p:nvPr/>
        </p:nvCxnSpPr>
        <p:spPr>
          <a:xfrm>
            <a:off x="5566000" y="2200000"/>
            <a:ext cx="0" cy="1500000"/>
          </a:xfrm>
          <a:prstGeom prst="straightConnector1">
            <a:avLst/>
          </a:prstGeom>
          <a:ln w="15875">
            <a:solidFill>
              <a:srgbClr val="606060"/>
            </a:solidFill>
            <a:round/>
            <a:tailEnd len="med" type="triangle" w="med"/>
          </a:ln>
        </p:spPr>
      </p:cxnSp>
      <p:cxnSp>
        <p:nvCxnSpPr>
          <p:cNvPr id="112" name="Connector 112"/>
          <p:cNvCxnSpPr/>
          <p:nvPr/>
        </p:nvCxnSpPr>
        <p:spPr>
          <a:xfrm flipV="1">
            <a:off x="6416000" y="2675000"/>
            <a:ext cx="320000" cy="1025000"/>
          </a:xfrm>
          <a:prstGeom prst="straightConnector1">
            <a:avLst/>
          </a:prstGeom>
          <a:ln w="15875">
            <a:solidFill>
              <a:srgbClr val="606060"/>
            </a:solidFill>
            <a:round/>
            <a:tailEnd len="med" type="triangle" w="med"/>
          </a:ln>
        </p:spPr>
      </p:cxnSp>
      <p:cxnSp>
        <p:nvCxnSpPr>
          <p:cNvPr id="113" name="Connector 113"/>
          <p:cNvCxnSpPr/>
          <p:nvPr/>
        </p:nvCxnSpPr>
        <p:spPr>
          <a:xfrm>
            <a:off x="6416000" y="4225000"/>
            <a:ext cx="320000" cy="0"/>
          </a:xfrm>
          <a:prstGeom prst="straightConnector1">
            <a:avLst/>
          </a:prstGeom>
          <a:ln w="15875">
            <a:solidFill>
              <a:srgbClr val="606060"/>
            </a:solidFill>
            <a:round/>
            <a:headEnd type="diamond" w="lg" len="lg"/>
            <a:tailEnd len="med" type="triangle" w="med"/>
          </a:ln>
        </p:spPr>
      </p:cxnSp>
      <p:cxnSp>
        <p:nvCxnSpPr>
          <p:cNvPr id="114" name="Connector 114"/>
          <p:cNvCxnSpPr/>
          <p:nvPr/>
        </p:nvCxnSpPr>
        <p:spPr>
          <a:xfrm>
            <a:off x="7711000" y="2675000"/>
            <a:ext cx="0" cy="1025000"/>
          </a:xfrm>
          <a:prstGeom prst="straightConnector1">
            <a:avLst/>
          </a:prstGeom>
          <a:ln w="15875">
            <a:solidFill>
              <a:srgbClr val="606060"/>
            </a:solidFill>
            <a:prstDash val="dash"/>
            <a:round/>
            <a:tailEnd len="med" type="triangle" w="med"/>
          </a:ln>
        </p:spPr>
      </p:cxnSp>
      <p:sp>
        <p:nvSpPr>
          <p:cNvPr id="115" name="TextBox 115"/>
          <p:cNvSpPr txBox="1"/>
          <p:nvPr/>
        </p:nvSpPr>
        <p:spPr>
          <a:xfrm>
            <a:off x="7791000" y="3000000"/>
            <a:ext cx="900000" cy="300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p>
            <a:pPr algn="l"/>
            <a:r>
              <a:rPr lang="pt-BR" sz="1000" b="0" i="1">
                <a:solidFill>
                  <a:srgbClr val="404040"/>
                </a:solidFill>
                <a:latin typeface="Calibri"/>
              </a:rPr>
              <a:t>«cria / lê»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72CAB2AB-BA36-483E-B4A8-2FD0474FE398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111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12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113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114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15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Memento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14972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Comportamentais: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Memento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1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Exemplo de Código</a:t>
            </a:r>
            <a:r>
              <a:rPr lang="en-US" sz="18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Personagem cria o Memento com fase, nível e vida e sabe restaurá-lo; os campos do Memento são privados.</a:t>
            </a:r>
            <a:endParaRPr lang="pt-BR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Checkpoints empilha os Mementos e devolve o último ao Personagem quando o jogador volta.</a:t>
            </a:r>
            <a:endParaRPr lang="pt-BR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Main salva na Vila e na Floresta, é derrotado no Castelo e volta para os dois checkpoints.</a:t>
            </a:r>
            <a:endParaRPr lang="pt-BR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18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9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Rectangle 23"/>
          <p:cNvSpPr/>
          <p:nvPr/>
        </p:nvSpPr>
        <p:spPr>
          <a:xfrm>
            <a:off x="4716000" y="1649880"/>
            <a:ext cx="3099600" cy="2349720"/>
          </a:xfrm>
          <a:prstGeom prst="rect">
            <a:avLst/>
          </a:prstGeom>
          <a:solidFill>
            <a:srgbClr val="1E1E1E"/>
          </a:solidFill>
          <a:ln>
            <a:solidFill>
              <a:srgbClr val="3C3C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9920" tIns="60120" rIns="60120" bIns="601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9CDCFE"/>
                </a:solidFill>
                <a:effectLst/>
                <a:uFillTx/>
                <a:latin typeface="Calibri"/>
              </a:rPr>
              <a:t>Personagem.java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public Memento salvar() {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return new Memento(fase, nivel, vida);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public void restaurar(Memento m) {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fase = m.fase;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nivel = m.nivel;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vida = m.vida;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public static final class Memento {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private final String fase; ...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private Memento(...) { ... 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Rectangle 24"/>
          <p:cNvSpPr/>
          <p:nvPr/>
        </p:nvSpPr>
        <p:spPr>
          <a:xfrm>
            <a:off x="4716000" y="4150080"/>
            <a:ext cx="3099600" cy="2349720"/>
          </a:xfrm>
          <a:prstGeom prst="rect">
            <a:avLst/>
          </a:prstGeom>
          <a:solidFill>
            <a:srgbClr val="1E1E1E"/>
          </a:solidFill>
          <a:ln>
            <a:solidFill>
              <a:srgbClr val="3C3C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9920" tIns="60120" rIns="60120" bIns="601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9CDCFE"/>
                </a:solidFill>
                <a:effectLst/>
                <a:uFillTx/>
                <a:latin typeface="Calibri"/>
              </a:rPr>
              <a:t>Checkpoints.java / Main.java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private final Deque&lt;Personagem.Memento&gt;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  historico = new ArrayDeque&lt;&gt;();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public void salvar() {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historico.push(personagem.salvar());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public void voltar() {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 personagem.restaurar(historico.pop());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}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 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checkpoints.salvar();   // Floresta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heroi.sofrerDano(70);   // Vida 0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checkpoints.voltar();   // Vida 70</a:t>
            </a:r>
            <a:endParaRPr lang="pt-B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84F17A84-12A4-4BB9-B4F6-F9BCC4D7D1B5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123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24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125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126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27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Memento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Comportamentais: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just" defTabSz="914400">
              <a:lnSpc>
                <a:spcPct val="100000"/>
              </a:lnSpc>
              <a:spcBef>
                <a:spcPts val="400"/>
              </a:spcBef>
              <a:buClr>
                <a:srgbClr val="333399"/>
              </a:buClr>
              <a:buFont typeface="Wingdings" charset="2"/>
              <a:buChar char=""/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Memento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just" defTabSz="914400">
              <a:lnSpc>
                <a:spcPct val="100000"/>
              </a:lnSpc>
              <a:spcBef>
                <a:spcPts val="360"/>
              </a:spcBef>
              <a:buClr>
                <a:srgbClr val="333399"/>
              </a:buClr>
              <a:buFont typeface="Wingdings" charset="2"/>
              <a:buChar char=""/>
              <a:tabLst>
                <a:tab pos="0" algn="l"/>
              </a:tabLst>
            </a:pPr>
            <a:r>
              <a:rPr lang="en-US" sz="1800" b="0" u="sng" strike="noStrike">
                <a:solidFill>
                  <a:srgbClr val="333399"/>
                </a:solidFill>
                <a:effectLst/>
                <a:uFillTx/>
                <a:latin typeface="Calibri"/>
              </a:rPr>
              <a:t>Aplicabilidade</a:t>
            </a:r>
            <a:r>
              <a:rPr lang="en-US" sz="18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: 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Quando é preciso guardar “fotos” do estado de um objeto para restaurá-lo depois: desfazer, checkpoints, rollback.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Quando acessar o estado diretamente exporia detalhes de implementação e quebraria o encapsulamento.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Quando o estado é pequeno o bastante para que copiá-lo a cada salvamento seja barato.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just" defTabSz="914400">
              <a:lnSpc>
                <a:spcPct val="100000"/>
              </a:lnSpc>
              <a:spcBef>
                <a:spcPts val="281"/>
              </a:spcBef>
              <a:buClr>
                <a:srgbClr val="333399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pt-BR" sz="1400" b="0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Exemplos: Ctrl+Z em editores (junto com o Command), save games, rollback de transações e rascunhos de formulários.</a:t>
            </a:r>
            <a:endParaRPr lang="pt-BR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30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1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EDA7002-B8DF-4828-8539-74A945FBD055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roup 4"/>
          <p:cNvGrpSpPr/>
          <p:nvPr/>
        </p:nvGrpSpPr>
        <p:grpSpPr>
          <a:xfrm>
            <a:off x="0" y="6305400"/>
            <a:ext cx="9143640" cy="399960"/>
            <a:chOff x="0" y="6305400"/>
            <a:chExt cx="9143640" cy="399960"/>
          </a:xfrm>
        </p:grpSpPr>
        <p:sp>
          <p:nvSpPr>
            <p:cNvPr id="133" name="Rectangle 5"/>
            <p:cNvSpPr/>
            <p:nvPr/>
          </p:nvSpPr>
          <p:spPr>
            <a:xfrm>
              <a:off x="0" y="6305400"/>
              <a:ext cx="9143640" cy="396720"/>
            </a:xfrm>
            <a:prstGeom prst="rect">
              <a:avLst/>
            </a:prstGeom>
            <a:solidFill>
              <a:srgbClr val="BAC4D8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34" name="Rectangle 6"/>
            <p:cNvSpPr/>
            <p:nvPr/>
          </p:nvSpPr>
          <p:spPr>
            <a:xfrm>
              <a:off x="0" y="6308640"/>
              <a:ext cx="9143640" cy="39672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grpSp>
        <p:nvGrpSpPr>
          <p:cNvPr id="135" name="Group 8"/>
          <p:cNvGrpSpPr/>
          <p:nvPr/>
        </p:nvGrpSpPr>
        <p:grpSpPr>
          <a:xfrm>
            <a:off x="0" y="209520"/>
            <a:ext cx="9143640" cy="1085760"/>
            <a:chOff x="0" y="209520"/>
            <a:chExt cx="9143640" cy="1085760"/>
          </a:xfrm>
        </p:grpSpPr>
        <p:sp>
          <p:nvSpPr>
            <p:cNvPr id="136" name="Rectangle 9"/>
            <p:cNvSpPr/>
            <p:nvPr/>
          </p:nvSpPr>
          <p:spPr>
            <a:xfrm>
              <a:off x="0" y="209520"/>
              <a:ext cx="9143640" cy="1076040"/>
            </a:xfrm>
            <a:prstGeom prst="rect">
              <a:avLst/>
            </a:prstGeom>
            <a:solidFill>
              <a:srgbClr val="96A5C4">
                <a:alpha val="60000"/>
              </a:srgb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  <p:sp>
          <p:nvSpPr>
            <p:cNvPr id="137" name="Rectangle 10"/>
            <p:cNvSpPr/>
            <p:nvPr/>
          </p:nvSpPr>
          <p:spPr>
            <a:xfrm>
              <a:off x="0" y="219240"/>
              <a:ext cx="9143640" cy="1076040"/>
            </a:xfrm>
            <a:prstGeom prst="rect">
              <a:avLst/>
            </a:prstGeom>
            <a:solidFill>
              <a:schemeClr val="lt1">
                <a:alpha val="31000"/>
              </a:schemeClr>
            </a:solidFill>
            <a:ln w="9525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ctr">
              <a:noAutofit/>
            </a:bodyPr>
            <a:p>
              <a:endParaRPr lang="pt-BR" sz="1800" b="0" u="none" strike="noStrike">
                <a:solidFill>
                  <a:schemeClr val="dk1"/>
                </a:solidFill>
                <a:effectLst/>
                <a:uFillTx/>
                <a:latin typeface="Tahoma"/>
              </a:endParaRPr>
            </a:p>
          </p:txBody>
        </p:sp>
      </p:grpSp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pt-BR" sz="4000" b="0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Memento</a:t>
            </a:r>
            <a:endParaRPr lang="pt-BR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33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i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de Projeto Orientado a Objetos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360"/>
              </a:spcBef>
              <a:buNone/>
              <a:tabLst>
                <a:tab pos="0" algn="l"/>
              </a:tabLst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7240" indent="0" algn="just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rgbClr val="333399"/>
                </a:solidFill>
                <a:effectLst/>
                <a:uFillTx/>
                <a:latin typeface="Calibri"/>
              </a:rPr>
              <a:t>Padrões Comportamentais: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40" name="Imagem 14"/>
          <p:cNvPicPr/>
          <p:nvPr/>
        </p:nvPicPr>
        <p:blipFill>
          <a:blip r:embed="rId1"/>
          <a:stretch/>
        </p:blipFill>
        <p:spPr>
          <a:xfrm>
            <a:off x="8244360" y="328320"/>
            <a:ext cx="514440" cy="79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1" name="Imagem 22"/>
          <p:cNvPicPr/>
          <p:nvPr/>
        </p:nvPicPr>
        <p:blipFill>
          <a:blip r:embed="rId2"/>
          <a:stretch/>
        </p:blipFill>
        <p:spPr>
          <a:xfrm>
            <a:off x="281160" y="567720"/>
            <a:ext cx="1199520" cy="35964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42" name="Tabela 6"/>
          <p:cNvGraphicFramePr/>
          <p:nvPr/>
        </p:nvGraphicFramePr>
        <p:xfrm>
          <a:off x="457200" y="2853000"/>
          <a:ext cx="8229240" cy="207396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6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PRÓS</a:t>
                      </a:r>
                      <a:endParaRPr lang="pt-BR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lang="pt-BR" sz="16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Calibri"/>
                        </a:rPr>
                        <a:t>CONTRAS</a:t>
                      </a:r>
                      <a:endParaRPr lang="pt-BR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 w="2520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Salva e restaura o estado de um objeto sem violar o seu encapsulamento.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Consome memória se os Mementos forem grandes ou criados com muita frequência.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Simplifica o Originator: guardar o histórico é responsabilidade do Caretaker.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O Caretaker precisa controlar quantos Mementos guarda e descartar os antigos.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lt1"/>
                    </a:solidFill>
                  </a:tcPr>
                </a:tc>
              </a:tr>
              <a:tr h="3708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Facilita implementar desfazer, checkpoints e rollback de operações.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pt-BR" sz="12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Calibri"/>
                        </a:rPr>
                        <a:t>Em algumas linguagens é difícil garantir que só o Originator acesse o conteúdo do Memento.</a:t>
                      </a:r>
                      <a:endParaRPr lang="pt-BR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200">
                      <a:solidFill>
                        <a:srgbClr val="000000"/>
                      </a:solidFill>
                      <a:prstDash val="solid"/>
                    </a:lnB>
                    <a:solidFill>
                      <a:schemeClr val="dk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B68FBF21-7E69-462B-9176-ABF03D84F657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EmbeddedLab</Template>
  <TotalTime>118500</TotalTime>
  <Application>LibreOffice/26.2.6.1$Linux_X86_64 LibreOffice_project/620$Build-1</Application>
  <AppVersion>15.0000</AppVersion>
  <Words>288</Words>
  <Paragraphs>91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2012-08-10T18:51:58Z</dcterms:created>
  <dc:creator>lenardocs</dc:creator>
  <dc:description/>
  <dc:language>pt-BR</dc:language>
  <cp:lastModifiedBy/>
  <cp:lastPrinted>2015-03-03T10:46:54Z</cp:lastPrinted>
  <dcterms:modified xsi:type="dcterms:W3CDTF">2026-09-15T19:31:40Z</dcterms:modified>
  <cp:revision>2229</cp:revision>
  <dc:subject/>
  <dc:title>Sistemas Multimídia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</vt:i4>
  </property>
  <property fmtid="{D5CDD505-2E9C-101B-9397-08002B2CF9AE}" pid="3" name="PresentationFormat">
    <vt:lpwstr>Apresentação na tela (4:3)</vt:lpwstr>
  </property>
  <property fmtid="{D5CDD505-2E9C-101B-9397-08002B2CF9AE}" pid="4" name="Slides">
    <vt:i4>7</vt:i4>
  </property>
</Properties>
</file>