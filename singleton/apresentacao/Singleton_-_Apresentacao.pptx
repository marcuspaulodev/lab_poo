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bookmarkIdSeed="3">
  <p:sldMasterIdLst>
    <p:sldMasterId id="2147483872" r:id="rId1"/>
  </p:sldMasterIdLst>
  <p:notesMasterIdLst>
    <p:notesMasterId r:id="rId9"/>
  </p:notesMasterIdLst>
  <p:handoutMasterIdLst>
    <p:handoutMasterId r:id="rId10"/>
  </p:handoutMasterIdLst>
  <p:sldIdLst>
    <p:sldId id="457" r:id="rId2"/>
    <p:sldId id="483" r:id="rId3"/>
    <p:sldId id="485" r:id="rId4"/>
    <p:sldId id="486" r:id="rId5"/>
    <p:sldId id="490" r:id="rId6"/>
    <p:sldId id="489" r:id="rId7"/>
    <p:sldId id="487" r:id="rId8"/>
  </p:sldIdLst>
  <p:sldSz cx="9144000" cy="6858000" type="screen4x3"/>
  <p:notesSz cx="6797675" cy="987425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3399"/>
    <a:srgbClr val="00FF01"/>
    <a:srgbClr val="FFFFFF"/>
    <a:srgbClr val="E5E5E5"/>
    <a:srgbClr val="FDFFB3"/>
    <a:srgbClr val="FF898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enhum Estilo, Nenhuma Grad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27102A9-8310-4765-A935-A1911B00CA55}" styleName="Estilo Claro 1 - Ênfase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6E25E649-3F16-4E02-A733-19D2CDBF48F0}" styleName="Estilo Médio 3 - Ênfase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F1AB2-1976-4502-BF36-3FF5EA218861}" styleName="Estilo Médio 4 - Ênfas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073A0DAA-6AF3-43AB-8588-CEC1D06C72B9}" styleName="Estilo Mé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Estilo Médio 2 - Ênfase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43" autoAdjust="0"/>
    <p:restoredTop sz="68421" autoAdjust="0"/>
  </p:normalViewPr>
  <p:slideViewPr>
    <p:cSldViewPr>
      <p:cViewPr varScale="1">
        <p:scale>
          <a:sx n="75" d="100"/>
          <a:sy n="75" d="100"/>
        </p:scale>
        <p:origin x="2592" y="5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3930"/>
    </p:cViewPr>
  </p:outlineViewPr>
  <p:notesTextViewPr>
    <p:cViewPr>
      <p:scale>
        <a:sx n="150" d="100"/>
        <a:sy n="150" d="100"/>
      </p:scale>
      <p:origin x="0" y="0"/>
    </p:cViewPr>
  </p:notesTextViewPr>
  <p:notesViewPr>
    <p:cSldViewPr>
      <p:cViewPr varScale="1">
        <p:scale>
          <a:sx n="50" d="100"/>
          <a:sy n="50" d="100"/>
        </p:scale>
        <p:origin x="2898" y="5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handoutMaster" Target="handoutMasters/handout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5427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 dirty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quarter" idx="1"/>
          </p:nvPr>
        </p:nvSpPr>
        <p:spPr>
          <a:xfrm>
            <a:off x="3850443" y="0"/>
            <a:ext cx="2945659" cy="495427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CC5EA0-29E7-4103-BA05-2D913AD97A19}" type="datetimeFigureOut">
              <a:rPr lang="pt-BR" smtClean="0"/>
              <a:t>18/08/2026</a:t>
            </a:fld>
            <a:endParaRPr lang="pt-BR" dirty="0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2"/>
          </p:nvPr>
        </p:nvSpPr>
        <p:spPr>
          <a:xfrm>
            <a:off x="0" y="9378824"/>
            <a:ext cx="2945659" cy="49542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 dirty="0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3"/>
          </p:nvPr>
        </p:nvSpPr>
        <p:spPr>
          <a:xfrm>
            <a:off x="3850443" y="9378824"/>
            <a:ext cx="2945659" cy="49542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793395-FD7E-449E-AB90-F73CDC3D17A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0706086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37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 dirty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37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A630C5F-284B-44F0-A8A0-7F84179800FE}" type="datetimeFigureOut">
              <a:rPr lang="pt-BR" smtClean="0"/>
              <a:t>18/08/2026</a:t>
            </a:fld>
            <a:endParaRPr lang="pt-BR" dirty="0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931863" y="741363"/>
            <a:ext cx="4933950" cy="37020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 dirty="0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79768" y="4690269"/>
            <a:ext cx="5438140" cy="4443413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9378824"/>
            <a:ext cx="2945659" cy="4937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 dirty="0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50443" y="9378824"/>
            <a:ext cx="2945659" cy="4937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054281-F103-4FD5-A7F2-1CA3EE49F0F2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3579799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054281-F103-4FD5-A7F2-1CA3EE49F0F2}" type="slidenum">
              <a:rPr lang="pt-BR" smtClean="0"/>
              <a:t>1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313550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054281-F103-4FD5-A7F2-1CA3EE49F0F2}" type="slidenum">
              <a:rPr lang="pt-BR" smtClean="0"/>
              <a:t>2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1445786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054281-F103-4FD5-A7F2-1CA3EE49F0F2}" type="slidenum">
              <a:rPr lang="pt-BR" smtClean="0"/>
              <a:t>3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8313516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054281-F103-4FD5-A7F2-1CA3EE49F0F2}" type="slidenum">
              <a:rPr lang="pt-BR" smtClean="0"/>
              <a:t>4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5998105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680E3E-F3C0-13E4-7718-29F7C2AD34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7F5FD39-48DC-31D8-5728-B3BF9F1652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9837A28-4DF4-9B5D-B48D-DF5B4638A9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1C2382F-EA7B-56BF-AECB-A3A79F1606B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054281-F103-4FD5-A7F2-1CA3EE49F0F2}" type="slidenum">
              <a:rPr lang="pt-BR" smtClean="0"/>
              <a:t>5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290076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054281-F103-4FD5-A7F2-1CA3EE49F0F2}" type="slidenum">
              <a:rPr lang="pt-BR" smtClean="0"/>
              <a:t>6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53407469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054281-F103-4FD5-A7F2-1CA3EE49F0F2}" type="slidenum">
              <a:rPr lang="pt-BR" smtClean="0"/>
              <a:t>7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4652174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05063-AA5D-497E-A052-93E186060258}" type="datetime1">
              <a:rPr lang="pt-BR" smtClean="0"/>
              <a:t>18/08/2026</a:t>
            </a:fld>
            <a:endParaRPr lang="pt-BR" dirty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E3338C-2AB5-4F7D-90A9-4B843DC428B1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238913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63BEF-DA3A-4FF1-A0E6-59E4C77370D5}" type="datetimeFigureOut">
              <a:rPr lang="pt-BR" smtClean="0"/>
              <a:t>18/08/2026</a:t>
            </a:fld>
            <a:endParaRPr lang="pt-BR" dirty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2C95A-2AF6-49B0-BE51-226E5A34C307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399186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63BEF-DA3A-4FF1-A0E6-59E4C77370D5}" type="datetimeFigureOut">
              <a:rPr lang="pt-BR" smtClean="0"/>
              <a:t>18/08/2026</a:t>
            </a:fld>
            <a:endParaRPr lang="pt-BR" dirty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2C95A-2AF6-49B0-BE51-226E5A34C307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5762486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63BEF-DA3A-4FF1-A0E6-59E4C77370D5}" type="datetimeFigureOut">
              <a:rPr lang="pt-BR" smtClean="0"/>
              <a:t>18/08/2026</a:t>
            </a:fld>
            <a:endParaRPr lang="pt-BR" dirty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2C95A-2AF6-49B0-BE51-226E5A34C307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25511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63BEF-DA3A-4FF1-A0E6-59E4C77370D5}" type="datetimeFigureOut">
              <a:rPr lang="pt-BR" smtClean="0"/>
              <a:t>18/08/2026</a:t>
            </a:fld>
            <a:endParaRPr lang="pt-BR" dirty="0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2C95A-2AF6-49B0-BE51-226E5A34C307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2165044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63BEF-DA3A-4FF1-A0E6-59E4C77370D5}" type="datetimeFigureOut">
              <a:rPr lang="pt-BR" smtClean="0"/>
              <a:t>18/08/2026</a:t>
            </a:fld>
            <a:endParaRPr lang="pt-BR" dirty="0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2C95A-2AF6-49B0-BE51-226E5A34C307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665730049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63BEF-DA3A-4FF1-A0E6-59E4C77370D5}" type="datetimeFigureOut">
              <a:rPr lang="pt-BR" smtClean="0"/>
              <a:t>18/08/2026</a:t>
            </a:fld>
            <a:endParaRPr lang="pt-BR" dirty="0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2C95A-2AF6-49B0-BE51-226E5A34C307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078876398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63BEF-DA3A-4FF1-A0E6-59E4C77370D5}" type="datetimeFigureOut">
              <a:rPr lang="pt-BR" smtClean="0"/>
              <a:t>18/08/2026</a:t>
            </a:fld>
            <a:endParaRPr lang="pt-BR" dirty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2C95A-2AF6-49B0-BE51-226E5A34C307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39813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 dirty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63BEF-DA3A-4FF1-A0E6-59E4C77370D5}" type="datetimeFigureOut">
              <a:rPr lang="pt-BR" smtClean="0"/>
              <a:t>18/08/2026</a:t>
            </a:fld>
            <a:endParaRPr lang="pt-BR" dirty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2C95A-2AF6-49B0-BE51-226E5A34C307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8093639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63BEF-DA3A-4FF1-A0E6-59E4C77370D5}" type="datetimeFigureOut">
              <a:rPr lang="pt-BR" smtClean="0"/>
              <a:t>18/08/2026</a:t>
            </a:fld>
            <a:endParaRPr lang="pt-BR" dirty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2C95A-2AF6-49B0-BE51-226E5A34C307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569269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63BEF-DA3A-4FF1-A0E6-59E4C77370D5}" type="datetimeFigureOut">
              <a:rPr lang="pt-BR" smtClean="0"/>
              <a:t>18/08/2026</a:t>
            </a:fld>
            <a:endParaRPr lang="pt-BR" dirty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2C95A-2AF6-49B0-BE51-226E5A34C307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4559121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A63BEF-DA3A-4FF1-A0E6-59E4C77370D5}" type="datetimeFigureOut">
              <a:rPr lang="pt-BR" smtClean="0"/>
              <a:t>18/08/2026</a:t>
            </a:fld>
            <a:endParaRPr lang="pt-BR" dirty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 dirty="0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202C95A-2AF6-49B0-BE51-226E5A34C307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8810733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3" r:id="rId1"/>
    <p:sldLayoutId id="2147483874" r:id="rId2"/>
    <p:sldLayoutId id="2147483875" r:id="rId3"/>
    <p:sldLayoutId id="2147483876" r:id="rId4"/>
    <p:sldLayoutId id="2147483877" r:id="rId5"/>
    <p:sldLayoutId id="2147483878" r:id="rId6"/>
    <p:sldLayoutId id="2147483879" r:id="rId7"/>
    <p:sldLayoutId id="2147483880" r:id="rId8"/>
    <p:sldLayoutId id="2147483881" r:id="rId9"/>
    <p:sldLayoutId id="2147483882" r:id="rId10"/>
    <p:sldLayoutId id="2147483883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4"/>
          <p:cNvGrpSpPr>
            <a:grpSpLocks/>
          </p:cNvGrpSpPr>
          <p:nvPr/>
        </p:nvGrpSpPr>
        <p:grpSpPr bwMode="auto">
          <a:xfrm>
            <a:off x="0" y="6305550"/>
            <a:ext cx="9144000" cy="400050"/>
            <a:chOff x="0" y="3546"/>
            <a:chExt cx="5760" cy="684"/>
          </a:xfrm>
        </p:grpSpPr>
        <p:sp>
          <p:nvSpPr>
            <p:cNvPr id="12" name="Rectangle 5"/>
            <p:cNvSpPr>
              <a:spLocks noChangeArrowheads="1"/>
            </p:cNvSpPr>
            <p:nvPr userDrawn="1"/>
          </p:nvSpPr>
          <p:spPr bwMode="auto">
            <a:xfrm>
              <a:off x="0" y="3546"/>
              <a:ext cx="5760" cy="679"/>
            </a:xfrm>
            <a:prstGeom prst="rect">
              <a:avLst/>
            </a:prstGeom>
            <a:solidFill>
              <a:srgbClr val="BAC4D8">
                <a:alpha val="60001"/>
              </a:srgb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pt-BR" dirty="0">
                <a:latin typeface="Tahoma" pitchFamily="34" charset="0"/>
                <a:ea typeface="+mn-ea"/>
              </a:endParaRPr>
            </a:p>
          </p:txBody>
        </p:sp>
        <p:sp>
          <p:nvSpPr>
            <p:cNvPr id="13" name="Rectangle 6"/>
            <p:cNvSpPr>
              <a:spLocks noChangeArrowheads="1"/>
            </p:cNvSpPr>
            <p:nvPr userDrawn="1"/>
          </p:nvSpPr>
          <p:spPr bwMode="auto">
            <a:xfrm>
              <a:off x="0" y="3551"/>
              <a:ext cx="5760" cy="679"/>
            </a:xfrm>
            <a:prstGeom prst="rect">
              <a:avLst/>
            </a:prstGeom>
            <a:solidFill>
              <a:schemeClr val="bg1">
                <a:alpha val="60001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pt-BR" dirty="0">
                <a:latin typeface="Tahoma" pitchFamily="34" charset="0"/>
                <a:ea typeface="+mn-ea"/>
              </a:endParaRPr>
            </a:p>
          </p:txBody>
        </p:sp>
      </p:grpSp>
      <p:grpSp>
        <p:nvGrpSpPr>
          <p:cNvPr id="16" name="Group 8"/>
          <p:cNvGrpSpPr>
            <a:grpSpLocks/>
          </p:cNvGrpSpPr>
          <p:nvPr/>
        </p:nvGrpSpPr>
        <p:grpSpPr bwMode="auto">
          <a:xfrm>
            <a:off x="0" y="209550"/>
            <a:ext cx="9144000" cy="1085850"/>
            <a:chOff x="0" y="-726"/>
            <a:chExt cx="5760" cy="684"/>
          </a:xfrm>
        </p:grpSpPr>
        <p:sp>
          <p:nvSpPr>
            <p:cNvPr id="17" name="Rectangle 9"/>
            <p:cNvSpPr>
              <a:spLocks noChangeArrowheads="1"/>
            </p:cNvSpPr>
            <p:nvPr userDrawn="1"/>
          </p:nvSpPr>
          <p:spPr bwMode="auto">
            <a:xfrm>
              <a:off x="0" y="-726"/>
              <a:ext cx="5760" cy="678"/>
            </a:xfrm>
            <a:prstGeom prst="rect">
              <a:avLst/>
            </a:prstGeom>
            <a:solidFill>
              <a:srgbClr val="96A5C4">
                <a:alpha val="60001"/>
              </a:srgb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pt-BR" dirty="0">
                <a:latin typeface="Tahoma" pitchFamily="34" charset="0"/>
                <a:ea typeface="+mn-ea"/>
              </a:endParaRPr>
            </a:p>
          </p:txBody>
        </p:sp>
        <p:sp>
          <p:nvSpPr>
            <p:cNvPr id="18" name="Rectangle 10"/>
            <p:cNvSpPr>
              <a:spLocks noChangeArrowheads="1"/>
            </p:cNvSpPr>
            <p:nvPr userDrawn="1"/>
          </p:nvSpPr>
          <p:spPr bwMode="auto">
            <a:xfrm>
              <a:off x="0" y="-720"/>
              <a:ext cx="5760" cy="678"/>
            </a:xfrm>
            <a:prstGeom prst="rect">
              <a:avLst/>
            </a:prstGeom>
            <a:solidFill>
              <a:schemeClr val="bg1">
                <a:alpha val="31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pt-BR" dirty="0">
                <a:latin typeface="Tahoma" pitchFamily="34" charset="0"/>
                <a:ea typeface="+mn-ea"/>
              </a:endParaRPr>
            </a:p>
          </p:txBody>
        </p:sp>
      </p:grpSp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sz="4000" i="1" dirty="0">
                <a:solidFill>
                  <a:srgbClr val="33339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Singleton</a:t>
            </a:r>
            <a:r>
              <a:rPr lang="pt-BR" sz="4000" i="1" dirty="0" err="1">
                <a:solidFill>
                  <a:srgbClr val="33339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/>
            </a:r>
            <a:r>
              <a:rPr lang="pt-BR" sz="4000" i="1" dirty="0">
                <a:solidFill>
                  <a:srgbClr val="33339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/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BF4AECB-AAC1-46E3-AF09-A631E4BCB1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199" y="1600200"/>
            <a:ext cx="8229599" cy="452596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2400" b="1" i="1" dirty="0">
                <a:solidFill>
                  <a:srgbClr val="333399"/>
                </a:solidFill>
              </a:rPr>
              <a:t>Padrões de Projeto Orientado a Objetos</a:t>
            </a:r>
            <a:endParaRPr lang="pt-BR" sz="2400" b="1" dirty="0">
              <a:solidFill>
                <a:srgbClr val="333399"/>
              </a:solidFill>
            </a:endParaRPr>
          </a:p>
          <a:p>
            <a:pPr marL="57150" indent="0" algn="just">
              <a:buNone/>
            </a:pPr>
            <a:endParaRPr lang="pt-BR" sz="1800" dirty="0">
              <a:solidFill>
                <a:srgbClr val="333399"/>
              </a:solidFill>
            </a:endParaRPr>
          </a:p>
          <a:p>
            <a:pPr marL="57150" indent="0" algn="just">
              <a:buNone/>
            </a:pPr>
            <a:r>
              <a:rPr lang="pt-BR" sz="2400" b="1" dirty="0">
                <a:solidFill>
                  <a:srgbClr val="333399"/>
                </a:solidFill>
              </a:rPr>
              <a:t>Padrões Criacionais:</a:t>
            </a:r>
          </a:p>
          <a:p>
            <a:pPr lvl="1" algn="just">
              <a:buFont typeface="Wingdings" panose="05000000000000000000" pitchFamily="2" charset="2"/>
              <a:buChar char="Ø"/>
            </a:pPr>
            <a:r>
              <a:rPr lang="en-US" sz="2000" i="1" dirty="0">
                <a:solidFill>
                  <a:srgbClr val="333399"/>
                </a:solidFill>
              </a:rPr>
              <a:t>Singleton</a:t>
            </a:r>
            <a:r>
              <a:rPr lang="en-US" sz="2000" i="1" dirty="0" err="1">
                <a:solidFill>
                  <a:srgbClr val="333399"/>
                </a:solidFill>
              </a:rPr>
              <a:t/>
            </a:r>
            <a:endParaRPr lang="en-US" sz="2000" i="1" dirty="0">
              <a:solidFill>
                <a:srgbClr val="333399"/>
              </a:solidFill>
            </a:endParaRPr>
          </a:p>
          <a:p>
            <a:pPr lvl="2" algn="just">
              <a:buFont typeface="Wingdings" panose="05000000000000000000" pitchFamily="2" charset="2"/>
              <a:buChar char="ü"/>
            </a:pPr>
            <a:r>
              <a:rPr lang="en-US" sz="1800" i="1" dirty="0">
                <a:solidFill>
                  <a:srgbClr val="333399"/>
                </a:solidFill>
              </a:rPr>
              <a:t>Garante que uma classe tenha apenas uma única instância e fornece um ponto de acesso global a ela.</a:t>
            </a:r>
            <a:r>
              <a:rPr lang="en-US" sz="1800" i="1" dirty="0" err="1">
                <a:solidFill>
                  <a:srgbClr val="333399"/>
                </a:solidFill>
              </a:rPr>
              <a:t/>
            </a:r>
            <a:r>
              <a:rPr lang="en-US" sz="1800" i="1" dirty="0">
                <a:solidFill>
                  <a:srgbClr val="333399"/>
                </a:solidFill>
              </a:rPr>
              <a:t/>
            </a:r>
            <a:r>
              <a:rPr lang="en-US" sz="1800" i="1" dirty="0" err="1">
                <a:solidFill>
                  <a:srgbClr val="333399"/>
                </a:solidFill>
              </a:rPr>
              <a:t/>
            </a:r>
            <a:r>
              <a:rPr lang="en-US" sz="1800" i="1" dirty="0">
                <a:solidFill>
                  <a:srgbClr val="333399"/>
                </a:solidFill>
              </a:rPr>
              <a:t/>
            </a:r>
            <a:r>
              <a:rPr lang="en-US" sz="1800" i="1" dirty="0" err="1">
                <a:solidFill>
                  <a:srgbClr val="333399"/>
                </a:solidFill>
              </a:rPr>
              <a:t/>
            </a:r>
            <a:r>
              <a:rPr lang="en-US" sz="1800" i="1" dirty="0">
                <a:solidFill>
                  <a:srgbClr val="333399"/>
                </a:solidFill>
              </a:rPr>
              <a:t/>
            </a:r>
          </a:p>
          <a:p>
            <a:pPr lvl="2" algn="just">
              <a:buFont typeface="Wingdings" panose="05000000000000000000" pitchFamily="2" charset="2"/>
              <a:buChar char="ü"/>
            </a:pPr>
            <a:endParaRPr lang="pt-BR" sz="1800" dirty="0">
              <a:solidFill>
                <a:srgbClr val="333399"/>
              </a:solidFill>
            </a:endParaRPr>
          </a:p>
        </p:txBody>
      </p:sp>
      <p:sp>
        <p:nvSpPr>
          <p:cNvPr id="24" name="Rectangle 14"/>
          <p:cNvSpPr>
            <a:spLocks noGrp="1" noChangeArrowheads="1"/>
          </p:cNvSpPr>
          <p:nvPr>
            <p:ph type="ftr" sz="quarter" idx="11"/>
          </p:nvPr>
        </p:nvSpPr>
        <p:spPr bwMode="auto"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 b="1" u="none">
                <a:solidFill>
                  <a:srgbClr val="83A5D7"/>
                </a:solidFill>
                <a:latin typeface="Arial" charset="0"/>
              </a:defRPr>
            </a:lvl1pPr>
          </a:lstStyle>
          <a:p>
            <a:pPr algn="just"/>
            <a:r>
              <a:rPr lang="en-US" i="1" dirty="0">
                <a:solidFill>
                  <a:schemeClr val="tx2">
                    <a:lumMod val="40000"/>
                    <a:lumOff val="60000"/>
                  </a:schemeClr>
                </a:solidFill>
              </a:rPr>
              <a:t>Nome do Aluno: Marcus Paulo — marcuspaulodev@gmail.com</a:t>
            </a:r>
            <a:r>
              <a:rPr lang="en-US" i="1" dirty="0" err="1">
                <a:solidFill>
                  <a:schemeClr val="tx2">
                    <a:lumMod val="40000"/>
                    <a:lumOff val="60000"/>
                  </a:schemeClr>
                </a:solidFill>
              </a:rPr>
              <a:t/>
            </a:r>
            <a:r>
              <a:rPr lang="en-US" i="1" dirty="0">
                <a:solidFill>
                  <a:schemeClr val="tx2">
                    <a:lumMod val="40000"/>
                    <a:lumOff val="60000"/>
                  </a:schemeClr>
                </a:solidFill>
              </a:rPr>
              <a:t/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2C95A-2AF6-49B0-BE51-226E5A34C307}" type="slidenum">
              <a:rPr lang="pt-BR" smtClean="0"/>
              <a:t>1</a:t>
            </a:fld>
            <a:endParaRPr lang="pt-BR" dirty="0"/>
          </a:p>
        </p:txBody>
      </p:sp>
      <p:pic>
        <p:nvPicPr>
          <p:cNvPr id="15" name="Imagem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44409" y="328339"/>
            <a:ext cx="514732" cy="792000"/>
          </a:xfrm>
          <a:prstGeom prst="rect">
            <a:avLst/>
          </a:prstGeom>
        </p:spPr>
      </p:pic>
      <p:pic>
        <p:nvPicPr>
          <p:cNvPr id="23" name="Imagem 2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286" y="567712"/>
            <a:ext cx="120000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94504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4"/>
          <p:cNvGrpSpPr>
            <a:grpSpLocks/>
          </p:cNvGrpSpPr>
          <p:nvPr/>
        </p:nvGrpSpPr>
        <p:grpSpPr bwMode="auto">
          <a:xfrm>
            <a:off x="0" y="6305550"/>
            <a:ext cx="9144000" cy="400050"/>
            <a:chOff x="0" y="3546"/>
            <a:chExt cx="5760" cy="684"/>
          </a:xfrm>
        </p:grpSpPr>
        <p:sp>
          <p:nvSpPr>
            <p:cNvPr id="12" name="Rectangle 5"/>
            <p:cNvSpPr>
              <a:spLocks noChangeArrowheads="1"/>
            </p:cNvSpPr>
            <p:nvPr userDrawn="1"/>
          </p:nvSpPr>
          <p:spPr bwMode="auto">
            <a:xfrm>
              <a:off x="0" y="3546"/>
              <a:ext cx="5760" cy="679"/>
            </a:xfrm>
            <a:prstGeom prst="rect">
              <a:avLst/>
            </a:prstGeom>
            <a:solidFill>
              <a:srgbClr val="BAC4D8">
                <a:alpha val="60001"/>
              </a:srgb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pt-BR" dirty="0">
                <a:latin typeface="Tahoma" pitchFamily="34" charset="0"/>
                <a:ea typeface="+mn-ea"/>
              </a:endParaRPr>
            </a:p>
          </p:txBody>
        </p:sp>
        <p:sp>
          <p:nvSpPr>
            <p:cNvPr id="13" name="Rectangle 6"/>
            <p:cNvSpPr>
              <a:spLocks noChangeArrowheads="1"/>
            </p:cNvSpPr>
            <p:nvPr userDrawn="1"/>
          </p:nvSpPr>
          <p:spPr bwMode="auto">
            <a:xfrm>
              <a:off x="0" y="3551"/>
              <a:ext cx="5760" cy="679"/>
            </a:xfrm>
            <a:prstGeom prst="rect">
              <a:avLst/>
            </a:prstGeom>
            <a:solidFill>
              <a:schemeClr val="bg1">
                <a:alpha val="60001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pt-BR" dirty="0">
                <a:latin typeface="Tahoma" pitchFamily="34" charset="0"/>
                <a:ea typeface="+mn-ea"/>
              </a:endParaRPr>
            </a:p>
          </p:txBody>
        </p:sp>
      </p:grpSp>
      <p:grpSp>
        <p:nvGrpSpPr>
          <p:cNvPr id="16" name="Group 8"/>
          <p:cNvGrpSpPr>
            <a:grpSpLocks/>
          </p:cNvGrpSpPr>
          <p:nvPr/>
        </p:nvGrpSpPr>
        <p:grpSpPr bwMode="auto">
          <a:xfrm>
            <a:off x="0" y="209550"/>
            <a:ext cx="9144000" cy="1085850"/>
            <a:chOff x="0" y="-726"/>
            <a:chExt cx="5760" cy="684"/>
          </a:xfrm>
        </p:grpSpPr>
        <p:sp>
          <p:nvSpPr>
            <p:cNvPr id="17" name="Rectangle 9"/>
            <p:cNvSpPr>
              <a:spLocks noChangeArrowheads="1"/>
            </p:cNvSpPr>
            <p:nvPr userDrawn="1"/>
          </p:nvSpPr>
          <p:spPr bwMode="auto">
            <a:xfrm>
              <a:off x="0" y="-726"/>
              <a:ext cx="5760" cy="678"/>
            </a:xfrm>
            <a:prstGeom prst="rect">
              <a:avLst/>
            </a:prstGeom>
            <a:solidFill>
              <a:srgbClr val="96A5C4">
                <a:alpha val="60001"/>
              </a:srgb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pt-BR" dirty="0">
                <a:latin typeface="Tahoma" pitchFamily="34" charset="0"/>
                <a:ea typeface="+mn-ea"/>
              </a:endParaRPr>
            </a:p>
          </p:txBody>
        </p:sp>
        <p:sp>
          <p:nvSpPr>
            <p:cNvPr id="18" name="Rectangle 10"/>
            <p:cNvSpPr>
              <a:spLocks noChangeArrowheads="1"/>
            </p:cNvSpPr>
            <p:nvPr userDrawn="1"/>
          </p:nvSpPr>
          <p:spPr bwMode="auto">
            <a:xfrm>
              <a:off x="0" y="-720"/>
              <a:ext cx="5760" cy="678"/>
            </a:xfrm>
            <a:prstGeom prst="rect">
              <a:avLst/>
            </a:prstGeom>
            <a:solidFill>
              <a:schemeClr val="bg1">
                <a:alpha val="31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pt-BR" dirty="0">
                <a:latin typeface="Tahoma" pitchFamily="34" charset="0"/>
                <a:ea typeface="+mn-ea"/>
              </a:endParaRPr>
            </a:p>
          </p:txBody>
        </p:sp>
      </p:grpSp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sz="4000" i="1" dirty="0">
                <a:solidFill>
                  <a:srgbClr val="33339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Singleton</a:t>
            </a:r>
            <a:r>
              <a:rPr lang="pt-BR" sz="4000" i="1" dirty="0" err="1">
                <a:solidFill>
                  <a:srgbClr val="33339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/>
            </a:r>
            <a:r>
              <a:rPr lang="pt-BR" sz="4000" i="1" dirty="0">
                <a:solidFill>
                  <a:srgbClr val="33339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/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BF4AECB-AAC1-46E3-AF09-A631E4BCB1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600201"/>
            <a:ext cx="8229599" cy="433766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2400" b="1" i="1" dirty="0">
                <a:solidFill>
                  <a:srgbClr val="333399"/>
                </a:solidFill>
              </a:rPr>
              <a:t>Padrões de Projeto Orientado a Objetos</a:t>
            </a:r>
            <a:endParaRPr lang="pt-BR" sz="2400" b="1" dirty="0">
              <a:solidFill>
                <a:srgbClr val="333399"/>
              </a:solidFill>
            </a:endParaRPr>
          </a:p>
          <a:p>
            <a:pPr marL="57150" indent="0" algn="just">
              <a:buNone/>
            </a:pPr>
            <a:endParaRPr lang="pt-BR" sz="1800" dirty="0">
              <a:solidFill>
                <a:srgbClr val="333399"/>
              </a:solidFill>
            </a:endParaRPr>
          </a:p>
          <a:p>
            <a:pPr marL="57150" indent="0" algn="just">
              <a:buNone/>
            </a:pPr>
            <a:r>
              <a:rPr lang="pt-BR" sz="2400" b="1" dirty="0">
                <a:solidFill>
                  <a:srgbClr val="333399"/>
                </a:solidFill>
              </a:rPr>
              <a:t>Padrões Criacionais:</a:t>
            </a:r>
          </a:p>
          <a:p>
            <a:pPr lvl="1" algn="just">
              <a:buFont typeface="Wingdings" panose="05000000000000000000" pitchFamily="2" charset="2"/>
              <a:buChar char="Ø"/>
            </a:pPr>
            <a:r>
              <a:rPr lang="en-US" sz="2000" i="1" dirty="0">
                <a:solidFill>
                  <a:srgbClr val="333399"/>
                </a:solidFill>
              </a:rPr>
              <a:t>Singleton</a:t>
            </a:r>
            <a:r>
              <a:rPr lang="en-US" sz="2000" i="1" dirty="0" err="1">
                <a:solidFill>
                  <a:srgbClr val="333399"/>
                </a:solidFill>
              </a:rPr>
              <a:t/>
            </a:r>
            <a:endParaRPr lang="en-US" sz="2000" i="1" dirty="0">
              <a:solidFill>
                <a:srgbClr val="333399"/>
              </a:solidFill>
            </a:endParaRPr>
          </a:p>
          <a:p>
            <a:pPr lvl="2" algn="just">
              <a:buFont typeface="Wingdings" panose="05000000000000000000" pitchFamily="2" charset="2"/>
              <a:buChar char="ü"/>
            </a:pPr>
            <a:r>
              <a:rPr lang="en-US" sz="1800" b="1" u="sng" dirty="0" err="1">
                <a:solidFill>
                  <a:srgbClr val="333399"/>
                </a:solidFill>
              </a:rPr>
              <a:t>Problema</a:t>
            </a:r>
            <a:r>
              <a:rPr lang="en-US" sz="1800" b="1" dirty="0">
                <a:solidFill>
                  <a:srgbClr val="333399"/>
                </a:solidFill>
              </a:rPr>
              <a:t>: </a:t>
            </a:r>
          </a:p>
          <a:p>
            <a:pPr lvl="3" algn="just">
              <a:buFont typeface="Wingdings" panose="05000000000000000000" pitchFamily="2" charset="2"/>
              <a:buChar char="§"/>
            </a:pPr>
            <a:r>
              <a:rPr lang="pt-BR" sz="1600" dirty="0">
                <a:solidFill>
                  <a:srgbClr val="333399"/>
                </a:solidFill>
              </a:rPr>
              <a:t>Algumas classes devem ter exatamente uma única instância no sistema todo — ex.: o registro de log da aplicação, que precisa escrever sempre no mesmo lugar.</a:t>
            </a:r>
          </a:p>
          <a:p>
            <a:pPr lvl="3" algn="just">
              <a:buFont typeface="Wingdings" panose="05000000000000000000" pitchFamily="2" charset="2"/>
              <a:buChar char="§"/>
            </a:pPr>
            <a:r>
              <a:rPr lang="pt-BR" sz="1600" dirty="0">
                <a:solidFill>
                  <a:srgbClr val="333399"/>
                </a:solidFill>
              </a:rPr>
              <a:t>Se qualquer classe puder chamar "new Logger()" livremente, nada impede a criação de várias instâncias — cada uma com seu próprio estado interno, quebrando a garantia de "fonte única de verdade".</a:t>
            </a:r>
          </a:p>
          <a:p>
            <a:pPr lvl="3" algn="just">
              <a:buFont typeface="Wingdings" panose="05000000000000000000" pitchFamily="2" charset="2"/>
              <a:buChar char="§"/>
            </a:pPr>
            <a:r>
              <a:rPr lang="pt-BR" sz="1600" dirty="0">
                <a:solidFill>
                  <a:srgbClr val="333399"/>
                </a:solidFill>
              </a:rPr>
              <a:t>Usar uma variável global (estática) exposta diretamente também não resolve bem: não há controle sobre quando o objeto é criado (inicialização preguiçosa) nem encapsulamento da lógica de acesso.</a:t>
            </a:r>
          </a:p>
          <a:p>
            <a:pPr lvl="3" algn="just">
              <a:buFont typeface="Wingdings" panose="05000000000000000000" pitchFamily="2" charset="2"/>
              <a:buChar char="§"/>
            </a:pPr>
            <a:r>
              <a:t>É preciso um jeito de garantir a instância única e, ao mesmo tempo, oferecer um ponto de acesso conhecido para qualquer parte do código.</a:t>
            </a:r>
            <a:endParaRPr lang="pt-BR" sz="1600" dirty="0">
              <a:solidFill>
                <a:srgbClr val="333399"/>
              </a:solidFill>
            </a:endParaRPr>
          </a:p>
          <a:p>
            <a:pPr lvl="2" algn="just">
              <a:buFont typeface="Wingdings" panose="05000000000000000000" pitchFamily="2" charset="2"/>
              <a:buChar char="ü"/>
            </a:pPr>
            <a:endParaRPr lang="pt-BR" sz="1800" dirty="0">
              <a:solidFill>
                <a:srgbClr val="333399"/>
              </a:solidFill>
            </a:endParaRP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2C95A-2AF6-49B0-BE51-226E5A34C307}" type="slidenum">
              <a:rPr lang="pt-BR" smtClean="0"/>
              <a:t>2</a:t>
            </a:fld>
            <a:endParaRPr lang="pt-BR" dirty="0"/>
          </a:p>
        </p:txBody>
      </p:sp>
      <p:pic>
        <p:nvPicPr>
          <p:cNvPr id="15" name="Imagem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44409" y="328339"/>
            <a:ext cx="514732" cy="792000"/>
          </a:xfrm>
          <a:prstGeom prst="rect">
            <a:avLst/>
          </a:prstGeom>
        </p:spPr>
      </p:pic>
      <p:pic>
        <p:nvPicPr>
          <p:cNvPr id="23" name="Imagem 2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286" y="567712"/>
            <a:ext cx="1200000" cy="360000"/>
          </a:xfrm>
          <a:prstGeom prst="rect">
            <a:avLst/>
          </a:prstGeom>
        </p:spPr>
      </p:pic>
      <p:sp>
        <p:nvSpPr>
          <p:cNvPr id="5" name="Rectangle 14">
            <a:extLst>
              <a:ext uri="{FF2B5EF4-FFF2-40B4-BE49-F238E27FC236}">
                <a16:creationId xmlns:a16="http://schemas.microsoft.com/office/drawing/2014/main" id="{6A189755-9319-0F24-5E82-175FDAAB645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3124200" y="6356350"/>
            <a:ext cx="3752056" cy="365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 b="1" u="none">
                <a:solidFill>
                  <a:srgbClr val="83A5D7"/>
                </a:solidFill>
                <a:latin typeface="Arial" charset="0"/>
              </a:defRPr>
            </a:lvl1pPr>
          </a:lstStyle>
          <a:p>
            <a:pPr algn="just"/>
            <a:r>
              <a:rPr lang="en-US" i="1" dirty="0">
                <a:solidFill>
                  <a:schemeClr val="tx2">
                    <a:lumMod val="40000"/>
                    <a:lumOff val="60000"/>
                  </a:schemeClr>
                </a:solidFill>
              </a:rPr>
              <a:t>Nome do Aluno: Marcus Paulo — marcuspaulodev@gmail.com</a:t>
            </a:r>
            <a:r>
              <a:rPr lang="en-US" i="1" dirty="0" err="1">
                <a:solidFill>
                  <a:schemeClr val="tx2">
                    <a:lumMod val="40000"/>
                    <a:lumOff val="60000"/>
                  </a:schemeClr>
                </a:solidFill>
              </a:rPr>
              <a:t/>
            </a:r>
            <a:r>
              <a:rPr lang="en-US" i="1" dirty="0">
                <a:solidFill>
                  <a:schemeClr val="tx2">
                    <a:lumMod val="40000"/>
                    <a:lumOff val="60000"/>
                  </a:schemeClr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0495754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4"/>
          <p:cNvGrpSpPr>
            <a:grpSpLocks/>
          </p:cNvGrpSpPr>
          <p:nvPr/>
        </p:nvGrpSpPr>
        <p:grpSpPr bwMode="auto">
          <a:xfrm>
            <a:off x="0" y="6305550"/>
            <a:ext cx="9144000" cy="400050"/>
            <a:chOff x="0" y="3546"/>
            <a:chExt cx="5760" cy="684"/>
          </a:xfrm>
        </p:grpSpPr>
        <p:sp>
          <p:nvSpPr>
            <p:cNvPr id="12" name="Rectangle 5"/>
            <p:cNvSpPr>
              <a:spLocks noChangeArrowheads="1"/>
            </p:cNvSpPr>
            <p:nvPr userDrawn="1"/>
          </p:nvSpPr>
          <p:spPr bwMode="auto">
            <a:xfrm>
              <a:off x="0" y="3546"/>
              <a:ext cx="5760" cy="679"/>
            </a:xfrm>
            <a:prstGeom prst="rect">
              <a:avLst/>
            </a:prstGeom>
            <a:solidFill>
              <a:srgbClr val="BAC4D8">
                <a:alpha val="60001"/>
              </a:srgb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pt-BR" dirty="0">
                <a:latin typeface="Tahoma" pitchFamily="34" charset="0"/>
                <a:ea typeface="+mn-ea"/>
              </a:endParaRPr>
            </a:p>
          </p:txBody>
        </p:sp>
        <p:sp>
          <p:nvSpPr>
            <p:cNvPr id="13" name="Rectangle 6"/>
            <p:cNvSpPr>
              <a:spLocks noChangeArrowheads="1"/>
            </p:cNvSpPr>
            <p:nvPr userDrawn="1"/>
          </p:nvSpPr>
          <p:spPr bwMode="auto">
            <a:xfrm>
              <a:off x="0" y="3551"/>
              <a:ext cx="5760" cy="679"/>
            </a:xfrm>
            <a:prstGeom prst="rect">
              <a:avLst/>
            </a:prstGeom>
            <a:solidFill>
              <a:schemeClr val="bg1">
                <a:alpha val="60001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pt-BR" dirty="0">
                <a:latin typeface="Tahoma" pitchFamily="34" charset="0"/>
                <a:ea typeface="+mn-ea"/>
              </a:endParaRPr>
            </a:p>
          </p:txBody>
        </p:sp>
      </p:grpSp>
      <p:grpSp>
        <p:nvGrpSpPr>
          <p:cNvPr id="16" name="Group 8"/>
          <p:cNvGrpSpPr>
            <a:grpSpLocks/>
          </p:cNvGrpSpPr>
          <p:nvPr/>
        </p:nvGrpSpPr>
        <p:grpSpPr bwMode="auto">
          <a:xfrm>
            <a:off x="0" y="209550"/>
            <a:ext cx="9144000" cy="1085850"/>
            <a:chOff x="0" y="-726"/>
            <a:chExt cx="5760" cy="684"/>
          </a:xfrm>
        </p:grpSpPr>
        <p:sp>
          <p:nvSpPr>
            <p:cNvPr id="17" name="Rectangle 9"/>
            <p:cNvSpPr>
              <a:spLocks noChangeArrowheads="1"/>
            </p:cNvSpPr>
            <p:nvPr userDrawn="1"/>
          </p:nvSpPr>
          <p:spPr bwMode="auto">
            <a:xfrm>
              <a:off x="0" y="-726"/>
              <a:ext cx="5760" cy="678"/>
            </a:xfrm>
            <a:prstGeom prst="rect">
              <a:avLst/>
            </a:prstGeom>
            <a:solidFill>
              <a:srgbClr val="96A5C4">
                <a:alpha val="60001"/>
              </a:srgb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pt-BR" dirty="0">
                <a:latin typeface="Tahoma" pitchFamily="34" charset="0"/>
                <a:ea typeface="+mn-ea"/>
              </a:endParaRPr>
            </a:p>
          </p:txBody>
        </p:sp>
        <p:sp>
          <p:nvSpPr>
            <p:cNvPr id="18" name="Rectangle 10"/>
            <p:cNvSpPr>
              <a:spLocks noChangeArrowheads="1"/>
            </p:cNvSpPr>
            <p:nvPr userDrawn="1"/>
          </p:nvSpPr>
          <p:spPr bwMode="auto">
            <a:xfrm>
              <a:off x="0" y="-720"/>
              <a:ext cx="5760" cy="678"/>
            </a:xfrm>
            <a:prstGeom prst="rect">
              <a:avLst/>
            </a:prstGeom>
            <a:solidFill>
              <a:schemeClr val="bg1">
                <a:alpha val="31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pt-BR" dirty="0">
                <a:latin typeface="Tahoma" pitchFamily="34" charset="0"/>
                <a:ea typeface="+mn-ea"/>
              </a:endParaRPr>
            </a:p>
          </p:txBody>
        </p:sp>
      </p:grpSp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sz="4000" i="1" dirty="0">
                <a:solidFill>
                  <a:srgbClr val="33339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Singleton</a:t>
            </a:r>
            <a:r>
              <a:rPr lang="pt-BR" sz="4000" i="1" dirty="0" err="1">
                <a:solidFill>
                  <a:srgbClr val="33339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/>
            </a:r>
            <a:r>
              <a:rPr lang="pt-BR" sz="4000" i="1" dirty="0">
                <a:solidFill>
                  <a:srgbClr val="33339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/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BF4AECB-AAC1-46E3-AF09-A631E4BCB1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433766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2400" b="1" i="1" dirty="0">
                <a:solidFill>
                  <a:srgbClr val="333399"/>
                </a:solidFill>
              </a:rPr>
              <a:t>Padrões de Projeto Orientado a Objetos</a:t>
            </a:r>
            <a:endParaRPr lang="pt-BR" sz="2400" b="1" dirty="0">
              <a:solidFill>
                <a:srgbClr val="333399"/>
              </a:solidFill>
            </a:endParaRPr>
          </a:p>
          <a:p>
            <a:pPr marL="57150" indent="0" algn="just">
              <a:buNone/>
            </a:pPr>
            <a:endParaRPr lang="pt-BR" sz="1800" dirty="0">
              <a:solidFill>
                <a:srgbClr val="333399"/>
              </a:solidFill>
            </a:endParaRPr>
          </a:p>
          <a:p>
            <a:pPr marL="57150" indent="0" algn="just">
              <a:buNone/>
            </a:pPr>
            <a:r>
              <a:rPr lang="pt-BR" sz="2400" b="1" dirty="0">
                <a:solidFill>
                  <a:srgbClr val="333399"/>
                </a:solidFill>
              </a:rPr>
              <a:t>Padrões Criacionais:</a:t>
            </a:r>
          </a:p>
          <a:p>
            <a:pPr lvl="1" algn="just">
              <a:buFont typeface="Wingdings" panose="05000000000000000000" pitchFamily="2" charset="2"/>
              <a:buChar char="Ø"/>
            </a:pPr>
            <a:r>
              <a:rPr lang="en-US" sz="2000" i="1" dirty="0">
                <a:solidFill>
                  <a:srgbClr val="333399"/>
                </a:solidFill>
              </a:rPr>
              <a:t>Singleton</a:t>
            </a:r>
            <a:r>
              <a:rPr lang="en-US" sz="2000" i="1" dirty="0" err="1">
                <a:solidFill>
                  <a:srgbClr val="333399"/>
                </a:solidFill>
              </a:rPr>
              <a:t/>
            </a:r>
            <a:endParaRPr lang="en-US" sz="2000" i="1" dirty="0">
              <a:solidFill>
                <a:srgbClr val="333399"/>
              </a:solidFill>
            </a:endParaRPr>
          </a:p>
          <a:p>
            <a:pPr lvl="2" algn="just">
              <a:buFont typeface="Wingdings" panose="05000000000000000000" pitchFamily="2" charset="2"/>
              <a:buChar char="ü"/>
            </a:pPr>
            <a:r>
              <a:rPr lang="en-US" sz="1800" b="1" u="sng" dirty="0" err="1">
                <a:solidFill>
                  <a:srgbClr val="333399"/>
                </a:solidFill>
              </a:rPr>
              <a:t>Solução</a:t>
            </a:r>
            <a:r>
              <a:rPr lang="en-US" sz="1800" b="1" dirty="0">
                <a:solidFill>
                  <a:srgbClr val="333399"/>
                </a:solidFill>
              </a:rPr>
              <a:t>: </a:t>
            </a:r>
          </a:p>
          <a:p>
            <a:pPr marL="1714500" lvl="3" indent="-342900" algn="just">
              <a:buFont typeface="+mj-lt"/>
              <a:buAutoNum type="arabicPeriod"/>
            </a:pPr>
            <a:r>
              <a:rPr lang="pt-BR" sz="1400" dirty="0">
                <a:solidFill>
                  <a:srgbClr val="333399"/>
                </a:solidFill>
              </a:rPr>
              <a:t>Tornar o construtor da classe privado — assim, nenhuma outra classe consegue criar uma instância diretamente com "new".</a:t>
            </a:r>
          </a:p>
          <a:p>
            <a:pPr marL="1714500" lvl="3" indent="-342900" algn="just">
              <a:buFont typeface="+mj-lt"/>
              <a:buAutoNum type="arabicPeriod"/>
            </a:pPr>
            <a:r>
              <a:rPr lang="pt-BR" sz="1400" dirty="0">
                <a:solidFill>
                  <a:srgbClr val="333399"/>
                </a:solidFill>
              </a:rPr>
              <a:t>Guardar a única instância em um campo estático privado, pertencente à própria classe.</a:t>
            </a:r>
          </a:p>
          <a:p>
            <a:pPr marL="1714500" lvl="3" indent="-342900" algn="just">
              <a:buFont typeface="+mj-lt"/>
              <a:buAutoNum type="arabicPeriod"/>
            </a:pPr>
            <a:r>
              <a:rPr lang="pt-BR" sz="1400" dirty="0">
                <a:solidFill>
                  <a:srgbClr val="333399"/>
                </a:solidFill>
              </a:rPr>
              <a:t>Expor um método estático público (ex.: getInstance()) que cria a instância na primeira chamada (inicialização preguiçosa) e devolve sempre a mesma instância nas chamadas seguintes.</a:t>
            </a:r>
          </a:p>
          <a:p>
            <a:pPr marL="1714500" lvl="3" indent="-342900" algn="just">
              <a:buFont typeface="+mj-lt"/>
              <a:buAutoNum type="arabicPeriod"/>
            </a:pPr>
            <a:r>
              <a:rPr lang="pt-BR" sz="1400" dirty="0">
                <a:solidFill>
                  <a:srgbClr val="333399"/>
                </a:solidFill>
              </a:rPr>
              <a:t>Em ambientes com múltiplas threads, proteger a criação da instância (ex.: double-checked locking com uma variável volatile) para evitar que duas threads criem instâncias diferentes ao mesmo tempo.</a:t>
            </a:r>
          </a:p>
          <a:p>
            <a:pPr marL="1714500" lvl="3" indent="-342900" algn="just">
              <a:buFont typeface="+mj-lt"/>
              <a:buAutoNum type="arabicPeriod"/>
            </a:pPr>
            <a:r>
              <a:rPr lang="pt-BR" sz="1400" dirty="0">
                <a:solidFill>
                  <a:srgbClr val="333399"/>
                </a:solidFill>
              </a:rPr>
              <a:t>Qualquer parte do código acessa a mesma instância chamando Logger.getInstance() — sem precisar de uma variável global exposta.</a:t>
            </a:r>
          </a:p>
          <a:p>
            <a:pPr marL="1714500" lvl="3" indent="-342900" algn="just">
              <a:buFont typeface="+mj-lt"/>
              <a:buAutoNum type="arabicPeriod"/>
            </a:pPr>
            <a:endParaRPr lang="pt-BR" sz="1400" dirty="0">
              <a:solidFill>
                <a:srgbClr val="333399"/>
              </a:solidFill>
            </a:endParaRPr>
          </a:p>
          <a:p>
            <a:pPr marL="1714500" lvl="3" indent="-342900" algn="just">
              <a:buFont typeface="+mj-lt"/>
              <a:buAutoNum type="arabicPeriod" startAt="3"/>
            </a:pPr>
            <a:endParaRPr lang="pt-BR" sz="1400" dirty="0">
              <a:solidFill>
                <a:srgbClr val="333399"/>
              </a:solidFill>
            </a:endParaRPr>
          </a:p>
          <a:p>
            <a:pPr lvl="3" algn="just">
              <a:buFont typeface="Wingdings" panose="05000000000000000000" pitchFamily="2" charset="2"/>
              <a:buChar char="§"/>
            </a:pPr>
            <a:endParaRPr lang="en-US" sz="1400" dirty="0">
              <a:solidFill>
                <a:srgbClr val="333399"/>
              </a:solidFill>
            </a:endParaRPr>
          </a:p>
          <a:p>
            <a:pPr lvl="2" algn="just">
              <a:buFont typeface="Wingdings" panose="05000000000000000000" pitchFamily="2" charset="2"/>
              <a:buChar char="ü"/>
            </a:pPr>
            <a:endParaRPr lang="pt-BR" sz="1800" dirty="0">
              <a:solidFill>
                <a:srgbClr val="333399"/>
              </a:solidFill>
            </a:endParaRP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2C95A-2AF6-49B0-BE51-226E5A34C307}" type="slidenum">
              <a:rPr lang="pt-BR" smtClean="0"/>
              <a:t>3</a:t>
            </a:fld>
            <a:endParaRPr lang="pt-BR" dirty="0"/>
          </a:p>
        </p:txBody>
      </p:sp>
      <p:pic>
        <p:nvPicPr>
          <p:cNvPr id="15" name="Imagem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44409" y="328339"/>
            <a:ext cx="514732" cy="792000"/>
          </a:xfrm>
          <a:prstGeom prst="rect">
            <a:avLst/>
          </a:prstGeom>
        </p:spPr>
      </p:pic>
      <p:pic>
        <p:nvPicPr>
          <p:cNvPr id="23" name="Imagem 2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286" y="567712"/>
            <a:ext cx="1200000" cy="360000"/>
          </a:xfrm>
          <a:prstGeom prst="rect">
            <a:avLst/>
          </a:prstGeom>
        </p:spPr>
      </p:pic>
      <p:sp>
        <p:nvSpPr>
          <p:cNvPr id="5" name="Rectangle 14">
            <a:extLst>
              <a:ext uri="{FF2B5EF4-FFF2-40B4-BE49-F238E27FC236}">
                <a16:creationId xmlns:a16="http://schemas.microsoft.com/office/drawing/2014/main" id="{36B674DF-A554-44F2-F417-3B94F00F5C9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3124200" y="6356350"/>
            <a:ext cx="3752056" cy="365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 b="1" u="none">
                <a:solidFill>
                  <a:srgbClr val="83A5D7"/>
                </a:solidFill>
                <a:latin typeface="Arial" charset="0"/>
              </a:defRPr>
            </a:lvl1pPr>
          </a:lstStyle>
          <a:p>
            <a:pPr algn="just"/>
            <a:r>
              <a:rPr lang="en-US" i="1" dirty="0">
                <a:solidFill>
                  <a:schemeClr val="tx2">
                    <a:lumMod val="40000"/>
                    <a:lumOff val="60000"/>
                  </a:schemeClr>
                </a:solidFill>
              </a:rPr>
              <a:t>Nome do Aluno: Marcus Paulo — marcuspaulodev@gmail.com</a:t>
            </a:r>
            <a:r>
              <a:rPr lang="en-US" i="1" dirty="0" err="1">
                <a:solidFill>
                  <a:schemeClr val="tx2">
                    <a:lumMod val="40000"/>
                    <a:lumOff val="60000"/>
                  </a:schemeClr>
                </a:solidFill>
              </a:rPr>
              <a:t/>
            </a:r>
            <a:r>
              <a:rPr lang="en-US" i="1" dirty="0">
                <a:solidFill>
                  <a:schemeClr val="tx2">
                    <a:lumMod val="40000"/>
                    <a:lumOff val="60000"/>
                  </a:schemeClr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6933414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4"/>
          <p:cNvGrpSpPr>
            <a:grpSpLocks/>
          </p:cNvGrpSpPr>
          <p:nvPr/>
        </p:nvGrpSpPr>
        <p:grpSpPr bwMode="auto">
          <a:xfrm>
            <a:off x="0" y="6305550"/>
            <a:ext cx="9144000" cy="400050"/>
            <a:chOff x="0" y="3546"/>
            <a:chExt cx="5760" cy="684"/>
          </a:xfrm>
        </p:grpSpPr>
        <p:sp>
          <p:nvSpPr>
            <p:cNvPr id="12" name="Rectangle 5"/>
            <p:cNvSpPr>
              <a:spLocks noChangeArrowheads="1"/>
            </p:cNvSpPr>
            <p:nvPr userDrawn="1"/>
          </p:nvSpPr>
          <p:spPr bwMode="auto">
            <a:xfrm>
              <a:off x="0" y="3546"/>
              <a:ext cx="5760" cy="679"/>
            </a:xfrm>
            <a:prstGeom prst="rect">
              <a:avLst/>
            </a:prstGeom>
            <a:solidFill>
              <a:srgbClr val="BAC4D8">
                <a:alpha val="60001"/>
              </a:srgb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pt-BR" dirty="0">
                <a:latin typeface="Tahoma" pitchFamily="34" charset="0"/>
                <a:ea typeface="+mn-ea"/>
              </a:endParaRPr>
            </a:p>
          </p:txBody>
        </p:sp>
        <p:sp>
          <p:nvSpPr>
            <p:cNvPr id="13" name="Rectangle 6"/>
            <p:cNvSpPr>
              <a:spLocks noChangeArrowheads="1"/>
            </p:cNvSpPr>
            <p:nvPr userDrawn="1"/>
          </p:nvSpPr>
          <p:spPr bwMode="auto">
            <a:xfrm>
              <a:off x="0" y="3551"/>
              <a:ext cx="5760" cy="679"/>
            </a:xfrm>
            <a:prstGeom prst="rect">
              <a:avLst/>
            </a:prstGeom>
            <a:solidFill>
              <a:schemeClr val="bg1">
                <a:alpha val="60001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pt-BR" dirty="0">
                <a:latin typeface="Tahoma" pitchFamily="34" charset="0"/>
                <a:ea typeface="+mn-ea"/>
              </a:endParaRPr>
            </a:p>
          </p:txBody>
        </p:sp>
      </p:grpSp>
      <p:grpSp>
        <p:nvGrpSpPr>
          <p:cNvPr id="16" name="Group 8"/>
          <p:cNvGrpSpPr>
            <a:grpSpLocks/>
          </p:cNvGrpSpPr>
          <p:nvPr/>
        </p:nvGrpSpPr>
        <p:grpSpPr bwMode="auto">
          <a:xfrm>
            <a:off x="0" y="209550"/>
            <a:ext cx="9144000" cy="1085850"/>
            <a:chOff x="0" y="-726"/>
            <a:chExt cx="5760" cy="684"/>
          </a:xfrm>
        </p:grpSpPr>
        <p:sp>
          <p:nvSpPr>
            <p:cNvPr id="17" name="Rectangle 9"/>
            <p:cNvSpPr>
              <a:spLocks noChangeArrowheads="1"/>
            </p:cNvSpPr>
            <p:nvPr userDrawn="1"/>
          </p:nvSpPr>
          <p:spPr bwMode="auto">
            <a:xfrm>
              <a:off x="0" y="-726"/>
              <a:ext cx="5760" cy="678"/>
            </a:xfrm>
            <a:prstGeom prst="rect">
              <a:avLst/>
            </a:prstGeom>
            <a:solidFill>
              <a:srgbClr val="96A5C4">
                <a:alpha val="60001"/>
              </a:srgb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pt-BR" dirty="0">
                <a:latin typeface="Tahoma" pitchFamily="34" charset="0"/>
                <a:ea typeface="+mn-ea"/>
              </a:endParaRPr>
            </a:p>
          </p:txBody>
        </p:sp>
        <p:sp>
          <p:nvSpPr>
            <p:cNvPr id="18" name="Rectangle 10"/>
            <p:cNvSpPr>
              <a:spLocks noChangeArrowheads="1"/>
            </p:cNvSpPr>
            <p:nvPr userDrawn="1"/>
          </p:nvSpPr>
          <p:spPr bwMode="auto">
            <a:xfrm>
              <a:off x="0" y="-720"/>
              <a:ext cx="5760" cy="678"/>
            </a:xfrm>
            <a:prstGeom prst="rect">
              <a:avLst/>
            </a:prstGeom>
            <a:solidFill>
              <a:schemeClr val="bg1">
                <a:alpha val="31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pt-BR" dirty="0">
                <a:latin typeface="Tahoma" pitchFamily="34" charset="0"/>
                <a:ea typeface="+mn-ea"/>
              </a:endParaRPr>
            </a:p>
          </p:txBody>
        </p:sp>
      </p:grpSp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sz="4000" i="1" dirty="0">
                <a:solidFill>
                  <a:srgbClr val="33339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Singleton</a:t>
            </a:r>
            <a:r>
              <a:rPr lang="pt-BR" sz="4000" i="1" dirty="0" err="1">
                <a:solidFill>
                  <a:srgbClr val="33339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/>
            </a:r>
            <a:r>
              <a:rPr lang="pt-BR" sz="4000" i="1" dirty="0">
                <a:solidFill>
                  <a:srgbClr val="33339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/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BF4AECB-AAC1-46E3-AF09-A631E4BCB1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600201"/>
            <a:ext cx="4150000" cy="433766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2400" b="1" i="1" dirty="0">
                <a:solidFill>
                  <a:srgbClr val="333399"/>
                </a:solidFill>
              </a:rPr>
              <a:t>Padrões de Projeto Orientado a Objetos</a:t>
            </a:r>
            <a:endParaRPr lang="pt-BR" sz="2400" b="1" dirty="0">
              <a:solidFill>
                <a:srgbClr val="333399"/>
              </a:solidFill>
            </a:endParaRPr>
          </a:p>
          <a:p>
            <a:pPr marL="57150" indent="0" algn="just">
              <a:buNone/>
            </a:pPr>
            <a:endParaRPr lang="pt-BR" sz="1800" dirty="0">
              <a:solidFill>
                <a:srgbClr val="333399"/>
              </a:solidFill>
            </a:endParaRPr>
          </a:p>
          <a:p>
            <a:pPr marL="57150" indent="0" algn="just">
              <a:buNone/>
            </a:pPr>
            <a:r>
              <a:rPr lang="pt-BR" sz="2400" b="1" dirty="0">
                <a:solidFill>
                  <a:srgbClr val="333399"/>
                </a:solidFill>
              </a:rPr>
              <a:t>Padrões Criacionais:</a:t>
            </a:r>
          </a:p>
          <a:p>
            <a:pPr lvl="1" algn="just">
              <a:buFont typeface="Wingdings" panose="05000000000000000000" pitchFamily="2" charset="2"/>
              <a:buChar char="Ø"/>
            </a:pPr>
            <a:r>
              <a:rPr lang="en-US" sz="2000" i="1" dirty="0">
                <a:solidFill>
                  <a:srgbClr val="333399"/>
                </a:solidFill>
              </a:rPr>
              <a:t>Singleton</a:t>
            </a:r>
            <a:r>
              <a:rPr lang="en-US" sz="2000" i="1" dirty="0" err="1">
                <a:solidFill>
                  <a:srgbClr val="333399"/>
                </a:solidFill>
              </a:rPr>
              <a:t/>
            </a:r>
            <a:endParaRPr lang="en-US" sz="2000" i="1" dirty="0">
              <a:solidFill>
                <a:srgbClr val="333399"/>
              </a:solidFill>
            </a:endParaRPr>
          </a:p>
          <a:p>
            <a:pPr lvl="2" algn="just">
              <a:buFont typeface="Wingdings" panose="05000000000000000000" pitchFamily="2" charset="2"/>
              <a:buChar char="ü"/>
            </a:pPr>
            <a:r>
              <a:rPr lang="en-US" sz="1800" b="1" u="sng" dirty="0" err="1">
                <a:solidFill>
                  <a:srgbClr val="333399"/>
                </a:solidFill>
              </a:rPr>
              <a:t>Estrutura</a:t>
            </a:r>
            <a:r>
              <a:rPr lang="en-US" sz="1800" b="1" dirty="0">
                <a:solidFill>
                  <a:srgbClr val="333399"/>
                </a:solidFill>
              </a:rPr>
              <a:t>: </a:t>
            </a:r>
          </a:p>
          <a:p>
            <a:pPr marL="1714500" lvl="3" indent="-342900" algn="just">
              <a:buFont typeface="+mj-lt"/>
              <a:buAutoNum type="arabicPeriod"/>
            </a:pPr>
            <a:r>
              <a:rPr lang="pt-BR" sz="1400" b="1" dirty="0">
                <a:solidFill>
                  <a:srgbClr val="333399"/>
                </a:solidFill>
              </a:rPr>
              <a:t>ServicoPedidos e ServicoPagamentos são clientes independentes que usam o mesmo Logger.</a:t>
            </a:r>
          </a:p>
          <a:p>
            <a:pPr marL="1714500" lvl="3" indent="-342900" algn="just">
              <a:buFont typeface="+mj-lt"/>
              <a:buAutoNum type="arabicPeriod"/>
            </a:pPr>
            <a:r>
              <a:rPr lang="pt-BR" sz="1400" b="1" dirty="0">
                <a:solidFill>
                  <a:srgbClr val="333399"/>
                </a:solidFill>
              </a:rPr>
              <a:t>Logger guarda sua própria instância em um campo estático privado.</a:t>
            </a:r>
          </a:p>
          <a:p>
            <a:pPr marL="1714500" lvl="3" indent="-342900" algn="just">
              <a:buFont typeface="+mj-lt"/>
              <a:buAutoNum type="arabicPeriod"/>
            </a:pPr>
            <a:r>
              <a:rPr lang="pt-BR" sz="1400" b="1" dirty="0">
                <a:solidFill>
                  <a:srgbClr val="333399"/>
                </a:solidFill>
              </a:rPr>
              <a:t>O construtor de Logger é privado — só a própria classe pode criar uma instância.</a:t>
            </a:r>
          </a:p>
          <a:p>
            <a:pPr marL="1714500" lvl="3" indent="-342900" algn="just">
              <a:buFont typeface="+mj-lt"/>
              <a:buAutoNum type="arabicPeriod"/>
            </a:pPr>
            <a:r>
              <a:rPr lang="pt-BR" sz="1400" b="1" dirty="0">
                <a:solidFill>
                  <a:srgbClr val="333399"/>
                </a:solidFill>
              </a:rPr>
              <a:t>getInstance() é o único ponto de acesso: cria a instância na primeira chamada e devolve sempre a mesma depois.</a:t>
            </a:r>
          </a:p>
          <a:p>
            <a:pPr marL="1714500" lvl="3" indent="-342900" algn="just">
              <a:buFont typeface="+mj-lt"/>
              <a:buAutoNum type="arabicPeriod"/>
            </a:pPr>
            <a:r>
              <a:rPr lang="pt-BR" sz="1400" b="1" dirty="0">
                <a:solidFill>
                  <a:srgbClr val="333399"/>
                </a:solidFill>
              </a:rPr>
              <a:t/>
            </a:r>
          </a:p>
          <a:p>
            <a:pPr lvl="2" algn="just">
              <a:buFont typeface="Wingdings" panose="05000000000000000000" pitchFamily="2" charset="2"/>
              <a:buChar char="ü"/>
            </a:pPr>
            <a:endParaRPr lang="pt-BR" sz="1800" dirty="0">
              <a:solidFill>
                <a:srgbClr val="333399"/>
              </a:solidFill>
            </a:endParaRP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2C95A-2AF6-49B0-BE51-226E5A34C307}" type="slidenum">
              <a:rPr lang="pt-BR" smtClean="0"/>
              <a:t>4</a:t>
            </a:fld>
            <a:endParaRPr lang="pt-BR" dirty="0"/>
          </a:p>
        </p:txBody>
      </p:sp>
      <p:pic>
        <p:nvPicPr>
          <p:cNvPr id="15" name="Imagem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44409" y="328339"/>
            <a:ext cx="514732" cy="792000"/>
          </a:xfrm>
          <a:prstGeom prst="rect">
            <a:avLst/>
          </a:prstGeom>
        </p:spPr>
      </p:pic>
      <p:pic>
        <p:nvPicPr>
          <p:cNvPr id="23" name="Imagem 2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286" y="567712"/>
            <a:ext cx="1200000" cy="360000"/>
          </a:xfrm>
          <a:prstGeom prst="rect">
            <a:avLst/>
          </a:prstGeom>
        </p:spPr>
      </p:pic>
      <p:sp>
        <p:nvSpPr>
          <p:cNvPr id="6" name="Rectangle 14">
            <a:extLst>
              <a:ext uri="{FF2B5EF4-FFF2-40B4-BE49-F238E27FC236}">
                <a16:creationId xmlns:a16="http://schemas.microsoft.com/office/drawing/2014/main" id="{AE81D55B-E5CF-74E9-DC16-6AC89B187E6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3124200" y="6356350"/>
            <a:ext cx="3752056" cy="365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 b="1" u="none">
                <a:solidFill>
                  <a:srgbClr val="83A5D7"/>
                </a:solidFill>
                <a:latin typeface="Arial" charset="0"/>
              </a:defRPr>
            </a:lvl1pPr>
          </a:lstStyle>
          <a:p>
            <a:pPr algn="just"/>
            <a:r>
              <a:rPr lang="en-US" i="1" dirty="0">
                <a:solidFill>
                  <a:schemeClr val="tx2">
                    <a:lumMod val="40000"/>
                    <a:lumOff val="60000"/>
                  </a:schemeClr>
                </a:solidFill>
              </a:rPr>
              <a:t>Nome do Aluno: Marcus Paulo — marcuspaulodev@gmail.com</a:t>
            </a:r>
            <a:r>
              <a:rPr lang="en-US" i="1" dirty="0" err="1">
                <a:solidFill>
                  <a:schemeClr val="tx2">
                    <a:lumMod val="40000"/>
                    <a:lumOff val="60000"/>
                  </a:schemeClr>
                </a:solidFill>
              </a:rPr>
              <a:t/>
            </a:r>
            <a:r>
              <a:rPr lang="en-US" i="1" dirty="0">
                <a:solidFill>
                  <a:schemeClr val="tx2">
                    <a:lumMod val="40000"/>
                    <a:lumOff val="60000"/>
                  </a:schemeClr>
                </a:solidFill>
              </a:rPr>
              <a:t/>
            </a:r>
          </a:p>
        </p:txBody>
      </p:sp>
      <p:sp>
        <p:nvSpPr>
          <p:cNvPr id="24" name="Rectangle 23"/>
          <p:cNvSpPr/>
          <p:nvPr/>
        </p:nvSpPr>
        <p:spPr>
          <a:xfrm>
            <a:off x="4516016" y="1750000"/>
            <a:ext cx="1430000" cy="650000"/>
          </a:xfrm>
          <a:prstGeom prst="rect">
            <a:avLst/>
          </a:prstGeom>
          <a:solidFill>
            <a:srgbClr val="EAF1FB"/>
          </a:solidFill>
          <a:ln w="1270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0">
                <a:solidFill>
                  <a:srgbClr val="202020"/>
                </a:solidFill>
              </a:rPr>
              <a:t>ServicoPedidos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24016" y="1750000"/>
            <a:ext cx="1430000" cy="650000"/>
          </a:xfrm>
          <a:prstGeom prst="rect">
            <a:avLst/>
          </a:prstGeom>
          <a:solidFill>
            <a:srgbClr val="EAF1FB"/>
          </a:solidFill>
          <a:ln w="1270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0">
                <a:solidFill>
                  <a:srgbClr val="202020"/>
                </a:solidFill>
              </a:rPr>
              <a:t>ServicoPagamentos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16016" y="2700000"/>
            <a:ext cx="2600000" cy="800000"/>
          </a:xfrm>
          <a:prstGeom prst="rect">
            <a:avLst/>
          </a:prstGeom>
          <a:solidFill>
            <a:srgbClr val="FFF3D6"/>
          </a:solidFill>
          <a:ln w="1270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>
                <a:solidFill>
                  <a:srgbClr val="202020"/>
                </a:solidFill>
              </a:rPr>
              <a:t>Logger</a:t>
            </a:r>
          </a:p>
          <a:p>
            <a:pPr algn="ctr"/>
            <a:r>
              <a:rPr sz="1100" b="1">
                <a:solidFill>
                  <a:srgbClr val="202020"/>
                </a:solidFill>
              </a:rPr>
              <a:t>- instancia: Logger {static}</a:t>
            </a:r>
          </a:p>
          <a:p>
            <a:pPr algn="ctr"/>
            <a:r>
              <a:rPr sz="1100" b="1">
                <a:solidFill>
                  <a:srgbClr val="202020"/>
                </a:solidFill>
              </a:rPr>
              <a:t>- Logger() {private}</a:t>
            </a:r>
          </a:p>
          <a:p>
            <a:pPr algn="ctr"/>
            <a:r>
              <a:rPr sz="1100" b="1">
                <a:solidFill>
                  <a:srgbClr val="202020"/>
                </a:solidFill>
              </a:rPr>
              <a:t>+ getInstance(): Logger {static}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231016" y="2400000"/>
            <a:ext cx="785000" cy="300000"/>
          </a:xfrm>
          <a:prstGeom prst="line">
            <a:avLst/>
          </a:prstGeom>
          <a:ln w="15875">
            <a:solidFill>
              <a:srgbClr val="60606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6016016" y="2400000"/>
            <a:ext cx="723000" cy="300000"/>
          </a:xfrm>
          <a:prstGeom prst="line">
            <a:avLst/>
          </a:prstGeom>
          <a:ln w="15875">
            <a:solidFill>
              <a:srgbClr val="60606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141101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17D778-AF68-B1FC-30C0-5A8B8D2372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4">
            <a:extLst>
              <a:ext uri="{FF2B5EF4-FFF2-40B4-BE49-F238E27FC236}">
                <a16:creationId xmlns:a16="http://schemas.microsoft.com/office/drawing/2014/main" id="{D22405AB-904F-63B0-93DF-4ED4C3A0533D}"/>
              </a:ext>
            </a:extLst>
          </p:cNvPr>
          <p:cNvGrpSpPr>
            <a:grpSpLocks/>
          </p:cNvGrpSpPr>
          <p:nvPr/>
        </p:nvGrpSpPr>
        <p:grpSpPr bwMode="auto">
          <a:xfrm>
            <a:off x="0" y="6305550"/>
            <a:ext cx="9144000" cy="400050"/>
            <a:chOff x="0" y="3546"/>
            <a:chExt cx="5760" cy="684"/>
          </a:xfrm>
        </p:grpSpPr>
        <p:sp>
          <p:nvSpPr>
            <p:cNvPr id="12" name="Rectangle 5">
              <a:extLst>
                <a:ext uri="{FF2B5EF4-FFF2-40B4-BE49-F238E27FC236}">
                  <a16:creationId xmlns:a16="http://schemas.microsoft.com/office/drawing/2014/main" id="{812858A9-6D4B-B317-48EF-5A708A02EC40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0" y="3546"/>
              <a:ext cx="5760" cy="679"/>
            </a:xfrm>
            <a:prstGeom prst="rect">
              <a:avLst/>
            </a:prstGeom>
            <a:solidFill>
              <a:srgbClr val="BAC4D8">
                <a:alpha val="60001"/>
              </a:srgb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pt-BR" dirty="0">
                <a:latin typeface="Tahoma" pitchFamily="34" charset="0"/>
                <a:ea typeface="+mn-ea"/>
              </a:endParaRPr>
            </a:p>
          </p:txBody>
        </p:sp>
        <p:sp>
          <p:nvSpPr>
            <p:cNvPr id="13" name="Rectangle 6">
              <a:extLst>
                <a:ext uri="{FF2B5EF4-FFF2-40B4-BE49-F238E27FC236}">
                  <a16:creationId xmlns:a16="http://schemas.microsoft.com/office/drawing/2014/main" id="{32A5A3AB-B1D9-12FA-F561-6E0F36A99731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0" y="3551"/>
              <a:ext cx="5760" cy="679"/>
            </a:xfrm>
            <a:prstGeom prst="rect">
              <a:avLst/>
            </a:prstGeom>
            <a:solidFill>
              <a:schemeClr val="bg1">
                <a:alpha val="60001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pt-BR" dirty="0">
                <a:latin typeface="Tahoma" pitchFamily="34" charset="0"/>
                <a:ea typeface="+mn-ea"/>
              </a:endParaRPr>
            </a:p>
          </p:txBody>
        </p:sp>
      </p:grpSp>
      <p:grpSp>
        <p:nvGrpSpPr>
          <p:cNvPr id="16" name="Group 8">
            <a:extLst>
              <a:ext uri="{FF2B5EF4-FFF2-40B4-BE49-F238E27FC236}">
                <a16:creationId xmlns:a16="http://schemas.microsoft.com/office/drawing/2014/main" id="{E23A1FFA-8526-3CF0-0214-CD7A506DC64E}"/>
              </a:ext>
            </a:extLst>
          </p:cNvPr>
          <p:cNvGrpSpPr>
            <a:grpSpLocks/>
          </p:cNvGrpSpPr>
          <p:nvPr/>
        </p:nvGrpSpPr>
        <p:grpSpPr bwMode="auto">
          <a:xfrm>
            <a:off x="0" y="209550"/>
            <a:ext cx="9144000" cy="1085850"/>
            <a:chOff x="0" y="-726"/>
            <a:chExt cx="5760" cy="684"/>
          </a:xfrm>
        </p:grpSpPr>
        <p:sp>
          <p:nvSpPr>
            <p:cNvPr id="17" name="Rectangle 9">
              <a:extLst>
                <a:ext uri="{FF2B5EF4-FFF2-40B4-BE49-F238E27FC236}">
                  <a16:creationId xmlns:a16="http://schemas.microsoft.com/office/drawing/2014/main" id="{0C6CC2A8-912E-999E-5003-8DFDDD423418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0" y="-726"/>
              <a:ext cx="5760" cy="678"/>
            </a:xfrm>
            <a:prstGeom prst="rect">
              <a:avLst/>
            </a:prstGeom>
            <a:solidFill>
              <a:srgbClr val="96A5C4">
                <a:alpha val="60001"/>
              </a:srgb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pt-BR" dirty="0">
                <a:latin typeface="Tahoma" pitchFamily="34" charset="0"/>
                <a:ea typeface="+mn-ea"/>
              </a:endParaRPr>
            </a:p>
          </p:txBody>
        </p:sp>
        <p:sp>
          <p:nvSpPr>
            <p:cNvPr id="18" name="Rectangle 10">
              <a:extLst>
                <a:ext uri="{FF2B5EF4-FFF2-40B4-BE49-F238E27FC236}">
                  <a16:creationId xmlns:a16="http://schemas.microsoft.com/office/drawing/2014/main" id="{94953508-C056-EA4C-C060-C81FB017E447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0" y="-720"/>
              <a:ext cx="5760" cy="678"/>
            </a:xfrm>
            <a:prstGeom prst="rect">
              <a:avLst/>
            </a:prstGeom>
            <a:solidFill>
              <a:schemeClr val="bg1">
                <a:alpha val="31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pt-BR" dirty="0">
                <a:latin typeface="Tahoma" pitchFamily="34" charset="0"/>
                <a:ea typeface="+mn-ea"/>
              </a:endParaRPr>
            </a:p>
          </p:txBody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06E8A26C-2F78-4A17-D33D-5DA21845FD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sz="4000" i="1" dirty="0">
                <a:solidFill>
                  <a:srgbClr val="33339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Singleton</a:t>
            </a:r>
            <a:r>
              <a:rPr lang="pt-BR" sz="4000" i="1" dirty="0" err="1">
                <a:solidFill>
                  <a:srgbClr val="33339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/>
            </a:r>
            <a:r>
              <a:rPr lang="pt-BR" sz="4000" i="1" dirty="0">
                <a:solidFill>
                  <a:srgbClr val="33339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/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195F881-3416-FD67-C39E-09BD67B809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600201"/>
            <a:ext cx="4150000" cy="433766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2400" b="1" i="1" dirty="0">
                <a:solidFill>
                  <a:srgbClr val="333399"/>
                </a:solidFill>
              </a:rPr>
              <a:t>Padrões de Projeto Orientado a Objetos</a:t>
            </a:r>
            <a:endParaRPr lang="pt-BR" sz="2400" b="1" dirty="0">
              <a:solidFill>
                <a:srgbClr val="333399"/>
              </a:solidFill>
            </a:endParaRPr>
          </a:p>
          <a:p>
            <a:pPr marL="57150" indent="0" algn="just">
              <a:buNone/>
            </a:pPr>
            <a:endParaRPr lang="pt-BR" sz="1800" dirty="0">
              <a:solidFill>
                <a:srgbClr val="333399"/>
              </a:solidFill>
            </a:endParaRPr>
          </a:p>
          <a:p>
            <a:pPr marL="57150" indent="0" algn="just">
              <a:buNone/>
            </a:pPr>
            <a:r>
              <a:rPr lang="pt-BR" sz="2400" b="1" dirty="0">
                <a:solidFill>
                  <a:srgbClr val="333399"/>
                </a:solidFill>
              </a:rPr>
              <a:t>Padrões Criacionais:</a:t>
            </a:r>
          </a:p>
          <a:p>
            <a:pPr lvl="1" algn="just">
              <a:buFont typeface="Wingdings" panose="05000000000000000000" pitchFamily="2" charset="2"/>
              <a:buChar char="Ø"/>
            </a:pPr>
            <a:r>
              <a:rPr lang="en-US" sz="2000" i="1" dirty="0">
                <a:solidFill>
                  <a:srgbClr val="333399"/>
                </a:solidFill>
              </a:rPr>
              <a:t>Singleton</a:t>
            </a:r>
            <a:r>
              <a:rPr lang="en-US" sz="2000" i="1" dirty="0" err="1">
                <a:solidFill>
                  <a:srgbClr val="333399"/>
                </a:solidFill>
              </a:rPr>
              <a:t/>
            </a:r>
            <a:endParaRPr lang="en-US" sz="2000" i="1" dirty="0">
              <a:solidFill>
                <a:srgbClr val="333399"/>
              </a:solidFill>
            </a:endParaRPr>
          </a:p>
          <a:p>
            <a:pPr lvl="2" algn="just">
              <a:buFont typeface="Wingdings" panose="05000000000000000000" pitchFamily="2" charset="2"/>
              <a:buChar char="ü"/>
            </a:pPr>
            <a:r>
              <a:rPr lang="en-US" sz="1800" b="1" u="sng" dirty="0" err="1">
                <a:solidFill>
                  <a:srgbClr val="333399"/>
                </a:solidFill>
              </a:rPr>
              <a:t>Exemplo</a:t>
            </a:r>
            <a:r>
              <a:rPr lang="en-US" sz="1800" b="1" u="sng" dirty="0">
                <a:solidFill>
                  <a:srgbClr val="333399"/>
                </a:solidFill>
              </a:rPr>
              <a:t> de Código</a:t>
            </a:r>
            <a:r>
              <a:rPr lang="en-US" sz="1800" b="1" dirty="0">
                <a:solidFill>
                  <a:srgbClr val="333399"/>
                </a:solidFill>
              </a:rPr>
              <a:t>: </a:t>
            </a:r>
          </a:p>
          <a:p>
            <a:pPr lvl="2" algn="just">
              <a:buFont typeface="Wingdings" panose="05000000000000000000" pitchFamily="2" charset="2"/>
              <a:buChar char="ü"/>
            </a:pPr>
            <a:r>
              <a:rPr sz="1200"/>
              <a:t>Logger guarda a instância única em um campo static volatile e tem construtor privado.</a:t>
            </a:r>
            <a:endParaRPr lang="pt-BR" sz="1800" dirty="0">
              <a:solidFill>
                <a:srgbClr val="333399"/>
              </a:solidFill>
            </a:endParaRPr>
          </a:p>
          <a:p>
            <a:pPr lvl="2"/>
            <a:r>
              <a:rPr sz="1200"/>
              <a:t>getInstance() usa double-checked locking para criar a instância de forma preguiçosa e seguro entre threads.</a:t>
            </a:r>
          </a:p>
          <a:p>
            <a:pPr lvl="2"/>
            <a:r>
              <a:rPr sz="1200"/>
              <a:t>ServicoPedidos e ServicoPagamentos usam Logger.getInstance() sem conhecer detalhes de como a instância é criada.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DD911A3-EEB2-365D-51B9-9995178A99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2C95A-2AF6-49B0-BE51-226E5A34C307}" type="slidenum">
              <a:rPr lang="pt-BR" smtClean="0"/>
              <a:t>5</a:t>
            </a:fld>
            <a:endParaRPr lang="pt-BR" dirty="0"/>
          </a:p>
        </p:txBody>
      </p:sp>
      <p:pic>
        <p:nvPicPr>
          <p:cNvPr id="15" name="Imagem 14">
            <a:extLst>
              <a:ext uri="{FF2B5EF4-FFF2-40B4-BE49-F238E27FC236}">
                <a16:creationId xmlns:a16="http://schemas.microsoft.com/office/drawing/2014/main" id="{C10B1C1B-3878-7851-DD82-29C41BB12A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44409" y="328339"/>
            <a:ext cx="514732" cy="792000"/>
          </a:xfrm>
          <a:prstGeom prst="rect">
            <a:avLst/>
          </a:prstGeom>
        </p:spPr>
      </p:pic>
      <p:pic>
        <p:nvPicPr>
          <p:cNvPr id="23" name="Imagem 22">
            <a:extLst>
              <a:ext uri="{FF2B5EF4-FFF2-40B4-BE49-F238E27FC236}">
                <a16:creationId xmlns:a16="http://schemas.microsoft.com/office/drawing/2014/main" id="{92375872-45C1-6D18-131D-BBF3B40502E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286" y="567712"/>
            <a:ext cx="1200000" cy="360000"/>
          </a:xfrm>
          <a:prstGeom prst="rect">
            <a:avLst/>
          </a:prstGeom>
        </p:spPr>
      </p:pic>
      <p:sp>
        <p:nvSpPr>
          <p:cNvPr id="6" name="Rectangle 14">
            <a:extLst>
              <a:ext uri="{FF2B5EF4-FFF2-40B4-BE49-F238E27FC236}">
                <a16:creationId xmlns:a16="http://schemas.microsoft.com/office/drawing/2014/main" id="{ED912FF9-6581-2942-327B-109A119707F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3124200" y="6356350"/>
            <a:ext cx="3752056" cy="365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 b="1" u="none">
                <a:solidFill>
                  <a:srgbClr val="83A5D7"/>
                </a:solidFill>
                <a:latin typeface="Arial" charset="0"/>
              </a:defRPr>
            </a:lvl1pPr>
          </a:lstStyle>
          <a:p>
            <a:pPr algn="just"/>
            <a:r>
              <a:rPr lang="en-US" i="1" dirty="0">
                <a:solidFill>
                  <a:schemeClr val="tx2">
                    <a:lumMod val="40000"/>
                    <a:lumOff val="60000"/>
                  </a:schemeClr>
                </a:solidFill>
              </a:rPr>
              <a:t>Nome do Aluno: Marcus Paulo — marcuspaulodev@gmail.com</a:t>
            </a:r>
            <a:r>
              <a:rPr lang="en-US" i="1" dirty="0" err="1">
                <a:solidFill>
                  <a:schemeClr val="tx2">
                    <a:lumMod val="40000"/>
                    <a:lumOff val="60000"/>
                  </a:schemeClr>
                </a:solidFill>
              </a:rPr>
              <a:t/>
            </a:r>
            <a:r>
              <a:rPr lang="en-US" i="1" dirty="0">
                <a:solidFill>
                  <a:schemeClr val="tx2">
                    <a:lumMod val="40000"/>
                    <a:lumOff val="60000"/>
                  </a:schemeClr>
                </a:solidFill>
              </a:rPr>
              <a:t/>
            </a:r>
          </a:p>
        </p:txBody>
      </p:sp>
      <p:sp>
        <p:nvSpPr>
          <p:cNvPr id="24" name="Rectangle 23"/>
          <p:cNvSpPr/>
          <p:nvPr/>
        </p:nvSpPr>
        <p:spPr>
          <a:xfrm>
            <a:off x="4716016" y="1650000"/>
            <a:ext cx="3100000" cy="2350000"/>
          </a:xfrm>
          <a:prstGeom prst="rect">
            <a:avLst/>
          </a:prstGeom>
          <a:solidFill>
            <a:srgbClr val="1E1E1E"/>
          </a:solidFill>
          <a:ln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0000" rIns="60000" tIns="60000" bIns="60000"/>
          <a:lstStyle/>
          <a:p>
            <a:pPr algn="ctr"/>
            <a:r>
              <a:rPr b="1" sz="1100">
                <a:solidFill>
                  <a:srgbClr val="9CDCFE"/>
                </a:solidFill>
              </a:rPr>
              <a:t>Logger.java</a:t>
            </a:r>
          </a:p>
          <a:p>
            <a:r>
              <a:rPr sz="900">
                <a:solidFill>
                  <a:srgbClr val="D4D4D4"/>
                </a:solidFill>
                <a:latin typeface="Consolas"/>
              </a:rPr>
              <a:t>public class Logger {</a:t>
            </a:r>
          </a:p>
          <a:p>
            <a:r>
              <a:rPr sz="900">
                <a:solidFill>
                  <a:srgbClr val="D4D4D4"/>
                </a:solidFill>
                <a:latin typeface="Consolas"/>
              </a:rPr>
              <a:t>  private static volatile Logger instancia;</a:t>
            </a:r>
          </a:p>
          <a:p>
            <a:r>
              <a:rPr sz="900">
                <a:solidFill>
                  <a:srgbClr val="D4D4D4"/>
                </a:solidFill>
                <a:latin typeface="Consolas"/>
              </a:rPr>
              <a:t>  private Logger() { ... }</a:t>
            </a:r>
          </a:p>
          <a:p>
            <a:r>
              <a:rPr sz="900">
                <a:solidFill>
                  <a:srgbClr val="D4D4D4"/>
                </a:solidFill>
                <a:latin typeface="Consolas"/>
              </a:rPr>
              <a:t> </a:t>
            </a:r>
          </a:p>
          <a:p>
            <a:r>
              <a:rPr sz="900">
                <a:solidFill>
                  <a:srgbClr val="D4D4D4"/>
                </a:solidFill>
                <a:latin typeface="Consolas"/>
              </a:rPr>
              <a:t>  static Logger getInstance() {</a:t>
            </a:r>
          </a:p>
          <a:p>
            <a:r>
              <a:rPr sz="900">
                <a:solidFill>
                  <a:srgbClr val="D4D4D4"/>
                </a:solidFill>
                <a:latin typeface="Consolas"/>
              </a:rPr>
              <a:t>    if (instancia == null) {</a:t>
            </a:r>
          </a:p>
          <a:p>
            <a:r>
              <a:rPr sz="900">
                <a:solidFill>
                  <a:srgbClr val="D4D4D4"/>
                </a:solidFill>
                <a:latin typeface="Consolas"/>
              </a:rPr>
              <a:t>      synchronized (Logger.class) {</a:t>
            </a:r>
          </a:p>
          <a:p>
            <a:r>
              <a:rPr sz="900">
                <a:solidFill>
                  <a:srgbClr val="D4D4D4"/>
                </a:solidFill>
                <a:latin typeface="Consolas"/>
              </a:rPr>
              <a:t>        if (instancia == null)</a:t>
            </a:r>
          </a:p>
          <a:p>
            <a:r>
              <a:rPr sz="900">
                <a:solidFill>
                  <a:srgbClr val="D4D4D4"/>
                </a:solidFill>
                <a:latin typeface="Consolas"/>
              </a:rPr>
              <a:t>          instancia = new Logger();</a:t>
            </a:r>
          </a:p>
          <a:p>
            <a:r>
              <a:rPr sz="900">
                <a:solidFill>
                  <a:srgbClr val="D4D4D4"/>
                </a:solidFill>
                <a:latin typeface="Consolas"/>
              </a:rPr>
              <a:t>      }</a:t>
            </a:r>
          </a:p>
          <a:p>
            <a:r>
              <a:rPr sz="900">
                <a:solidFill>
                  <a:srgbClr val="D4D4D4"/>
                </a:solidFill>
                <a:latin typeface="Consolas"/>
              </a:rPr>
              <a:t>    }</a:t>
            </a:r>
          </a:p>
          <a:p>
            <a:r>
              <a:rPr sz="900">
                <a:solidFill>
                  <a:srgbClr val="D4D4D4"/>
                </a:solidFill>
                <a:latin typeface="Consolas"/>
              </a:rPr>
              <a:t>    return instancia;</a:t>
            </a:r>
          </a:p>
          <a:p>
            <a:r>
              <a:rPr sz="900">
                <a:solidFill>
                  <a:srgbClr val="D4D4D4"/>
                </a:solidFill>
                <a:latin typeface="Consolas"/>
              </a:rPr>
              <a:t>  }</a:t>
            </a:r>
          </a:p>
          <a:p>
            <a:r>
              <a:rPr sz="90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16016" y="4150000"/>
            <a:ext cx="3100000" cy="2350000"/>
          </a:xfrm>
          <a:prstGeom prst="rect">
            <a:avLst/>
          </a:prstGeom>
          <a:solidFill>
            <a:srgbClr val="1E1E1E"/>
          </a:solidFill>
          <a:ln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0000" rIns="60000" tIns="60000" bIns="60000"/>
          <a:lstStyle/>
          <a:p>
            <a:pPr algn="ctr"/>
            <a:r>
              <a:rPr b="1" sz="1100">
                <a:solidFill>
                  <a:srgbClr val="9CDCFE"/>
                </a:solidFill>
              </a:rPr>
              <a:t>ServicoPedidos.java / ServicoPagamentos.java</a:t>
            </a:r>
          </a:p>
          <a:p>
            <a:r>
              <a:rPr sz="900">
                <a:solidFill>
                  <a:srgbClr val="D4D4D4"/>
                </a:solidFill>
                <a:latin typeface="Consolas"/>
              </a:rPr>
              <a:t>// ServicoPedidos.java</a:t>
            </a:r>
          </a:p>
          <a:p>
            <a:r>
              <a:rPr sz="900">
                <a:solidFill>
                  <a:srgbClr val="D4D4D4"/>
                </a:solidFill>
                <a:latin typeface="Consolas"/>
              </a:rPr>
              <a:t>void processarPedido(String id) {</a:t>
            </a:r>
          </a:p>
          <a:p>
            <a:r>
              <a:rPr sz="900">
                <a:solidFill>
                  <a:srgbClr val="D4D4D4"/>
                </a:solidFill>
                <a:latin typeface="Consolas"/>
              </a:rPr>
              <a:t>  Logger.getInstance().log(</a:t>
            </a:r>
          </a:p>
          <a:p>
            <a:r>
              <a:rPr sz="900">
                <a:solidFill>
                  <a:srgbClr val="D4D4D4"/>
                </a:solidFill>
                <a:latin typeface="Consolas"/>
              </a:rPr>
              <a:t>      "Pedido " + id + " processado.");</a:t>
            </a:r>
          </a:p>
          <a:p>
            <a:r>
              <a:rPr sz="900">
                <a:solidFill>
                  <a:srgbClr val="D4D4D4"/>
                </a:solidFill>
                <a:latin typeface="Consolas"/>
              </a:rPr>
              <a:t>}</a:t>
            </a:r>
          </a:p>
          <a:p>
            <a:r>
              <a:rPr sz="900">
                <a:solidFill>
                  <a:srgbClr val="D4D4D4"/>
                </a:solidFill>
                <a:latin typeface="Consolas"/>
              </a:rPr>
              <a:t> </a:t>
            </a:r>
          </a:p>
          <a:p>
            <a:r>
              <a:rPr sz="900">
                <a:solidFill>
                  <a:srgbClr val="D4D4D4"/>
                </a:solidFill>
                <a:latin typeface="Consolas"/>
              </a:rPr>
              <a:t>// ServicoPagamentos.java</a:t>
            </a:r>
          </a:p>
          <a:p>
            <a:r>
              <a:rPr sz="900">
                <a:solidFill>
                  <a:srgbClr val="D4D4D4"/>
                </a:solidFill>
                <a:latin typeface="Consolas"/>
              </a:rPr>
              <a:t>void confirmarPagamento(String id) {</a:t>
            </a:r>
          </a:p>
          <a:p>
            <a:r>
              <a:rPr sz="900">
                <a:solidFill>
                  <a:srgbClr val="D4D4D4"/>
                </a:solidFill>
                <a:latin typeface="Consolas"/>
              </a:rPr>
              <a:t>  Logger.getInstance().log(</a:t>
            </a:r>
          </a:p>
          <a:p>
            <a:r>
              <a:rPr sz="900">
                <a:solidFill>
                  <a:srgbClr val="D4D4D4"/>
                </a:solidFill>
                <a:latin typeface="Consolas"/>
              </a:rPr>
              <a:t>      "Pagamento " + id + " confirmado.");</a:t>
            </a:r>
          </a:p>
          <a:p>
            <a:r>
              <a:rPr sz="90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3537906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4"/>
          <p:cNvGrpSpPr>
            <a:grpSpLocks/>
          </p:cNvGrpSpPr>
          <p:nvPr/>
        </p:nvGrpSpPr>
        <p:grpSpPr bwMode="auto">
          <a:xfrm>
            <a:off x="0" y="6305550"/>
            <a:ext cx="9144000" cy="400050"/>
            <a:chOff x="0" y="3546"/>
            <a:chExt cx="5760" cy="684"/>
          </a:xfrm>
        </p:grpSpPr>
        <p:sp>
          <p:nvSpPr>
            <p:cNvPr id="12" name="Rectangle 5"/>
            <p:cNvSpPr>
              <a:spLocks noChangeArrowheads="1"/>
            </p:cNvSpPr>
            <p:nvPr userDrawn="1"/>
          </p:nvSpPr>
          <p:spPr bwMode="auto">
            <a:xfrm>
              <a:off x="0" y="3546"/>
              <a:ext cx="5760" cy="679"/>
            </a:xfrm>
            <a:prstGeom prst="rect">
              <a:avLst/>
            </a:prstGeom>
            <a:solidFill>
              <a:srgbClr val="BAC4D8">
                <a:alpha val="60001"/>
              </a:srgb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pt-BR" dirty="0">
                <a:latin typeface="Tahoma" pitchFamily="34" charset="0"/>
                <a:ea typeface="+mn-ea"/>
              </a:endParaRPr>
            </a:p>
          </p:txBody>
        </p:sp>
        <p:sp>
          <p:nvSpPr>
            <p:cNvPr id="13" name="Rectangle 6"/>
            <p:cNvSpPr>
              <a:spLocks noChangeArrowheads="1"/>
            </p:cNvSpPr>
            <p:nvPr userDrawn="1"/>
          </p:nvSpPr>
          <p:spPr bwMode="auto">
            <a:xfrm>
              <a:off x="0" y="3551"/>
              <a:ext cx="5760" cy="679"/>
            </a:xfrm>
            <a:prstGeom prst="rect">
              <a:avLst/>
            </a:prstGeom>
            <a:solidFill>
              <a:schemeClr val="bg1">
                <a:alpha val="60001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pt-BR" dirty="0">
                <a:latin typeface="Tahoma" pitchFamily="34" charset="0"/>
                <a:ea typeface="+mn-ea"/>
              </a:endParaRPr>
            </a:p>
          </p:txBody>
        </p:sp>
      </p:grpSp>
      <p:grpSp>
        <p:nvGrpSpPr>
          <p:cNvPr id="16" name="Group 8"/>
          <p:cNvGrpSpPr>
            <a:grpSpLocks/>
          </p:cNvGrpSpPr>
          <p:nvPr/>
        </p:nvGrpSpPr>
        <p:grpSpPr bwMode="auto">
          <a:xfrm>
            <a:off x="0" y="209550"/>
            <a:ext cx="9144000" cy="1085850"/>
            <a:chOff x="0" y="-726"/>
            <a:chExt cx="5760" cy="684"/>
          </a:xfrm>
        </p:grpSpPr>
        <p:sp>
          <p:nvSpPr>
            <p:cNvPr id="17" name="Rectangle 9"/>
            <p:cNvSpPr>
              <a:spLocks noChangeArrowheads="1"/>
            </p:cNvSpPr>
            <p:nvPr userDrawn="1"/>
          </p:nvSpPr>
          <p:spPr bwMode="auto">
            <a:xfrm>
              <a:off x="0" y="-726"/>
              <a:ext cx="5760" cy="678"/>
            </a:xfrm>
            <a:prstGeom prst="rect">
              <a:avLst/>
            </a:prstGeom>
            <a:solidFill>
              <a:srgbClr val="96A5C4">
                <a:alpha val="60001"/>
              </a:srgb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pt-BR" dirty="0">
                <a:latin typeface="Tahoma" pitchFamily="34" charset="0"/>
                <a:ea typeface="+mn-ea"/>
              </a:endParaRPr>
            </a:p>
          </p:txBody>
        </p:sp>
        <p:sp>
          <p:nvSpPr>
            <p:cNvPr id="18" name="Rectangle 10"/>
            <p:cNvSpPr>
              <a:spLocks noChangeArrowheads="1"/>
            </p:cNvSpPr>
            <p:nvPr userDrawn="1"/>
          </p:nvSpPr>
          <p:spPr bwMode="auto">
            <a:xfrm>
              <a:off x="0" y="-720"/>
              <a:ext cx="5760" cy="678"/>
            </a:xfrm>
            <a:prstGeom prst="rect">
              <a:avLst/>
            </a:prstGeom>
            <a:solidFill>
              <a:schemeClr val="bg1">
                <a:alpha val="31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pt-BR" dirty="0">
                <a:latin typeface="Tahoma" pitchFamily="34" charset="0"/>
                <a:ea typeface="+mn-ea"/>
              </a:endParaRPr>
            </a:p>
          </p:txBody>
        </p:sp>
      </p:grpSp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sz="4000" i="1" dirty="0">
                <a:solidFill>
                  <a:srgbClr val="33339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Singleton</a:t>
            </a:r>
            <a:r>
              <a:rPr lang="pt-BR" sz="4000" i="1" dirty="0" err="1">
                <a:solidFill>
                  <a:srgbClr val="33339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/>
            </a:r>
            <a:r>
              <a:rPr lang="pt-BR" sz="4000" i="1" dirty="0">
                <a:solidFill>
                  <a:srgbClr val="33339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/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BF4AECB-AAC1-46E3-AF09-A631E4BCB1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433766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2400" b="1" i="1" dirty="0">
                <a:solidFill>
                  <a:srgbClr val="333399"/>
                </a:solidFill>
              </a:rPr>
              <a:t>Padrões de Projeto Orientado a Objetos</a:t>
            </a:r>
            <a:endParaRPr lang="pt-BR" sz="2400" b="1" dirty="0">
              <a:solidFill>
                <a:srgbClr val="333399"/>
              </a:solidFill>
            </a:endParaRPr>
          </a:p>
          <a:p>
            <a:pPr marL="57150" indent="0" algn="just">
              <a:buNone/>
            </a:pPr>
            <a:endParaRPr lang="pt-BR" sz="1800" dirty="0">
              <a:solidFill>
                <a:srgbClr val="333399"/>
              </a:solidFill>
            </a:endParaRPr>
          </a:p>
          <a:p>
            <a:pPr marL="57150" indent="0" algn="just">
              <a:buNone/>
            </a:pPr>
            <a:r>
              <a:rPr lang="pt-BR" sz="2400" b="1" dirty="0">
                <a:solidFill>
                  <a:srgbClr val="333399"/>
                </a:solidFill>
              </a:rPr>
              <a:t>Padrões Criacionais:</a:t>
            </a:r>
          </a:p>
          <a:p>
            <a:pPr lvl="1" algn="just">
              <a:buFont typeface="Wingdings" panose="05000000000000000000" pitchFamily="2" charset="2"/>
              <a:buChar char="Ø"/>
            </a:pPr>
            <a:r>
              <a:rPr lang="en-US" sz="2000" i="1" dirty="0">
                <a:solidFill>
                  <a:srgbClr val="333399"/>
                </a:solidFill>
              </a:rPr>
              <a:t>Singleton</a:t>
            </a:r>
            <a:r>
              <a:rPr lang="en-US" sz="2000" i="1" dirty="0" err="1">
                <a:solidFill>
                  <a:srgbClr val="333399"/>
                </a:solidFill>
              </a:rPr>
              <a:t/>
            </a:r>
            <a:endParaRPr lang="en-US" sz="2000" i="1" dirty="0">
              <a:solidFill>
                <a:srgbClr val="333399"/>
              </a:solidFill>
            </a:endParaRPr>
          </a:p>
          <a:p>
            <a:pPr lvl="2" algn="just">
              <a:buFont typeface="Wingdings" panose="05000000000000000000" pitchFamily="2" charset="2"/>
              <a:buChar char="ü"/>
            </a:pPr>
            <a:r>
              <a:rPr lang="en-US" sz="1800" u="sng" dirty="0" err="1">
                <a:solidFill>
                  <a:srgbClr val="333399"/>
                </a:solidFill>
              </a:rPr>
              <a:t>Aplicabilidade</a:t>
            </a:r>
            <a:r>
              <a:rPr lang="en-US" sz="1800" dirty="0">
                <a:solidFill>
                  <a:srgbClr val="333399"/>
                </a:solidFill>
              </a:rPr>
              <a:t>: </a:t>
            </a:r>
          </a:p>
          <a:p>
            <a:pPr lvl="3" algn="just">
              <a:buFont typeface="Wingdings" panose="05000000000000000000" pitchFamily="2" charset="2"/>
              <a:buChar char="§"/>
            </a:pPr>
            <a:r>
              <a:rPr lang="pt-BR" sz="1400" dirty="0">
                <a:solidFill>
                  <a:srgbClr val="333399"/>
                </a:solidFill>
              </a:rPr>
              <a:t>Quando deve existir exatamente uma instância de uma classe, acessível a partir de um único ponto conhecido do sistema.</a:t>
            </a:r>
          </a:p>
          <a:p>
            <a:pPr lvl="3" algn="just">
              <a:buFont typeface="Wingdings" panose="05000000000000000000" pitchFamily="2" charset="2"/>
              <a:buChar char="§"/>
            </a:pPr>
            <a:r>
              <a:rPr lang="pt-BR" sz="1400" dirty="0">
                <a:solidFill>
                  <a:srgbClr val="333399"/>
                </a:solidFill>
              </a:rPr>
              <a:t>Registro de log (logging), onde todas as partes do sistema devem escrever no mesmo destino.</a:t>
            </a:r>
          </a:p>
          <a:p>
            <a:pPr lvl="3" algn="just">
              <a:buFont typeface="Wingdings" panose="05000000000000000000" pitchFamily="2" charset="2"/>
              <a:buChar char="§"/>
            </a:pPr>
            <a:r>
              <a:rPr lang="pt-BR" sz="1400" dirty="0">
                <a:solidFill>
                  <a:srgbClr val="333399"/>
                </a:solidFill>
              </a:rPr>
              <a:t>Gerenciador de configuração, cache compartilhado, ou pool de conexões com banco de dados.</a:t>
            </a:r>
          </a:p>
          <a:p>
            <a:pPr lvl="3" algn="just">
              <a:buFont typeface="Wingdings" panose="05000000000000000000" pitchFamily="2" charset="2"/>
              <a:buChar char="§"/>
            </a:pPr>
            <a:r>
              <a:rPr lang="pt-BR" sz="1400" dirty="0">
                <a:solidFill>
                  <a:srgbClr val="333399"/>
                </a:solidFill>
              </a:rPr>
              <a:t>Quando a instância única deve ser criada de forma preguiçosa (só quando realmente for necessária pela primeira vez).</a:t>
            </a:r>
            <a:r>
              <a:rPr lang="pt-BR" sz="1400" i="1" dirty="0">
                <a:solidFill>
                  <a:srgbClr val="333399"/>
                </a:solidFill>
              </a:rPr>
              <a:t/>
            </a:r>
            <a:r>
              <a:rPr lang="pt-BR" sz="1400" dirty="0">
                <a:solidFill>
                  <a:srgbClr val="333399"/>
                </a:solidFill>
              </a:rPr>
              <a:t/>
            </a:r>
            <a:endParaRPr lang="en-US" sz="1400" dirty="0">
              <a:solidFill>
                <a:srgbClr val="333399"/>
              </a:solidFill>
            </a:endParaRPr>
          </a:p>
          <a:p>
            <a:pPr lvl="2" algn="just">
              <a:buFont typeface="Wingdings" panose="05000000000000000000" pitchFamily="2" charset="2"/>
              <a:buChar char="ü"/>
            </a:pPr>
            <a:endParaRPr lang="pt-BR" sz="1800" dirty="0">
              <a:solidFill>
                <a:srgbClr val="333399"/>
              </a:solidFill>
            </a:endParaRP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2C95A-2AF6-49B0-BE51-226E5A34C307}" type="slidenum">
              <a:rPr lang="pt-BR" smtClean="0"/>
              <a:t>6</a:t>
            </a:fld>
            <a:endParaRPr lang="pt-BR" dirty="0"/>
          </a:p>
        </p:txBody>
      </p:sp>
      <p:pic>
        <p:nvPicPr>
          <p:cNvPr id="15" name="Imagem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44409" y="328339"/>
            <a:ext cx="514732" cy="792000"/>
          </a:xfrm>
          <a:prstGeom prst="rect">
            <a:avLst/>
          </a:prstGeom>
        </p:spPr>
      </p:pic>
      <p:pic>
        <p:nvPicPr>
          <p:cNvPr id="23" name="Imagem 2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286" y="567712"/>
            <a:ext cx="1200000" cy="360000"/>
          </a:xfrm>
          <a:prstGeom prst="rect">
            <a:avLst/>
          </a:prstGeom>
        </p:spPr>
      </p:pic>
      <p:sp>
        <p:nvSpPr>
          <p:cNvPr id="5" name="Rectangle 14">
            <a:extLst>
              <a:ext uri="{FF2B5EF4-FFF2-40B4-BE49-F238E27FC236}">
                <a16:creationId xmlns:a16="http://schemas.microsoft.com/office/drawing/2014/main" id="{19D190A5-4B0B-0CC4-B09F-E91B1140099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3124200" y="6356350"/>
            <a:ext cx="3752056" cy="365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 b="1" u="none">
                <a:solidFill>
                  <a:srgbClr val="83A5D7"/>
                </a:solidFill>
                <a:latin typeface="Arial" charset="0"/>
              </a:defRPr>
            </a:lvl1pPr>
          </a:lstStyle>
          <a:p>
            <a:pPr algn="just"/>
            <a:r>
              <a:rPr lang="en-US" i="1" dirty="0">
                <a:solidFill>
                  <a:schemeClr val="tx2">
                    <a:lumMod val="40000"/>
                    <a:lumOff val="60000"/>
                  </a:schemeClr>
                </a:solidFill>
              </a:rPr>
              <a:t>Nome do Aluno: Marcus Paulo — marcuspaulodev@gmail.com</a:t>
            </a:r>
            <a:r>
              <a:rPr lang="en-US" i="1" dirty="0" err="1">
                <a:solidFill>
                  <a:schemeClr val="tx2">
                    <a:lumMod val="40000"/>
                    <a:lumOff val="60000"/>
                  </a:schemeClr>
                </a:solidFill>
              </a:rPr>
              <a:t/>
            </a:r>
            <a:r>
              <a:rPr lang="en-US" i="1" dirty="0">
                <a:solidFill>
                  <a:schemeClr val="tx2">
                    <a:lumMod val="40000"/>
                    <a:lumOff val="60000"/>
                  </a:schemeClr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107808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4"/>
          <p:cNvGrpSpPr>
            <a:grpSpLocks/>
          </p:cNvGrpSpPr>
          <p:nvPr/>
        </p:nvGrpSpPr>
        <p:grpSpPr bwMode="auto">
          <a:xfrm>
            <a:off x="0" y="6305550"/>
            <a:ext cx="9144000" cy="400050"/>
            <a:chOff x="0" y="3546"/>
            <a:chExt cx="5760" cy="684"/>
          </a:xfrm>
        </p:grpSpPr>
        <p:sp>
          <p:nvSpPr>
            <p:cNvPr id="12" name="Rectangle 5"/>
            <p:cNvSpPr>
              <a:spLocks noChangeArrowheads="1"/>
            </p:cNvSpPr>
            <p:nvPr userDrawn="1"/>
          </p:nvSpPr>
          <p:spPr bwMode="auto">
            <a:xfrm>
              <a:off x="0" y="3546"/>
              <a:ext cx="5760" cy="679"/>
            </a:xfrm>
            <a:prstGeom prst="rect">
              <a:avLst/>
            </a:prstGeom>
            <a:solidFill>
              <a:srgbClr val="BAC4D8">
                <a:alpha val="60001"/>
              </a:srgb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pt-BR" dirty="0">
                <a:latin typeface="Tahoma" pitchFamily="34" charset="0"/>
                <a:ea typeface="+mn-ea"/>
              </a:endParaRPr>
            </a:p>
          </p:txBody>
        </p:sp>
        <p:sp>
          <p:nvSpPr>
            <p:cNvPr id="13" name="Rectangle 6"/>
            <p:cNvSpPr>
              <a:spLocks noChangeArrowheads="1"/>
            </p:cNvSpPr>
            <p:nvPr userDrawn="1"/>
          </p:nvSpPr>
          <p:spPr bwMode="auto">
            <a:xfrm>
              <a:off x="0" y="3551"/>
              <a:ext cx="5760" cy="679"/>
            </a:xfrm>
            <a:prstGeom prst="rect">
              <a:avLst/>
            </a:prstGeom>
            <a:solidFill>
              <a:schemeClr val="bg1">
                <a:alpha val="60001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pt-BR" dirty="0">
                <a:latin typeface="Tahoma" pitchFamily="34" charset="0"/>
                <a:ea typeface="+mn-ea"/>
              </a:endParaRPr>
            </a:p>
          </p:txBody>
        </p:sp>
      </p:grpSp>
      <p:grpSp>
        <p:nvGrpSpPr>
          <p:cNvPr id="16" name="Group 8"/>
          <p:cNvGrpSpPr>
            <a:grpSpLocks/>
          </p:cNvGrpSpPr>
          <p:nvPr/>
        </p:nvGrpSpPr>
        <p:grpSpPr bwMode="auto">
          <a:xfrm>
            <a:off x="0" y="209550"/>
            <a:ext cx="9144000" cy="1085850"/>
            <a:chOff x="0" y="-726"/>
            <a:chExt cx="5760" cy="684"/>
          </a:xfrm>
        </p:grpSpPr>
        <p:sp>
          <p:nvSpPr>
            <p:cNvPr id="17" name="Rectangle 9"/>
            <p:cNvSpPr>
              <a:spLocks noChangeArrowheads="1"/>
            </p:cNvSpPr>
            <p:nvPr userDrawn="1"/>
          </p:nvSpPr>
          <p:spPr bwMode="auto">
            <a:xfrm>
              <a:off x="0" y="-726"/>
              <a:ext cx="5760" cy="678"/>
            </a:xfrm>
            <a:prstGeom prst="rect">
              <a:avLst/>
            </a:prstGeom>
            <a:solidFill>
              <a:srgbClr val="96A5C4">
                <a:alpha val="60001"/>
              </a:srgb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pt-BR" dirty="0">
                <a:latin typeface="Tahoma" pitchFamily="34" charset="0"/>
                <a:ea typeface="+mn-ea"/>
              </a:endParaRPr>
            </a:p>
          </p:txBody>
        </p:sp>
        <p:sp>
          <p:nvSpPr>
            <p:cNvPr id="18" name="Rectangle 10"/>
            <p:cNvSpPr>
              <a:spLocks noChangeArrowheads="1"/>
            </p:cNvSpPr>
            <p:nvPr userDrawn="1"/>
          </p:nvSpPr>
          <p:spPr bwMode="auto">
            <a:xfrm>
              <a:off x="0" y="-720"/>
              <a:ext cx="5760" cy="678"/>
            </a:xfrm>
            <a:prstGeom prst="rect">
              <a:avLst/>
            </a:prstGeom>
            <a:solidFill>
              <a:schemeClr val="bg1">
                <a:alpha val="31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pt-BR" dirty="0">
                <a:latin typeface="Tahoma" pitchFamily="34" charset="0"/>
                <a:ea typeface="+mn-ea"/>
              </a:endParaRPr>
            </a:p>
          </p:txBody>
        </p:sp>
      </p:grpSp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sz="4000" i="1" dirty="0">
                <a:solidFill>
                  <a:srgbClr val="33339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Singleton</a:t>
            </a:r>
            <a:r>
              <a:rPr lang="pt-BR" sz="4000" i="1" dirty="0" err="1">
                <a:solidFill>
                  <a:srgbClr val="33339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/>
            </a:r>
            <a:r>
              <a:rPr lang="pt-BR" sz="4000" i="1" dirty="0">
                <a:solidFill>
                  <a:srgbClr val="33339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/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BF4AECB-AAC1-46E3-AF09-A631E4BCB1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433766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2400" b="1" i="1" dirty="0">
                <a:solidFill>
                  <a:srgbClr val="333399"/>
                </a:solidFill>
              </a:rPr>
              <a:t>Padrões de Projeto Orientado a Objetos</a:t>
            </a:r>
            <a:endParaRPr lang="pt-BR" sz="2400" b="1" dirty="0">
              <a:solidFill>
                <a:srgbClr val="333399"/>
              </a:solidFill>
            </a:endParaRPr>
          </a:p>
          <a:p>
            <a:pPr marL="57150" indent="0" algn="just">
              <a:buNone/>
            </a:pPr>
            <a:endParaRPr lang="pt-BR" sz="1800" dirty="0">
              <a:solidFill>
                <a:srgbClr val="333399"/>
              </a:solidFill>
            </a:endParaRPr>
          </a:p>
          <a:p>
            <a:pPr marL="57150" indent="0" algn="just">
              <a:buNone/>
            </a:pPr>
            <a:r>
              <a:rPr lang="pt-BR" sz="2400" b="1" dirty="0">
                <a:solidFill>
                  <a:srgbClr val="333399"/>
                </a:solidFill>
              </a:rPr>
              <a:t>Padrões Criacionais: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2C95A-2AF6-49B0-BE51-226E5A34C307}" type="slidenum">
              <a:rPr lang="pt-BR" smtClean="0"/>
              <a:t>7</a:t>
            </a:fld>
            <a:endParaRPr lang="pt-BR" dirty="0"/>
          </a:p>
        </p:txBody>
      </p:sp>
      <p:pic>
        <p:nvPicPr>
          <p:cNvPr id="15" name="Imagem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44409" y="328339"/>
            <a:ext cx="514732" cy="792000"/>
          </a:xfrm>
          <a:prstGeom prst="rect">
            <a:avLst/>
          </a:prstGeom>
        </p:spPr>
      </p:pic>
      <p:pic>
        <p:nvPicPr>
          <p:cNvPr id="23" name="Imagem 2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286" y="567712"/>
            <a:ext cx="1200000" cy="360000"/>
          </a:xfrm>
          <a:prstGeom prst="rect">
            <a:avLst/>
          </a:prstGeom>
        </p:spPr>
      </p:pic>
      <p:graphicFrame>
        <p:nvGraphicFramePr>
          <p:cNvPr id="6" name="Tabela 6">
            <a:extLst>
              <a:ext uri="{FF2B5EF4-FFF2-40B4-BE49-F238E27FC236}">
                <a16:creationId xmlns:a16="http://schemas.microsoft.com/office/drawing/2014/main" id="{19AF9261-8EF8-490B-BB71-B2DC1BEC26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1361928"/>
              </p:ext>
            </p:extLst>
          </p:nvPr>
        </p:nvGraphicFramePr>
        <p:xfrm>
          <a:off x="457200" y="2852936"/>
          <a:ext cx="8229600" cy="1818640"/>
        </p:xfrm>
        <a:graphic>
          <a:graphicData uri="http://schemas.openxmlformats.org/drawingml/2006/table">
            <a:tbl>
              <a:tblPr firstRow="1" bandRow="1">
                <a:tableStyleId>{6E25E649-3F16-4E02-A733-19D2CDBF48F0}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1474462612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303814065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pt-BR" sz="1600" dirty="0"/>
                        <a:t>PRÓS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600" dirty="0"/>
                        <a:t>CONTRAS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36675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sz="1200"/>
                        <a:t>Garante que a classe tenha só uma instância, controlada pela própria classe — não depende da disciplina de quem usa.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Introduz estado global no sistema, o que pode esconder dependências entre classes e dificultar entender o fluxo do programa.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6487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sz="1200"/>
                        <a:t>Permite inicialização preguiçosa: a instância só é criada quando realmente é necessária pela primeira vez.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Dificulta testes automatizados: é difícil substituir o Singleton por uma versão "fake" (mock) isolada para cada teste.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12569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sz="1200"/>
                        <a:t>Fornece um ponto de acesso global sem precisar de variáveis globais espalhadas pelo código.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Exige cuidado extra em ambientes com múltiplas threads — uma implementação ingênua pode criar mais de uma instância por condição de corrida.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0627154"/>
                  </a:ext>
                </a:extLst>
              </a:tr>
            </a:tbl>
          </a:graphicData>
        </a:graphic>
      </p:graphicFrame>
      <p:sp>
        <p:nvSpPr>
          <p:cNvPr id="5" name="Rectangle 14">
            <a:extLst>
              <a:ext uri="{FF2B5EF4-FFF2-40B4-BE49-F238E27FC236}">
                <a16:creationId xmlns:a16="http://schemas.microsoft.com/office/drawing/2014/main" id="{0F619050-3846-9DAA-2ABB-E5FFC94C5D2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3124200" y="6356350"/>
            <a:ext cx="3752056" cy="365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 b="1" u="none">
                <a:solidFill>
                  <a:srgbClr val="83A5D7"/>
                </a:solidFill>
                <a:latin typeface="Arial" charset="0"/>
              </a:defRPr>
            </a:lvl1pPr>
          </a:lstStyle>
          <a:p>
            <a:pPr algn="just"/>
            <a:r>
              <a:rPr lang="en-US" i="1" dirty="0">
                <a:solidFill>
                  <a:schemeClr val="tx2">
                    <a:lumMod val="40000"/>
                    <a:lumOff val="60000"/>
                  </a:schemeClr>
                </a:solidFill>
              </a:rPr>
              <a:t>Nome do Aluno: Marcus Paulo — marcuspaulodev@gmail.com</a:t>
            </a:r>
            <a:r>
              <a:rPr lang="en-US" i="1" dirty="0" err="1">
                <a:solidFill>
                  <a:schemeClr val="tx2">
                    <a:lumMod val="40000"/>
                    <a:lumOff val="60000"/>
                  </a:schemeClr>
                </a:solidFill>
              </a:rPr>
              <a:t/>
            </a:r>
            <a:r>
              <a:rPr lang="en-US" i="1" dirty="0">
                <a:solidFill>
                  <a:schemeClr val="tx2">
                    <a:lumMod val="40000"/>
                    <a:lumOff val="60000"/>
                  </a:schemeClr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08205220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EmbeddedLab</Template>
  <TotalTime>118500</TotalTime>
  <Words>288</Words>
  <Application>Microsoft Office PowerPoint</Application>
  <PresentationFormat>Apresentação na tela (4:3)</PresentationFormat>
  <Paragraphs>91</Paragraphs>
  <Slides>7</Slides>
  <Notes>7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7</vt:i4>
      </vt:variant>
    </vt:vector>
  </HeadingPairs>
  <TitlesOfParts>
    <vt:vector size="13" baseType="lpstr">
      <vt:lpstr>Arial</vt:lpstr>
      <vt:lpstr>Calibri</vt:lpstr>
      <vt:lpstr>Tahoma</vt:lpstr>
      <vt:lpstr>Wingdings</vt:lpstr>
      <vt:lpstr>Wingdings 2</vt:lpstr>
      <vt:lpstr>Tema do Office</vt:lpstr>
      <vt:lpstr>Design Patterns </vt:lpstr>
      <vt:lpstr>Design Patterns </vt:lpstr>
      <vt:lpstr>Design Patterns </vt:lpstr>
      <vt:lpstr>Design Patterns </vt:lpstr>
      <vt:lpstr>Design Patterns </vt:lpstr>
      <vt:lpstr>Design Patterns </vt:lpstr>
      <vt:lpstr>Design Patterns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Sistemas Multimídia</dc:title>
  <dc:creator>lenardocs</dc:creator>
  <cp:lastModifiedBy>Lenardo Chaves</cp:lastModifiedBy>
  <cp:revision>2228</cp:revision>
  <cp:lastPrinted>2015-03-03T10:46:54Z</cp:lastPrinted>
  <dcterms:created xsi:type="dcterms:W3CDTF">2012-08-10T18:51:58Z</dcterms:created>
  <dcterms:modified xsi:type="dcterms:W3CDTF">2026-08-18T18:57:08Z</dcterms:modified>
</cp:coreProperties>
</file>