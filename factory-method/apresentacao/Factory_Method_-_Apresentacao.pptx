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06D7E8E-8483-4357-8493-892582C2E27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9DAD27-9ED0-4DEA-8204-3C27D8A5822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0540C2-F4AA-437E-8AED-67E53821FAC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DBB37-9AE1-4E4E-915C-487A3A32749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B755BB-09D4-433E-9EE5-77C2171591F3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379978-394F-4AFE-A8B5-84BA5C292E0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C27730-4E5B-4D49-A492-4FBA235452DE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E19D95-5619-4651-8C70-63CE406F3424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55689D-728F-4FD7-9D25-5BA29765CCF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C413B4-79DE-4C81-8DAA-E4EC840FA60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38B871-C9E5-43A7-BC1F-7FCA19A634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680A8-BB4A-4A25-B846-3296796B17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6D1CFE-BA97-4A25-B8AE-7E5BD0812DD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9716F-F8E8-41E9-A07C-13859D7112E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520438-72AC-4D0E-B603-779A99E9C9E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302088-0C45-4922-8F8F-9BDA12B4F79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D1FCB-1FCB-459C-8FC9-EFC2EDD4BAA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4BCDBB-508C-4758-8DDD-4DF0B38A3CD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3C37CB-3FD9-4231-AD06-5351B1C2A1D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Define uma interface para criar um objeto, mas deixa as subclasses decidirem qual classe instanciar, adiando a instanciacao para elas.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49B93C0-B88D-4693-95A4-3265013B9188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Uma classe (Creator) precisa criar objetos de um tipo (produto), mas nao deve conhecer antecipadamente qual classe concreta desse produto deve instanciar;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 a criacao for feita com "new" direto dentro do Creator, toda nova variante de produto (ex.: um novo modal de transporte) exige alterar essa classe, violando o OCP;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Diferentes contextos precisam do mesmo fluxo de negocio (o algoritmo nao muda), mas cada um deve trabalhar com uma variante diferente do produto.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270B59-26C6-44B4-8893-5D9E190776C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Declarar uma interface comum para o produto (ex.: Transport);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Na classe Creator, declarar um metodo de fabrica abstrato — o Factory Method (ex.: createTransport()) — que devolve o produto;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Implementar a logica de negocio comum (ex.: planDelivery()) uma unica vez na classe base, chamando apenas o Factory Method, sem conhecer o produto concreto;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subclasse concreta do Creator (ex.: RoadLogistics, SeaLogistics) sobrescreve o Factory Method para devolver a variante de produto correspondente;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trabalha com a referencia abstrata do Creator; a subclasse escolhida na criacao e' quem determina, indiretamente, qual produto sera usado.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24E995-B01D-44CC-91A3-C680E5676C0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Transport (interface): declara deliver();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Truck / Ship (classes concretas): implementam Transport, cada uma com sua propria forma de entrega;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Logistics (Creator abstrato): declara createTransport() (abstrato) e implementa planDelivery(), que usa o produto sem conhecer sua classe concreta;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RoadLogistics / SeaLogistics (Concrete Creators): sobrescrevem createTransport() retornando Truck e Ship, respectivamente;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(cliente): instancia a subclasse de Logistics desejada e chama planDelivery().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5074920" y="1417320"/>
            <a:ext cx="2651400" cy="456840"/>
          </a:xfrm>
          <a:prstGeom prst="rect">
            <a:avLst/>
          </a:prstGeom>
          <a:solidFill>
            <a:srgbClr val="FFF3D6"/>
          </a:solidFill>
          <a:ln w="12700">
            <a:solidFill>
              <a:srgbClr val="8A6D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Main 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usa Logistics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892040" y="2011680"/>
            <a:ext cx="3017160" cy="658080"/>
          </a:xfrm>
          <a:prstGeom prst="rect">
            <a:avLst/>
          </a:prstGeom>
          <a:solidFill>
            <a:srgbClr val="DDE8FF"/>
          </a:solidFill>
          <a:ln w="12700">
            <a:solidFill>
              <a:srgbClr val="2B4C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«abstract» Logistics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+ createTransport()  «abstract»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+ planDelivery()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09160" y="2834640"/>
            <a:ext cx="1416960" cy="566640"/>
          </a:xfrm>
          <a:prstGeom prst="rect">
            <a:avLst/>
          </a:prstGeom>
          <a:solidFill>
            <a:srgbClr val="DDE8FF"/>
          </a:solidFill>
          <a:ln w="12700">
            <a:solidFill>
              <a:srgbClr val="2B4C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RoadLogistics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createTransport()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-&gt; new Truck()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26"/>
          <p:cNvSpPr/>
          <p:nvPr/>
        </p:nvSpPr>
        <p:spPr>
          <a:xfrm>
            <a:off x="6355080" y="2834640"/>
            <a:ext cx="1416960" cy="566640"/>
          </a:xfrm>
          <a:prstGeom prst="rect">
            <a:avLst/>
          </a:prstGeom>
          <a:solidFill>
            <a:srgbClr val="DDE8FF"/>
          </a:solidFill>
          <a:ln w="12700">
            <a:solidFill>
              <a:srgbClr val="2B4C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SeaLogistics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createTransport()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-&gt; new Ship()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7"/>
          <p:cNvSpPr/>
          <p:nvPr/>
        </p:nvSpPr>
        <p:spPr>
          <a:xfrm>
            <a:off x="5532120" y="3611880"/>
            <a:ext cx="1554120" cy="456840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«interface» Transport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deliver()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28"/>
          <p:cNvSpPr/>
          <p:nvPr/>
        </p:nvSpPr>
        <p:spPr>
          <a:xfrm>
            <a:off x="4709160" y="4297680"/>
            <a:ext cx="1416960" cy="456840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Truck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29"/>
          <p:cNvSpPr/>
          <p:nvPr/>
        </p:nvSpPr>
        <p:spPr>
          <a:xfrm>
            <a:off x="6355080" y="4297680"/>
            <a:ext cx="1416960" cy="456840"/>
          </a:xfrm>
          <a:prstGeom prst="rect">
            <a:avLst/>
          </a:prstGeom>
          <a:solidFill>
            <a:srgbClr val="E7F7EC"/>
          </a:solidFill>
          <a:ln w="12700">
            <a:solidFill>
              <a:srgbClr val="2E7D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8160" tIns="25560" rIns="38160" bIns="255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41B4D"/>
                </a:solidFill>
                <a:effectLst/>
                <a:uFillTx/>
                <a:latin typeface="Calibri"/>
              </a:rPr>
              <a:t>Ship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0"/>
          <p:cNvSpPr/>
          <p:nvPr/>
        </p:nvSpPr>
        <p:spPr>
          <a:xfrm>
            <a:off x="4709160" y="489204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i="1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planDelivery() e escrito uma unica vez em Logistics e so chama createTransport() — cada subclasse decide, sozinha, qual Transport concreto sera usado.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Connector 31"/>
          <p:cNvCxnSpPr/>
          <p:nvPr/>
        </p:nvCxnSpPr>
        <p:spPr>
          <a:xfrm>
            <a:off x="6400800" y="1874160"/>
            <a:ext cx="360" cy="137880"/>
          </a:xfrm>
          <a:prstGeom prst="straightConnector1">
            <a:avLst/>
          </a:prstGeom>
          <a:ln w="15875">
            <a:solidFill>
              <a:srgbClr val="334477"/>
            </a:solidFill>
            <a:round/>
            <a:tailEnd len="med" type="triangle" w="med"/>
          </a:ln>
        </p:spPr>
      </p:cxnSp>
      <p:cxnSp>
        <p:nvCxnSpPr>
          <p:cNvPr id="114" name="Connector 32"/>
          <p:cNvCxnSpPr/>
          <p:nvPr/>
        </p:nvCxnSpPr>
        <p:spPr>
          <a:xfrm flipV="1">
            <a:off x="5412960" y="2669760"/>
            <a:ext cx="439560" cy="165240"/>
          </a:xfrm>
          <a:prstGeom prst="straightConnector1">
            <a:avLst/>
          </a:prstGeom>
          <a:ln w="15875">
            <a:solidFill>
              <a:srgbClr val="334477"/>
            </a:solidFill>
            <a:round/>
            <a:tailEnd len="med" type="triangle" w="med"/>
          </a:ln>
        </p:spPr>
      </p:cxnSp>
      <p:cxnSp>
        <p:nvCxnSpPr>
          <p:cNvPr id="115" name="Connector 33"/>
          <p:cNvCxnSpPr/>
          <p:nvPr/>
        </p:nvCxnSpPr>
        <p:spPr>
          <a:xfrm flipH="1" flipV="1">
            <a:off x="6583680" y="2669760"/>
            <a:ext cx="475560" cy="165240"/>
          </a:xfrm>
          <a:prstGeom prst="straightConnector1">
            <a:avLst/>
          </a:prstGeom>
          <a:ln w="15875">
            <a:solidFill>
              <a:srgbClr val="334477"/>
            </a:solidFill>
            <a:round/>
            <a:tailEnd len="med" type="triangle" w="med"/>
          </a:ln>
        </p:spPr>
      </p:cxnSp>
      <p:cxnSp>
        <p:nvCxnSpPr>
          <p:cNvPr id="116" name="Connector 34"/>
          <p:cNvCxnSpPr/>
          <p:nvPr/>
        </p:nvCxnSpPr>
        <p:spPr>
          <a:xfrm flipV="1">
            <a:off x="5412960" y="3401280"/>
            <a:ext cx="393840" cy="210960"/>
          </a:xfrm>
          <a:prstGeom prst="straightConnector1">
            <a:avLst/>
          </a:prstGeom>
          <a:ln w="15875">
            <a:solidFill>
              <a:srgbClr val="334477"/>
            </a:solidFill>
            <a:prstDash val="dash"/>
            <a:round/>
            <a:tailEnd len="med" type="triangle" w="med"/>
          </a:ln>
        </p:spPr>
      </p:cxnSp>
      <p:cxnSp>
        <p:nvCxnSpPr>
          <p:cNvPr id="117" name="Connector 35"/>
          <p:cNvCxnSpPr/>
          <p:nvPr/>
        </p:nvCxnSpPr>
        <p:spPr>
          <a:xfrm flipH="1" flipV="1">
            <a:off x="6720840" y="3401280"/>
            <a:ext cx="338400" cy="210960"/>
          </a:xfrm>
          <a:prstGeom prst="straightConnector1">
            <a:avLst/>
          </a:prstGeom>
          <a:ln w="15875">
            <a:solidFill>
              <a:srgbClr val="334477"/>
            </a:solidFill>
            <a:prstDash val="dash"/>
            <a:round/>
            <a:tailEnd len="med" type="triangle" w="med"/>
          </a:ln>
        </p:spPr>
      </p:cxnSp>
      <p:cxnSp>
        <p:nvCxnSpPr>
          <p:cNvPr id="118" name="Connector 36"/>
          <p:cNvCxnSpPr/>
          <p:nvPr/>
        </p:nvCxnSpPr>
        <p:spPr>
          <a:xfrm flipV="1">
            <a:off x="5412960" y="4069080"/>
            <a:ext cx="576720" cy="228960"/>
          </a:xfrm>
          <a:prstGeom prst="straightConnector1">
            <a:avLst/>
          </a:prstGeom>
          <a:ln w="15875">
            <a:solidFill>
              <a:srgbClr val="334477"/>
            </a:solidFill>
            <a:round/>
            <a:tailEnd len="med" type="triangle" w="med"/>
          </a:ln>
        </p:spPr>
      </p:cxnSp>
      <p:cxnSp>
        <p:nvCxnSpPr>
          <p:cNvPr id="119" name="Connector 37"/>
          <p:cNvCxnSpPr/>
          <p:nvPr/>
        </p:nvCxnSpPr>
        <p:spPr>
          <a:xfrm flipH="1" flipV="1">
            <a:off x="6537960" y="4069080"/>
            <a:ext cx="521280" cy="228960"/>
          </a:xfrm>
          <a:prstGeom prst="straightConnector1">
            <a:avLst/>
          </a:prstGeom>
          <a:ln w="15875">
            <a:solidFill>
              <a:srgbClr val="334477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0FA1297-5AB1-4BFD-B5DF-DF5A12CEE2B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23"/>
          <p:cNvSpPr/>
          <p:nvPr/>
        </p:nvSpPr>
        <p:spPr>
          <a:xfrm>
            <a:off x="411480" y="2331720"/>
            <a:ext cx="4160160" cy="416016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 Transport.java  (Product)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public interface Transport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void deliver();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 Logistics.java  (Creator)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public abstract class Logistics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   // Factory Method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protected abstract Transport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        createTransport();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public final void planDelivery()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        Transport t = createTransport();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        t.deliver();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4"/>
          <p:cNvSpPr/>
          <p:nvPr/>
        </p:nvSpPr>
        <p:spPr>
          <a:xfrm>
            <a:off x="4709160" y="2331720"/>
            <a:ext cx="4023000" cy="416016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 RoadLogistics.java  (Concrete Creator)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public class RoadLogistics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    extends Logistics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protected Transport createTransport() {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        return new Truck();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}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 Main.java  (codigo cliente)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Logistics logistics = modal.equals("sea")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? new SeaLogistics()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    : new RoadLogistics();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logistics.planDelivery();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 Saida (modal = road):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06060"/>
                </a:solidFill>
                <a:effectLst/>
                <a:uFillTx/>
                <a:latin typeface="Consolas"/>
              </a:rPr>
              <a:t>// [Rodoviario] Entregando... caminhao.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 Saida (modal = sea):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606060"/>
                </a:solidFill>
                <a:effectLst/>
                <a:uFillTx/>
                <a:latin typeface="Consolas"/>
              </a:rPr>
              <a:t>// [Maritimo] Entregando... navio.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E9B04C9-B0B9-415B-B75E-112D62CE962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uma classe nao pode antecipar a classe de objetos que deve criar (a decisao fica a cargo de subclasses);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voce quer que subclasses especifiquem os objetos que elas criam, reaproveitando a logica de negocio da classe base;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voce quer centralizar em um so lugar (a subclasse) o conhecimento sobre qual produto concreto usar, evitando espalhar "new" pelo codigo;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uma biblioteca/framework precisa permitir que o codigo cliente estenda seus componentes internos (base de muitos frameworks, ex.: iterator() em Java).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2560FF9-8A9B-49AA-BC8E-94393061FED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4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4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4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4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4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Design Patterns 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Factory Method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52" name="Tabela 6"/>
          <p:cNvGraphicFramePr/>
          <p:nvPr/>
        </p:nvGraphicFramePr>
        <p:xfrm>
          <a:off x="457200" y="2853000"/>
          <a:ext cx="8229240" cy="22442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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Evita acoplamento forte entre o Creator e as classes concretas dos produtos.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 2" charset="2"/>
                        <a:buChar char="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Pode exigir muitas subclasses so para variar o produto criado.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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Aplica o Principio Aberto-Fechado: novos produtos = novas subclasses, sem alterar codigo existente.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 2" charset="2"/>
                        <a:buChar char="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Aumenta a hierarquia de classes em comparacao a simplesmente usar "new".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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Centraliza e reaproveita a logica de negocio comum na classe Creator base.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 2" charset="2"/>
                        <a:buChar char="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Fica menos obvio, a primeira leitura, qual classe concreta sera instanciada em tempo de execucao.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"/>
                      </a:pPr>
                      <a:r>
                        <a:rPr lang="pt-BR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Facilita testes: subclasses de teste podem devolver produtos mock/fake.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 2" charset="2"/>
                        <a:buChar char=""/>
                      </a:pPr>
                      <a:r>
                        <a:rPr lang="pt-BR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Pode ser complexidade desnecessaria em sistemas simples, com pouca variacao de produto.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4DFC07-E363-4B2A-B27F-889A3C4CCB6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LibreOffice/26.2.5.2$Linux_X86_64 LibreOffice_project/620$Build-2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2026-08-28T18:41:19Z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