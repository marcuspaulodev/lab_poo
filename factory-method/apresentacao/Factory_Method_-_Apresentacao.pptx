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872" r:id="rId1"/>
  </p:sldMasterIdLst>
  <p:notesMasterIdLst>
    <p:notesMasterId r:id="rId9"/>
  </p:notesMasterIdLst>
  <p:handoutMasterIdLst>
    <p:handoutMasterId r:id="rId10"/>
  </p:handoutMasterIdLst>
  <p:sldIdLst>
    <p:sldId id="457" r:id="rId2"/>
    <p:sldId id="483" r:id="rId3"/>
    <p:sldId id="485" r:id="rId4"/>
    <p:sldId id="486" r:id="rId5"/>
    <p:sldId id="490" r:id="rId6"/>
    <p:sldId id="489" r:id="rId7"/>
    <p:sldId id="487" r:id="rId8"/>
  </p:sldIdLst>
  <p:sldSz cx="9144000" cy="6858000" type="screen4x3"/>
  <p:notesSz cx="6797675" cy="98742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00FF01"/>
    <a:srgbClr val="FFFFFF"/>
    <a:srgbClr val="E5E5E5"/>
    <a:srgbClr val="FDFFB3"/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27102A9-8310-4765-A935-A1911B00CA55}" styleName="Estilo Claro 1 - Ênfas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68421" autoAdjust="0"/>
  </p:normalViewPr>
  <p:slideViewPr>
    <p:cSldViewPr>
      <p:cViewPr varScale="1">
        <p:scale>
          <a:sx n="75" d="100"/>
          <a:sy n="75" d="100"/>
        </p:scale>
        <p:origin x="259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93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>
      <p:cViewPr varScale="1">
        <p:scale>
          <a:sx n="50" d="100"/>
          <a:sy n="50" d="100"/>
        </p:scale>
        <p:origin x="2898" y="5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CC5EA0-29E7-4103-BA05-2D913AD97A19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93395-FD7E-449E-AB90-F73CDC3D17A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7060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30C5F-284B-44F0-A8A0-7F84179800FE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31863" y="741363"/>
            <a:ext cx="493395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54281-F103-4FD5-A7F2-1CA3EE49F0F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7979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1355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44578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31351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99810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80E3E-F3C0-13E4-7718-29F7C2AD3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7F5FD39-48DC-31D8-5728-B3BF9F165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837A28-4DF4-9B5D-B48D-DF5B4638A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C2382F-EA7B-56BF-AECB-A3A79F1606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29007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074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65217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05063-AA5D-497E-A052-93E186060258}" type="datetime1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3338C-2AB5-4F7D-90A9-4B843DC428B1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3891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91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76248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551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16504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573004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887639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813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936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69269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591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1073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874" r:id="rId2"/>
    <p:sldLayoutId id="2147483875" r:id="rId3"/>
    <p:sldLayoutId id="2147483876" r:id="rId4"/>
    <p:sldLayoutId id="2147483877" r:id="rId5"/>
    <p:sldLayoutId id="2147483878" r:id="rId6"/>
    <p:sldLayoutId id="2147483879" r:id="rId7"/>
    <p:sldLayoutId id="2147483880" r:id="rId8"/>
    <p:sldLayoutId id="2147483881" r:id="rId9"/>
    <p:sldLayoutId id="2147483882" r:id="rId10"/>
    <p:sldLayoutId id="2147483883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600200"/>
            <a:ext cx="8229599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i="1" dirty="0">
                <a:solidFill>
                  <a:srgbClr val="333399"/>
                </a:solidFill>
              </a:rPr>
              <a:t>Define uma interface para criar um objeto, mas deixa as subclasses decidirem qual classe instanciar, adiando a instanciacao para elas.</a:t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24" name="Rectangle 14"/>
          <p:cNvSpPr>
            <a:spLocks noGrp="1" noChangeArrowheads="1"/>
          </p:cNvSpPr>
          <p:nvPr>
            <p:ph type="ftr" sz="quarter" idx="11"/>
          </p:nvPr>
        </p:nvSpPr>
        <p:spPr bwMode="auto"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1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5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8229599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Problema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Uma classe (Creator) precisa criar objetos de um tipo (produto), mas nao deve conhecer antecipadamente qual classe concreta desse produto deve instanciar;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Se a criacao for feita com "new" direto dentro do Creator, toda nova variante de produto (ex.: um novo modal de transporte) exige alterar essa classe, violando o OCP;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Diferentes contextos precisam do mesmo fluxo de negocio (o algoritmo nao muda), mas cada um deve trabalhar com uma variante diferente do produto.</a:t>
            </a:r>
          </a:p>
          <a:p>
            <a:pPr lvl="3" algn="just">
              <a:buFont typeface="Wingdings" panose="05000000000000000000" pitchFamily="2" charset="2"/>
              <a:buChar char="§"/>
            </a:pPr>
            <a:endParaRPr lang="pt-BR" sz="16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2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6A189755-9319-0F24-5E82-175FDAAB64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</p:spTree>
    <p:extLst>
      <p:ext uri="{BB962C8B-B14F-4D97-AF65-F5344CB8AC3E}">
        <p14:creationId xmlns:p14="http://schemas.microsoft.com/office/powerpoint/2010/main" val="2049575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Solução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Declarar uma interface comum para o produto (ex.: Transport);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Na classe Creator, declarar um metodo de fabrica abstrato — o Factory Method (ex.: createTransport()) — que devolve o produto;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Implementar a logica de negocio comum (ex.: planDelivery()) uma unica vez na classe base, chamando apenas o Factory Method, sem conhecer o produto concreto;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Cada subclasse concreta do Creator (ex.: RoadLogistics, SeaLogistics) sobrescreve o Factory Method para devolver a variante de produto correspondente;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O cliente trabalha com a referencia abstrata do Creator; a subclasse escolhida na criacao e' quem determina, indiretamente, qual produto sera usado.</a:t>
            </a:r>
          </a:p>
          <a:p>
            <a:pPr marL="1714500" lvl="3" indent="-342900" algn="just">
              <a:buFont typeface="+mj-lt"/>
              <a:buAutoNum type="arabicPeriod"/>
            </a:pPr>
            <a:endParaRPr lang="pt-BR" sz="1400" dirty="0">
              <a:solidFill>
                <a:srgbClr val="333399"/>
              </a:solidFill>
            </a:endParaRPr>
          </a:p>
          <a:p>
            <a:pPr marL="1714500" lvl="3" indent="-342900" algn="just">
              <a:buFont typeface="+mj-lt"/>
              <a:buAutoNum type="arabicPeriod" startAt="3"/>
            </a:pPr>
            <a:endParaRPr lang="pt-BR" sz="1400" dirty="0">
              <a:solidFill>
                <a:srgbClr val="333399"/>
              </a:solidFill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3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36B674DF-A554-44F2-F417-3B94F00F5C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</p:spTree>
    <p:extLst>
      <p:ext uri="{BB962C8B-B14F-4D97-AF65-F5344CB8AC3E}">
        <p14:creationId xmlns:p14="http://schemas.microsoft.com/office/powerpoint/2010/main" val="69334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41500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Estrutura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Transport (interface): declara deliver();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Truck / Ship (classes concretas): implementam Transport, cada uma com sua propria forma de entrega;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Logistics (Creator abstrato): declara createTransport() (abstrato) e implementa planDelivery(), que usa o produto sem conhecer sua classe concreta;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RoadLogistics / SeaLogistics (Concrete Creators): sobrescrevem createTransport() retornando Truck e Ship, respectivamente;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Main (cliente): instancia a subclasse de Logistics desejada e chama planDelivery().</a:t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4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AE81D55B-E5CF-74E9-DC16-6AC89B187E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74920" y="1417320"/>
            <a:ext cx="2651760" cy="457200"/>
          </a:xfrm>
          <a:prstGeom prst="rect">
            <a:avLst/>
          </a:prstGeom>
          <a:solidFill>
            <a:srgbClr val="FFF3D6"/>
          </a:solidFill>
          <a:ln w="12700">
            <a:solidFill>
              <a:srgbClr val="8A6D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Main (cliente)</a:t>
            </a:r>
          </a:p>
          <a:p>
            <a:pPr algn="ctr"/>
            <a:r>
              <a:rPr sz="900">
                <a:solidFill>
                  <a:srgbClr val="141B4D"/>
                </a:solidFill>
              </a:rPr>
              <a:t>usa Logistics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892040" y="2011680"/>
            <a:ext cx="3017520" cy="658368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«abstract» Logistics</a:t>
            </a:r>
          </a:p>
          <a:p>
            <a:pPr algn="ctr"/>
            <a:r>
              <a:rPr sz="900">
                <a:solidFill>
                  <a:srgbClr val="141B4D"/>
                </a:solidFill>
              </a:rPr>
              <a:t>+ createTransport()  «abstract»</a:t>
            </a:r>
          </a:p>
          <a:p>
            <a:pPr algn="ctr"/>
            <a:r>
              <a:rPr sz="900">
                <a:solidFill>
                  <a:srgbClr val="141B4D"/>
                </a:solidFill>
              </a:rPr>
              <a:t>+ planDelivery()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709160" y="2834640"/>
            <a:ext cx="1417320" cy="566928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RoadLogistics</a:t>
            </a:r>
          </a:p>
          <a:p>
            <a:pPr algn="ctr"/>
            <a:r>
              <a:rPr sz="800">
                <a:solidFill>
                  <a:srgbClr val="141B4D"/>
                </a:solidFill>
              </a:rPr>
              <a:t>createTransport()</a:t>
            </a:r>
          </a:p>
          <a:p>
            <a:pPr algn="ctr"/>
            <a:r>
              <a:rPr sz="800">
                <a:solidFill>
                  <a:srgbClr val="141B4D"/>
                </a:solidFill>
              </a:rPr>
              <a:t>-&gt; new Truck()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55080" y="2834640"/>
            <a:ext cx="1417320" cy="566928"/>
          </a:xfrm>
          <a:prstGeom prst="rect">
            <a:avLst/>
          </a:prstGeom>
          <a:solidFill>
            <a:srgbClr val="DDE8FF"/>
          </a:solidFill>
          <a:ln w="12700">
            <a:solidFill>
              <a:srgbClr val="2B4C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SeaLogistics</a:t>
            </a:r>
          </a:p>
          <a:p>
            <a:pPr algn="ctr"/>
            <a:r>
              <a:rPr sz="800">
                <a:solidFill>
                  <a:srgbClr val="141B4D"/>
                </a:solidFill>
              </a:rPr>
              <a:t>createTransport()</a:t>
            </a:r>
          </a:p>
          <a:p>
            <a:pPr algn="ctr"/>
            <a:r>
              <a:rPr sz="800">
                <a:solidFill>
                  <a:srgbClr val="141B4D"/>
                </a:solidFill>
              </a:rPr>
              <a:t>-&gt; new Ship()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532120" y="3611880"/>
            <a:ext cx="1554480" cy="45720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«interface» Transport</a:t>
            </a:r>
          </a:p>
          <a:p>
            <a:pPr algn="ctr"/>
            <a:r>
              <a:rPr sz="800">
                <a:solidFill>
                  <a:srgbClr val="141B4D"/>
                </a:solidFill>
              </a:rPr>
              <a:t>deliver()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09160" y="4297680"/>
            <a:ext cx="1417320" cy="45720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Truck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355080" y="4297680"/>
            <a:ext cx="1417320" cy="457200"/>
          </a:xfrm>
          <a:prstGeom prst="rect">
            <a:avLst/>
          </a:prstGeom>
          <a:solidFill>
            <a:srgbClr val="E7F7EC"/>
          </a:solidFill>
          <a:ln w="12700">
            <a:solidFill>
              <a:srgbClr val="2E7D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8100" rIns="38100" tIns="25400" bIns="25400"/>
          <a:lstStyle/>
          <a:p>
            <a:pPr algn="ctr"/>
            <a:r>
              <a:rPr b="1" sz="1100">
                <a:solidFill>
                  <a:srgbClr val="141B4D"/>
                </a:solidFill>
              </a:rPr>
              <a:t>Ship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9160" y="489204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00" i="1">
                <a:solidFill>
                  <a:srgbClr val="444444"/>
                </a:solidFill>
              </a:rPr>
              <a:t>planDelivery() e escrito uma unica vez em Logistics e so chama createTransport() — cada subclasse decide, sozinha, qual Transport concreto sera usado.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6400800" y="1874519"/>
            <a:ext cx="0" cy="137161"/>
          </a:xfrm>
          <a:prstGeom prst="line">
            <a:avLst/>
          </a:prstGeom>
          <a:ln w="15875">
            <a:solidFill>
              <a:srgbClr val="3344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 flipV="1">
            <a:off x="5413248" y="2670048"/>
            <a:ext cx="438912" cy="164592"/>
          </a:xfrm>
          <a:prstGeom prst="line">
            <a:avLst/>
          </a:prstGeom>
          <a:ln w="15875">
            <a:solidFill>
              <a:srgbClr val="3344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H="1" flipV="1">
            <a:off x="6583680" y="2670048"/>
            <a:ext cx="475488" cy="164592"/>
          </a:xfrm>
          <a:prstGeom prst="line">
            <a:avLst/>
          </a:prstGeom>
          <a:ln w="15875">
            <a:solidFill>
              <a:srgbClr val="3344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 flipV="1">
            <a:off x="5413248" y="3401568"/>
            <a:ext cx="393192" cy="210312"/>
          </a:xfrm>
          <a:prstGeom prst="line">
            <a:avLst/>
          </a:prstGeom>
          <a:ln w="15875">
            <a:solidFill>
              <a:srgbClr val="33447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 flipV="1">
            <a:off x="6720840" y="3401568"/>
            <a:ext cx="338328" cy="210312"/>
          </a:xfrm>
          <a:prstGeom prst="line">
            <a:avLst/>
          </a:prstGeom>
          <a:ln w="15875">
            <a:solidFill>
              <a:srgbClr val="33447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5413248" y="4069080"/>
            <a:ext cx="576072" cy="228600"/>
          </a:xfrm>
          <a:prstGeom prst="line">
            <a:avLst/>
          </a:prstGeom>
          <a:ln w="15875">
            <a:solidFill>
              <a:srgbClr val="3344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 flipH="1" flipV="1">
            <a:off x="6537960" y="4069080"/>
            <a:ext cx="521208" cy="228600"/>
          </a:xfrm>
          <a:prstGeom prst="line">
            <a:avLst/>
          </a:prstGeom>
          <a:ln w="15875">
            <a:solidFill>
              <a:srgbClr val="33447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11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D778-AF68-B1FC-30C0-5A8B8D237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>
            <a:extLst>
              <a:ext uri="{FF2B5EF4-FFF2-40B4-BE49-F238E27FC236}">
                <a16:creationId xmlns:a16="http://schemas.microsoft.com/office/drawing/2014/main" id="{D22405AB-904F-63B0-93DF-4ED4C3A0533D}"/>
              </a:ext>
            </a:extLst>
          </p:cNvPr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812858A9-6D4B-B317-48EF-5A708A02EC4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>
              <a:extLst>
                <a:ext uri="{FF2B5EF4-FFF2-40B4-BE49-F238E27FC236}">
                  <a16:creationId xmlns:a16="http://schemas.microsoft.com/office/drawing/2014/main" id="{32A5A3AB-B1D9-12FA-F561-6E0F36A9973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>
            <a:extLst>
              <a:ext uri="{FF2B5EF4-FFF2-40B4-BE49-F238E27FC236}">
                <a16:creationId xmlns:a16="http://schemas.microsoft.com/office/drawing/2014/main" id="{E23A1FFA-8526-3CF0-0214-CD7A506DC64E}"/>
              </a:ext>
            </a:extLst>
          </p:cNvPr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0C6CC2A8-912E-999E-5003-8DFDDD4234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>
              <a:extLst>
                <a:ext uri="{FF2B5EF4-FFF2-40B4-BE49-F238E27FC236}">
                  <a16:creationId xmlns:a16="http://schemas.microsoft.com/office/drawing/2014/main" id="{94953508-C056-EA4C-C060-C81FB017E4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6E8A26C-2F78-4A17-D33D-5DA21845F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95F881-3416-FD67-C39E-09BD67B80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8229599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Exemplo</a:t>
            </a:r>
            <a:r>
              <a:rPr lang="en-US" sz="1800" b="1" u="sng" dirty="0">
                <a:solidFill>
                  <a:srgbClr val="333399"/>
                </a:solidFill>
              </a:rPr>
              <a:t> de Código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D911A3-EEB2-365D-51B9-9995178A9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5</a:t>
            </a:fld>
            <a:endParaRPr lang="pt-BR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C10B1C1B-3878-7851-DD82-29C41BB12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2375872-45C1-6D18-131D-BBF3B4050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ED912FF9-6581-2942-327B-109A119707F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2331720"/>
            <a:ext cx="4160520" cy="4160520"/>
          </a:xfrm>
          <a:prstGeom prst="rect">
            <a:avLst/>
          </a:prstGeom>
          <a:solidFill>
            <a:srgbClr val="1E1E1E"/>
          </a:solidFill>
        </p:spPr>
        <p:txBody>
          <a:bodyPr wrap="square" lIns="76200" rIns="76200" tIns="76200" bIns="76200">
            <a:spAutoFit/>
          </a:bodyPr>
          <a:lstStyle/>
          <a:p>
            <a:r>
              <a:rPr sz="1150">
                <a:solidFill>
                  <a:srgbClr val="6A9955"/>
                </a:solidFill>
                <a:latin typeface="Consolas"/>
              </a:rPr>
              <a:t>// Transport.java  (Product)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public interface Transport {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void deliver();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}</a:t>
            </a:r>
          </a:p>
          <a:p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// Logistics.java  (Creator)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public abstract class Logistics {</a:t>
            </a:r>
          </a:p>
          <a:p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    // Factory Method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protected abstract Transport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        createTransport();</a:t>
            </a:r>
          </a:p>
          <a:p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public final void planDelivery() {</a:t>
            </a:r>
          </a:p>
          <a:p>
            <a:r>
              <a:rPr sz="1150">
                <a:solidFill>
                  <a:srgbClr val="9CDCFE"/>
                </a:solidFill>
                <a:latin typeface="Consolas"/>
              </a:rPr>
              <a:t>        Transport t = createTransport();</a:t>
            </a:r>
          </a:p>
          <a:p>
            <a:r>
              <a:rPr sz="1150">
                <a:solidFill>
                  <a:srgbClr val="9CDCFE"/>
                </a:solidFill>
                <a:latin typeface="Consolas"/>
              </a:rPr>
              <a:t>        t.deliver();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}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2331720"/>
            <a:ext cx="4023360" cy="4160520"/>
          </a:xfrm>
          <a:prstGeom prst="rect">
            <a:avLst/>
          </a:prstGeom>
          <a:solidFill>
            <a:srgbClr val="1E1E1E"/>
          </a:solidFill>
        </p:spPr>
        <p:txBody>
          <a:bodyPr wrap="square" lIns="76200" rIns="76200" tIns="76200" bIns="76200">
            <a:spAutoFit/>
          </a:bodyPr>
          <a:lstStyle/>
          <a:p>
            <a:r>
              <a:rPr sz="1150">
                <a:solidFill>
                  <a:srgbClr val="6A9955"/>
                </a:solidFill>
                <a:latin typeface="Consolas"/>
              </a:rPr>
              <a:t>// RoadLogistics.java  (Concrete Creator)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public class RoadLogistics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    extends Logistics {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protected Transport createTransport() {</a:t>
            </a:r>
          </a:p>
          <a:p>
            <a:r>
              <a:rPr sz="1150">
                <a:solidFill>
                  <a:srgbClr val="9CDCFE"/>
                </a:solidFill>
                <a:latin typeface="Consolas"/>
              </a:rPr>
              <a:t>        return new Truck();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}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}</a:t>
            </a:r>
          </a:p>
          <a:p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// Main.java  (codigo cliente)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Logistics logistics = modal.equals("sea")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? new SeaLogistics()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    : new RoadLogistics();</a:t>
            </a:r>
          </a:p>
          <a:p>
            <a:r>
              <a:rPr sz="1150">
                <a:solidFill>
                  <a:srgbClr val="DCDCAA"/>
                </a:solidFill>
                <a:latin typeface="Consolas"/>
              </a:rPr>
              <a:t>logistics.planDelivery();</a:t>
            </a:r>
          </a:p>
          <a:p>
            <a:r>
              <a:rPr sz="1150">
                <a:solidFill>
                  <a:srgbClr val="FFFFFF"/>
                </a:solidFill>
                <a:latin typeface="Consolas"/>
              </a:rPr>
              <a:t/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// Saida (modal = road):</a:t>
            </a:r>
          </a:p>
          <a:p>
            <a:r>
              <a:rPr sz="1150">
                <a:solidFill>
                  <a:srgbClr val="606060"/>
                </a:solidFill>
                <a:latin typeface="Consolas"/>
              </a:rPr>
              <a:t>// [Rodoviario] Entregando... caminhao.</a:t>
            </a:r>
          </a:p>
          <a:p>
            <a:r>
              <a:rPr sz="1150">
                <a:solidFill>
                  <a:srgbClr val="6A9955"/>
                </a:solidFill>
                <a:latin typeface="Consolas"/>
              </a:rPr>
              <a:t>// Saida (modal = sea):</a:t>
            </a:r>
          </a:p>
          <a:p>
            <a:r>
              <a:rPr sz="1150">
                <a:solidFill>
                  <a:srgbClr val="606060"/>
                </a:solidFill>
                <a:latin typeface="Consolas"/>
              </a:rPr>
              <a:t>// [Maritimo] Entregando... navio.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1920240"/>
            <a:ext cx="83210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/>
              <a:t>Codigo completo (7 classes/interfaces, incluindo SeaLogistics/Ship) na pasta codigo/ do projeto.</a:t>
            </a:r>
          </a:p>
        </p:txBody>
      </p:sp>
    </p:spTree>
    <p:extLst>
      <p:ext uri="{BB962C8B-B14F-4D97-AF65-F5344CB8AC3E}">
        <p14:creationId xmlns:p14="http://schemas.microsoft.com/office/powerpoint/2010/main" val="135379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Factory Method</a:t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u="sng" dirty="0" err="1">
                <a:solidFill>
                  <a:srgbClr val="333399"/>
                </a:solidFill>
              </a:rPr>
              <a:t>Aplicabilidade</a:t>
            </a:r>
            <a:r>
              <a:rPr lang="en-US" sz="1800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uma classe nao pode antecipar a classe de objetos que deve criar (a decisao fica a cargo de subclasses);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voce quer que subclasses especifiquem os objetos que elas criam, reaproveitando a logica de negocio da classe base;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voce quer centralizar em um so lugar (a subclasse) o conhecimento sobre qual produto concreto usar, evitando espalhar "new" pelo codigo;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uma biblioteca/framework precisa permitir que o codigo cliente estenda seus componentes internos (base de muitos frameworks, ex.: iterator() em Java).</a:t>
            </a: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6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19D190A5-4B0B-0CC4-B09F-E91B114009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</p:spTree>
    <p:extLst>
      <p:ext uri="{BB962C8B-B14F-4D97-AF65-F5344CB8AC3E}">
        <p14:creationId xmlns:p14="http://schemas.microsoft.com/office/powerpoint/2010/main" val="210780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Design 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Patterns</a:t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r>
              <a:rPr b="0" sz="2000" i="1"/>
              <a:t>Factory Method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7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graphicFrame>
        <p:nvGraphicFramePr>
          <p:cNvPr id="6" name="Tabela 6">
            <a:extLst>
              <a:ext uri="{FF2B5EF4-FFF2-40B4-BE49-F238E27FC236}">
                <a16:creationId xmlns:a16="http://schemas.microsoft.com/office/drawing/2014/main" id="{19AF9261-8EF8-490B-BB71-B2DC1BEC2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361928"/>
              </p:ext>
            </p:extLst>
          </p:nvPr>
        </p:nvGraphicFramePr>
        <p:xfrm>
          <a:off x="457200" y="2852936"/>
          <a:ext cx="8229600" cy="18186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147446261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038140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sz="1300" dirty="0"/>
                        <a:t>PRÓS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300" dirty="0"/>
                        <a:t>CONTRAS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6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pt-BR" sz="1300" b="0" kern="1200" dirty="0">
                          <a:solidFill>
                            <a:schemeClr val="dk1"/>
                          </a:solidFill>
                          <a:effectLst/>
                        </a:rPr>
                        <a:t>Evita acoplamento forte entre o Creator e as classes concretas dos produtos.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just">
                        <a:buFont typeface="Wingdings 2" panose="05020102010507070707" pitchFamily="18" charset="2"/>
                        <a:buChar char="O"/>
                      </a:pPr>
                      <a:r>
                        <a:rPr lang="pt-BR" sz="1300" b="0" kern="1200" dirty="0">
                          <a:solidFill>
                            <a:schemeClr val="dk1"/>
                          </a:solidFill>
                          <a:effectLst/>
                        </a:rPr>
                        <a:t>Pode exigir muitas subclasses so para variar o produto criado.</a:t>
                      </a:r>
                      <a:endParaRPr lang="pt-B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pt-BR" sz="1300" b="0" kern="1200" dirty="0">
                          <a:solidFill>
                            <a:schemeClr val="dk1"/>
                          </a:solidFill>
                          <a:effectLst/>
                        </a:rPr>
                        <a:t>Aplica o Principio Aberto-Fechado: novos produtos = novas subclasses, sem alterar codigo existente.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just">
                        <a:buFont typeface="Wingdings 2" panose="05020102010507070707" pitchFamily="18" charset="2"/>
                        <a:buChar char="O"/>
                      </a:pPr>
                      <a:r>
                        <a:rPr lang="pt-BR" sz="1300" dirty="0"/>
                        <a:t>Aumenta a hierarquia de classes em comparacao a simplesmente usar "new".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256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pt-BR" sz="1300" b="0" kern="1200" dirty="0">
                          <a:solidFill>
                            <a:schemeClr val="dk1"/>
                          </a:solidFill>
                          <a:effectLst/>
                        </a:rPr>
                        <a:t>Centraliza e reaproveita a logica de negocio comum na classe Creator base.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just">
                        <a:buFont typeface="Wingdings 2" panose="05020102010507070707" pitchFamily="18" charset="2"/>
                        <a:buChar char="O"/>
                      </a:pPr>
                      <a:r>
                        <a:rPr lang="pt-BR" sz="1300" dirty="0"/>
                        <a:t>Fica menos obvio, a primeira leitura, qual classe concreta sera instanciada em tempo de execucao.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271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285750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pt-BR" sz="1300" b="0" kern="1200" dirty="0">
                          <a:solidFill>
                            <a:schemeClr val="dk1"/>
                          </a:solidFill>
                          <a:effectLst/>
                        </a:rPr>
                        <a:t>Facilita testes: subclasses de teste podem devolver produtos mock/fake.</a:t>
                      </a:r>
                      <a:endParaRPr lang="pt-BR" sz="1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just">
                        <a:buFont typeface="Wingdings 2" panose="05020102010507070707" pitchFamily="18" charset="2"/>
                        <a:buChar char="O"/>
                      </a:pPr>
                      <a:r>
                        <a:rPr lang="pt-BR" sz="1300" dirty="0"/>
                        <a:t>Pode ser complexidade desnecessaria em sistemas simples, com pouca variacao de produto.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04868967"/>
                  </a:ext>
                </a:extLst>
              </a:tr>
            </a:tbl>
          </a:graphicData>
        </a:graphic>
      </p:graphicFrame>
      <p:sp>
        <p:nvSpPr>
          <p:cNvPr id="5" name="Rectangle 14">
            <a:extLst>
              <a:ext uri="{FF2B5EF4-FFF2-40B4-BE49-F238E27FC236}">
                <a16:creationId xmlns:a16="http://schemas.microsoft.com/office/drawing/2014/main" id="{0F619050-3846-9DAA-2ABB-E5FFC94C5D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Marcus Paulo — marcuspaulodev@gmail.com</a:t>
            </a:r>
          </a:p>
        </p:txBody>
      </p:sp>
    </p:spTree>
    <p:extLst>
      <p:ext uri="{BB962C8B-B14F-4D97-AF65-F5344CB8AC3E}">
        <p14:creationId xmlns:p14="http://schemas.microsoft.com/office/powerpoint/2010/main" val="20820522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EmbeddedLab</Template>
  <TotalTime>118500</TotalTime>
  <Words>288</Words>
  <Application>Microsoft Office PowerPoint</Application>
  <PresentationFormat>Apresentação na tela (4:3)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Calibri</vt:lpstr>
      <vt:lpstr>Tahoma</vt:lpstr>
      <vt:lpstr>Wingdings</vt:lpstr>
      <vt:lpstr>Wingdings 2</vt:lpstr>
      <vt:lpstr>Tema do Office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Multimídia</dc:title>
  <dc:creator>lenardocs</dc:creator>
  <cp:lastModifiedBy>Lenardo Chaves</cp:lastModifiedBy>
  <cp:revision>2228</cp:revision>
  <cp:lastPrinted>2015-03-03T10:46:54Z</cp:lastPrinted>
  <dcterms:created xsi:type="dcterms:W3CDTF">2012-08-10T18:51:58Z</dcterms:created>
  <dcterms:modified xsi:type="dcterms:W3CDTF">2026-08-18T18:57:08Z</dcterms:modified>
</cp:coreProperties>
</file>