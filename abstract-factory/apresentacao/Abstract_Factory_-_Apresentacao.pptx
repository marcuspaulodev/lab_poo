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3">
  <p:sldMasterIdLst>
    <p:sldMasterId id="2147483872" r:id="rId1"/>
  </p:sldMasterIdLst>
  <p:notesMasterIdLst>
    <p:notesMasterId r:id="rId9"/>
  </p:notesMasterIdLst>
  <p:handoutMasterIdLst>
    <p:handoutMasterId r:id="rId10"/>
  </p:handoutMasterIdLst>
  <p:sldIdLst>
    <p:sldId id="457" r:id="rId2"/>
    <p:sldId id="483" r:id="rId3"/>
    <p:sldId id="485" r:id="rId4"/>
    <p:sldId id="486" r:id="rId5"/>
    <p:sldId id="490" r:id="rId6"/>
    <p:sldId id="489" r:id="rId7"/>
    <p:sldId id="487" r:id="rId8"/>
  </p:sldIdLst>
  <p:sldSz cx="9144000" cy="6858000" type="screen4x3"/>
  <p:notesSz cx="6797675" cy="987425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99"/>
    <a:srgbClr val="00FF01"/>
    <a:srgbClr val="FFFFFF"/>
    <a:srgbClr val="E5E5E5"/>
    <a:srgbClr val="FDFFB3"/>
    <a:srgbClr val="FF8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E25E649-3F16-4E02-A733-19D2CDBF48F0}" styleName="Estilo Médio 3 - Ênfase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Estilo Médio 4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43" autoAdjust="0"/>
    <p:restoredTop sz="68421" autoAdjust="0"/>
  </p:normalViewPr>
  <p:slideViewPr>
    <p:cSldViewPr>
      <p:cViewPr varScale="1">
        <p:scale>
          <a:sx n="75" d="100"/>
          <a:sy n="75" d="100"/>
        </p:scale>
        <p:origin x="2592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3930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>
      <p:cViewPr varScale="1">
        <p:scale>
          <a:sx n="50" d="100"/>
          <a:sy n="50" d="100"/>
        </p:scale>
        <p:origin x="2898" y="5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CC5EA0-29E7-4103-BA05-2D913AD97A19}" type="datetimeFigureOut">
              <a:rPr lang="pt-BR" smtClean="0"/>
              <a:t>18/08/2026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50443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93395-FD7E-449E-AB90-F73CDC3D17A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7060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630C5F-284B-44F0-A8A0-7F84179800FE}" type="datetimeFigureOut">
              <a:rPr lang="pt-BR" smtClean="0"/>
              <a:t>18/08/2026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41363"/>
            <a:ext cx="4933950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79768" y="4690269"/>
            <a:ext cx="5438140" cy="44434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054281-F103-4FD5-A7F2-1CA3EE49F0F2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57979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054281-F103-4FD5-A7F2-1CA3EE49F0F2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313550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054281-F103-4FD5-A7F2-1CA3EE49F0F2}" type="slidenum">
              <a:rPr lang="pt-BR" smtClean="0"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445786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054281-F103-4FD5-A7F2-1CA3EE49F0F2}" type="slidenum">
              <a:rPr lang="pt-BR" smtClean="0"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313516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054281-F103-4FD5-A7F2-1CA3EE49F0F2}" type="slidenum">
              <a:rPr lang="pt-BR" smtClean="0"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998105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80E3E-F3C0-13E4-7718-29F7C2AD3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7F5FD39-48DC-31D8-5728-B3BF9F1652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9837A28-4DF4-9B5D-B48D-DF5B4638A9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1C2382F-EA7B-56BF-AECB-A3A79F1606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054281-F103-4FD5-A7F2-1CA3EE49F0F2}" type="slidenum">
              <a:rPr lang="pt-BR" smtClean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290076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054281-F103-4FD5-A7F2-1CA3EE49F0F2}" type="slidenum">
              <a:rPr lang="pt-BR" smtClean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340746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054281-F103-4FD5-A7F2-1CA3EE49F0F2}" type="slidenum">
              <a:rPr lang="pt-BR" smtClean="0"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4652174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05063-AA5D-497E-A052-93E186060258}" type="datetime1">
              <a:rPr lang="pt-BR" smtClean="0"/>
              <a:t>18/08/2026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3338C-2AB5-4F7D-90A9-4B843DC428B1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23891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63BEF-DA3A-4FF1-A0E6-59E4C77370D5}" type="datetimeFigureOut">
              <a:rPr lang="pt-BR" smtClean="0"/>
              <a:t>18/08/2026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C95A-2AF6-49B0-BE51-226E5A34C307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9918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63BEF-DA3A-4FF1-A0E6-59E4C77370D5}" type="datetimeFigureOut">
              <a:rPr lang="pt-BR" smtClean="0"/>
              <a:t>18/08/2026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C95A-2AF6-49B0-BE51-226E5A34C307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76248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63BEF-DA3A-4FF1-A0E6-59E4C77370D5}" type="datetimeFigureOut">
              <a:rPr lang="pt-BR" smtClean="0"/>
              <a:t>18/08/2026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C95A-2AF6-49B0-BE51-226E5A34C307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2551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63BEF-DA3A-4FF1-A0E6-59E4C77370D5}" type="datetimeFigureOut">
              <a:rPr lang="pt-BR" smtClean="0"/>
              <a:t>18/08/2026</a:t>
            </a:fld>
            <a:endParaRPr lang="pt-BR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C95A-2AF6-49B0-BE51-226E5A34C307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16504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63BEF-DA3A-4FF1-A0E6-59E4C77370D5}" type="datetimeFigureOut">
              <a:rPr lang="pt-BR" smtClean="0"/>
              <a:t>18/08/2026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C95A-2AF6-49B0-BE51-226E5A34C307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6573004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63BEF-DA3A-4FF1-A0E6-59E4C77370D5}" type="datetimeFigureOut">
              <a:rPr lang="pt-BR" smtClean="0"/>
              <a:t>18/08/2026</a:t>
            </a:fld>
            <a:endParaRPr 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C95A-2AF6-49B0-BE51-226E5A34C307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7887639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63BEF-DA3A-4FF1-A0E6-59E4C77370D5}" type="datetimeFigureOut">
              <a:rPr lang="pt-BR" smtClean="0"/>
              <a:t>18/08/2026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C95A-2AF6-49B0-BE51-226E5A34C307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98139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63BEF-DA3A-4FF1-A0E6-59E4C77370D5}" type="datetimeFigureOut">
              <a:rPr lang="pt-BR" smtClean="0"/>
              <a:t>18/08/2026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C95A-2AF6-49B0-BE51-226E5A34C307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09363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63BEF-DA3A-4FF1-A0E6-59E4C77370D5}" type="datetimeFigureOut">
              <a:rPr lang="pt-BR" smtClean="0"/>
              <a:t>18/08/2026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C95A-2AF6-49B0-BE51-226E5A34C307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69269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63BEF-DA3A-4FF1-A0E6-59E4C77370D5}" type="datetimeFigureOut">
              <a:rPr lang="pt-BR" smtClean="0"/>
              <a:t>18/08/2026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C95A-2AF6-49B0-BE51-226E5A34C307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559121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A63BEF-DA3A-4FF1-A0E6-59E4C77370D5}" type="datetimeFigureOut">
              <a:rPr lang="pt-BR" smtClean="0"/>
              <a:t>18/08/2026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2C95A-2AF6-49B0-BE51-226E5A34C307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81073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  <p:sldLayoutId id="2147483874" r:id="rId2"/>
    <p:sldLayoutId id="2147483875" r:id="rId3"/>
    <p:sldLayoutId id="2147483876" r:id="rId4"/>
    <p:sldLayoutId id="2147483877" r:id="rId5"/>
    <p:sldLayoutId id="2147483878" r:id="rId6"/>
    <p:sldLayoutId id="2147483879" r:id="rId7"/>
    <p:sldLayoutId id="2147483880" r:id="rId8"/>
    <p:sldLayoutId id="2147483881" r:id="rId9"/>
    <p:sldLayoutId id="2147483882" r:id="rId10"/>
    <p:sldLayoutId id="2147483883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4"/>
          <p:cNvGrpSpPr>
            <a:grpSpLocks/>
          </p:cNvGrpSpPr>
          <p:nvPr/>
        </p:nvGrpSpPr>
        <p:grpSpPr bwMode="auto">
          <a:xfrm>
            <a:off x="0" y="6305550"/>
            <a:ext cx="9144000" cy="400050"/>
            <a:chOff x="0" y="3546"/>
            <a:chExt cx="5760" cy="684"/>
          </a:xfrm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0" y="3546"/>
              <a:ext cx="5760" cy="679"/>
            </a:xfrm>
            <a:prstGeom prst="rect">
              <a:avLst/>
            </a:prstGeom>
            <a:solidFill>
              <a:srgbClr val="BAC4D8">
                <a:alpha val="60001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  <p:sp>
          <p:nvSpPr>
            <p:cNvPr id="13" name="Rectangle 6"/>
            <p:cNvSpPr>
              <a:spLocks noChangeArrowheads="1"/>
            </p:cNvSpPr>
            <p:nvPr userDrawn="1"/>
          </p:nvSpPr>
          <p:spPr bwMode="auto">
            <a:xfrm>
              <a:off x="0" y="3551"/>
              <a:ext cx="5760" cy="679"/>
            </a:xfrm>
            <a:prstGeom prst="rect">
              <a:avLst/>
            </a:prstGeom>
            <a:solidFill>
              <a:schemeClr val="bg1">
                <a:alpha val="60001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</p:grpSp>
      <p:grpSp>
        <p:nvGrpSpPr>
          <p:cNvPr id="16" name="Group 8"/>
          <p:cNvGrpSpPr>
            <a:grpSpLocks/>
          </p:cNvGrpSpPr>
          <p:nvPr/>
        </p:nvGrpSpPr>
        <p:grpSpPr bwMode="auto">
          <a:xfrm>
            <a:off x="0" y="209550"/>
            <a:ext cx="9144000" cy="1085850"/>
            <a:chOff x="0" y="-726"/>
            <a:chExt cx="5760" cy="684"/>
          </a:xfrm>
        </p:grpSpPr>
        <p:sp>
          <p:nvSpPr>
            <p:cNvPr id="17" name="Rectangle 9"/>
            <p:cNvSpPr>
              <a:spLocks noChangeArrowheads="1"/>
            </p:cNvSpPr>
            <p:nvPr userDrawn="1"/>
          </p:nvSpPr>
          <p:spPr bwMode="auto">
            <a:xfrm>
              <a:off x="0" y="-726"/>
              <a:ext cx="5760" cy="678"/>
            </a:xfrm>
            <a:prstGeom prst="rect">
              <a:avLst/>
            </a:prstGeom>
            <a:solidFill>
              <a:srgbClr val="96A5C4">
                <a:alpha val="60001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  <p:sp>
          <p:nvSpPr>
            <p:cNvPr id="18" name="Rectangle 10"/>
            <p:cNvSpPr>
              <a:spLocks noChangeArrowheads="1"/>
            </p:cNvSpPr>
            <p:nvPr userDrawn="1"/>
          </p:nvSpPr>
          <p:spPr bwMode="auto">
            <a:xfrm>
              <a:off x="0" y="-720"/>
              <a:ext cx="5760" cy="678"/>
            </a:xfrm>
            <a:prstGeom prst="rect">
              <a:avLst/>
            </a:prstGeom>
            <a:solidFill>
              <a:schemeClr val="bg1">
                <a:alpha val="31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i="1" dirty="0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 </a:t>
            </a:r>
            <a:r>
              <a:rPr lang="pt-BR" sz="4000" i="1" dirty="0" err="1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Patterns</a:t>
            </a:r>
            <a:r>
              <a:rPr lang="pt-BR" sz="4000" i="1" dirty="0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F4AECB-AAC1-46E3-AF09-A631E4BCB1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8229599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400" b="1" i="1" dirty="0">
                <a:solidFill>
                  <a:srgbClr val="333399"/>
                </a:solidFill>
              </a:rPr>
              <a:t>Padrões de Projeto Orientado a Objetos</a:t>
            </a:r>
            <a:endParaRPr lang="pt-BR" sz="2400" b="1" dirty="0">
              <a:solidFill>
                <a:srgbClr val="333399"/>
              </a:solidFill>
            </a:endParaRPr>
          </a:p>
          <a:p>
            <a:pPr marL="57150" indent="0" algn="just">
              <a:buNone/>
            </a:pPr>
            <a:endParaRPr lang="pt-BR" sz="1800" dirty="0">
              <a:solidFill>
                <a:srgbClr val="333399"/>
              </a:solidFill>
            </a:endParaRPr>
          </a:p>
          <a:p>
            <a:pPr marL="57150" indent="0" algn="just">
              <a:buNone/>
            </a:pPr>
            <a:r>
              <a:rPr lang="pt-BR" sz="2400" b="1" dirty="0">
                <a:solidFill>
                  <a:srgbClr val="333399"/>
                </a:solidFill>
              </a:rPr>
              <a:t>Padrões Criacionais: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i="1" dirty="0">
                <a:solidFill>
                  <a:srgbClr val="333399"/>
                </a:solidFill>
              </a:rPr>
              <a:t>Abstract Factory</a:t>
            </a:r>
            <a:endParaRPr lang="en-US" sz="2000" i="1" dirty="0">
              <a:solidFill>
                <a:srgbClr val="333399"/>
              </a:solidFill>
            </a:endParaRPr>
          </a:p>
          <a:p>
            <a:pPr lvl="2" algn="just">
              <a:buFont typeface="Wingdings" panose="05000000000000000000" pitchFamily="2" charset="2"/>
              <a:buChar char="ü"/>
            </a:pPr>
            <a:r>
              <a:rPr lang="en-US" sz="1800" i="1" dirty="0">
                <a:solidFill>
                  <a:srgbClr val="333399"/>
                </a:solidFill>
              </a:rPr>
              <a:t>Fornece uma interface para criar familias de objetos relacionados (ou dependentes) sem especificar suas classes concretas.</a:t>
            </a:r>
          </a:p>
          <a:p>
            <a:pPr lvl="2" algn="just">
              <a:buFont typeface="Wingdings" panose="05000000000000000000" pitchFamily="2" charset="2"/>
              <a:buChar char="ü"/>
            </a:pPr>
            <a:endParaRPr lang="pt-BR" sz="1800" dirty="0">
              <a:solidFill>
                <a:srgbClr val="333399"/>
              </a:solidFill>
            </a:endParaRPr>
          </a:p>
        </p:txBody>
      </p:sp>
      <p:sp>
        <p:nvSpPr>
          <p:cNvPr id="24" name="Rectangle 14"/>
          <p:cNvSpPr>
            <a:spLocks noGrp="1" noChangeArrowheads="1"/>
          </p:cNvSpPr>
          <p:nvPr>
            <p:ph type="ftr" sz="quarter" idx="11"/>
          </p:nvPr>
        </p:nvSpPr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1" u="none">
                <a:solidFill>
                  <a:srgbClr val="83A5D7"/>
                </a:solidFill>
                <a:latin typeface="Arial" charset="0"/>
              </a:defRPr>
            </a:lvl1pPr>
          </a:lstStyle>
          <a:p>
            <a:pPr algn="just"/>
            <a:r>
              <a:rPr lang="en-US" i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Marcus Paulo — marcuspaulodev@gmail.com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C95A-2AF6-49B0-BE51-226E5A34C307}" type="slidenum">
              <a:rPr lang="pt-BR" smtClean="0"/>
              <a:t>1</a:t>
            </a:fld>
            <a:endParaRPr lang="pt-BR" dirty="0"/>
          </a:p>
        </p:txBody>
      </p:sp>
      <p:pic>
        <p:nvPicPr>
          <p:cNvPr id="15" name="Imagem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09" y="328339"/>
            <a:ext cx="514732" cy="792000"/>
          </a:xfrm>
          <a:prstGeom prst="rect">
            <a:avLst/>
          </a:prstGeom>
        </p:spPr>
      </p:pic>
      <p:pic>
        <p:nvPicPr>
          <p:cNvPr id="23" name="Imagem 2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286" y="567712"/>
            <a:ext cx="120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450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4"/>
          <p:cNvGrpSpPr>
            <a:grpSpLocks/>
          </p:cNvGrpSpPr>
          <p:nvPr/>
        </p:nvGrpSpPr>
        <p:grpSpPr bwMode="auto">
          <a:xfrm>
            <a:off x="0" y="6305550"/>
            <a:ext cx="9144000" cy="400050"/>
            <a:chOff x="0" y="3546"/>
            <a:chExt cx="5760" cy="684"/>
          </a:xfrm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0" y="3546"/>
              <a:ext cx="5760" cy="679"/>
            </a:xfrm>
            <a:prstGeom prst="rect">
              <a:avLst/>
            </a:prstGeom>
            <a:solidFill>
              <a:srgbClr val="BAC4D8">
                <a:alpha val="60001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  <p:sp>
          <p:nvSpPr>
            <p:cNvPr id="13" name="Rectangle 6"/>
            <p:cNvSpPr>
              <a:spLocks noChangeArrowheads="1"/>
            </p:cNvSpPr>
            <p:nvPr userDrawn="1"/>
          </p:nvSpPr>
          <p:spPr bwMode="auto">
            <a:xfrm>
              <a:off x="0" y="3551"/>
              <a:ext cx="5760" cy="679"/>
            </a:xfrm>
            <a:prstGeom prst="rect">
              <a:avLst/>
            </a:prstGeom>
            <a:solidFill>
              <a:schemeClr val="bg1">
                <a:alpha val="60001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</p:grpSp>
      <p:grpSp>
        <p:nvGrpSpPr>
          <p:cNvPr id="16" name="Group 8"/>
          <p:cNvGrpSpPr>
            <a:grpSpLocks/>
          </p:cNvGrpSpPr>
          <p:nvPr/>
        </p:nvGrpSpPr>
        <p:grpSpPr bwMode="auto">
          <a:xfrm>
            <a:off x="0" y="209550"/>
            <a:ext cx="9144000" cy="1085850"/>
            <a:chOff x="0" y="-726"/>
            <a:chExt cx="5760" cy="684"/>
          </a:xfrm>
        </p:grpSpPr>
        <p:sp>
          <p:nvSpPr>
            <p:cNvPr id="17" name="Rectangle 9"/>
            <p:cNvSpPr>
              <a:spLocks noChangeArrowheads="1"/>
            </p:cNvSpPr>
            <p:nvPr userDrawn="1"/>
          </p:nvSpPr>
          <p:spPr bwMode="auto">
            <a:xfrm>
              <a:off x="0" y="-726"/>
              <a:ext cx="5760" cy="678"/>
            </a:xfrm>
            <a:prstGeom prst="rect">
              <a:avLst/>
            </a:prstGeom>
            <a:solidFill>
              <a:srgbClr val="96A5C4">
                <a:alpha val="60001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  <p:sp>
          <p:nvSpPr>
            <p:cNvPr id="18" name="Rectangle 10"/>
            <p:cNvSpPr>
              <a:spLocks noChangeArrowheads="1"/>
            </p:cNvSpPr>
            <p:nvPr userDrawn="1"/>
          </p:nvSpPr>
          <p:spPr bwMode="auto">
            <a:xfrm>
              <a:off x="0" y="-720"/>
              <a:ext cx="5760" cy="678"/>
            </a:xfrm>
            <a:prstGeom prst="rect">
              <a:avLst/>
            </a:prstGeom>
            <a:solidFill>
              <a:schemeClr val="bg1">
                <a:alpha val="31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i="1" dirty="0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 </a:t>
            </a:r>
            <a:r>
              <a:rPr lang="pt-BR" sz="4000" i="1" dirty="0" err="1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Patterns</a:t>
            </a:r>
            <a:r>
              <a:rPr lang="pt-BR" sz="4000" i="1" dirty="0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F4AECB-AAC1-46E3-AF09-A631E4BCB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1"/>
            <a:ext cx="8229599" cy="433766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400" b="1" i="1" dirty="0">
                <a:solidFill>
                  <a:srgbClr val="333399"/>
                </a:solidFill>
              </a:rPr>
              <a:t>Padrões de Projeto Orientado a Objetos</a:t>
            </a:r>
            <a:endParaRPr lang="pt-BR" sz="2400" b="1" dirty="0">
              <a:solidFill>
                <a:srgbClr val="333399"/>
              </a:solidFill>
            </a:endParaRPr>
          </a:p>
          <a:p>
            <a:pPr marL="57150" indent="0" algn="just">
              <a:buNone/>
            </a:pPr>
            <a:endParaRPr lang="pt-BR" sz="1800" dirty="0">
              <a:solidFill>
                <a:srgbClr val="333399"/>
              </a:solidFill>
            </a:endParaRPr>
          </a:p>
          <a:p>
            <a:pPr marL="57150" indent="0" algn="just">
              <a:buNone/>
            </a:pPr>
            <a:r>
              <a:rPr lang="pt-BR" sz="2400" b="1" dirty="0">
                <a:solidFill>
                  <a:srgbClr val="333399"/>
                </a:solidFill>
              </a:rPr>
              <a:t>Padrões Criacionais: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i="1" dirty="0">
                <a:solidFill>
                  <a:srgbClr val="333399"/>
                </a:solidFill>
              </a:rPr>
              <a:t>Abstract Factory</a:t>
            </a:r>
            <a:endParaRPr lang="en-US" sz="2000" i="1" dirty="0">
              <a:solidFill>
                <a:srgbClr val="333399"/>
              </a:solidFill>
            </a:endParaRPr>
          </a:p>
          <a:p>
            <a:pPr lvl="2" algn="just">
              <a:buFont typeface="Wingdings" panose="05000000000000000000" pitchFamily="2" charset="2"/>
              <a:buChar char="ü"/>
            </a:pPr>
            <a:r>
              <a:rPr lang="en-US" sz="1800" b="1" u="sng" dirty="0" err="1">
                <a:solidFill>
                  <a:srgbClr val="333399"/>
                </a:solidFill>
              </a:rPr>
              <a:t>Problema</a:t>
            </a:r>
            <a:r>
              <a:rPr lang="en-US" sz="1800" b="1" dirty="0">
                <a:solidFill>
                  <a:srgbClr val="333399"/>
                </a:solidFill>
              </a:rPr>
              <a:t>: </a:t>
            </a:r>
          </a:p>
          <a:p>
            <a:pPr lvl="3" algn="just">
              <a:buFont typeface="Wingdings" panose="05000000000000000000" pitchFamily="2" charset="2"/>
              <a:buChar char="§"/>
            </a:pPr>
            <a:r>
              <a:rPr lang="pt-BR" sz="1600" dirty="0">
                <a:solidFill>
                  <a:srgbClr val="333399"/>
                </a:solidFill>
              </a:rPr>
              <a:t>Um sistema precisa criar familias inteiras de objetos relacionados (ex.: botao + checkbox de uma interface grafica) sem depender das suas classes concretas;</a:t>
            </a:r>
          </a:p>
          <a:p>
            <a:pPr lvl="3" algn="just">
              <a:buFont typeface="Wingdings" panose="05000000000000000000" pitchFamily="2" charset="2"/>
              <a:buChar char="§"/>
            </a:pPr>
            <a:r>
              <a:rPr lang="pt-BR" sz="1600" dirty="0">
                <a:solidFill>
                  <a:srgbClr val="333399"/>
                </a:solidFill>
              </a:rPr>
              <a:t>O sistema deve suportar multiplas variantes da mesma familia de produtos (ex.: visual Windows vs. visual Mac) e permitir trocar de variante sem alterar o codigo cliente;</a:t>
            </a:r>
          </a:p>
          <a:p>
            <a:pPr lvl="3" algn="just">
              <a:buFont typeface="Wingdings" panose="05000000000000000000" pitchFamily="2" charset="2"/>
              <a:buChar char="§"/>
            </a:pPr>
            <a:r>
              <a:rPr lang="pt-BR" sz="1600" dirty="0">
                <a:solidFill>
                  <a:srgbClr val="333399"/>
                </a:solidFill>
              </a:rPr>
              <a:t>Instanciar os produtos diretamente com "new" espalha decisoes de classe concreta pelo codigo cliente, dificultando a manutencao e violando o principio Aberto-Fechado (OCP).</a:t>
            </a:r>
          </a:p>
          <a:p>
            <a:pPr lvl="3" algn="just">
              <a:buFont typeface="Wingdings" panose="05000000000000000000" pitchFamily="2" charset="2"/>
              <a:buChar char="§"/>
            </a:pPr>
            <a:endParaRPr lang="pt-BR" sz="1600" dirty="0">
              <a:solidFill>
                <a:srgbClr val="333399"/>
              </a:solidFill>
            </a:endParaRPr>
          </a:p>
          <a:p>
            <a:pPr lvl="2" algn="just">
              <a:buFont typeface="Wingdings" panose="05000000000000000000" pitchFamily="2" charset="2"/>
              <a:buChar char="ü"/>
            </a:pPr>
            <a:endParaRPr lang="pt-BR" sz="1800" dirty="0">
              <a:solidFill>
                <a:srgbClr val="333399"/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C95A-2AF6-49B0-BE51-226E5A34C307}" type="slidenum">
              <a:rPr lang="pt-BR" smtClean="0"/>
              <a:t>2</a:t>
            </a:fld>
            <a:endParaRPr lang="pt-BR" dirty="0"/>
          </a:p>
        </p:txBody>
      </p:sp>
      <p:pic>
        <p:nvPicPr>
          <p:cNvPr id="15" name="Imagem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09" y="328339"/>
            <a:ext cx="514732" cy="792000"/>
          </a:xfrm>
          <a:prstGeom prst="rect">
            <a:avLst/>
          </a:prstGeom>
        </p:spPr>
      </p:pic>
      <p:pic>
        <p:nvPicPr>
          <p:cNvPr id="23" name="Imagem 2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286" y="567712"/>
            <a:ext cx="1200000" cy="360000"/>
          </a:xfrm>
          <a:prstGeom prst="rect">
            <a:avLst/>
          </a:prstGeom>
        </p:spPr>
      </p:pic>
      <p:sp>
        <p:nvSpPr>
          <p:cNvPr id="5" name="Rectangle 14">
            <a:extLst>
              <a:ext uri="{FF2B5EF4-FFF2-40B4-BE49-F238E27FC236}">
                <a16:creationId xmlns:a16="http://schemas.microsoft.com/office/drawing/2014/main" id="{6A189755-9319-0F24-5E82-175FDAAB645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356350"/>
            <a:ext cx="3752056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1" u="none">
                <a:solidFill>
                  <a:srgbClr val="83A5D7"/>
                </a:solidFill>
                <a:latin typeface="Arial" charset="0"/>
              </a:defRPr>
            </a:lvl1pPr>
          </a:lstStyle>
          <a:p>
            <a:pPr algn="just"/>
            <a:r>
              <a:rPr lang="en-US" i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Marcus Paulo — marcuspaulodev@gmail.com</a:t>
            </a:r>
          </a:p>
        </p:txBody>
      </p:sp>
    </p:spTree>
    <p:extLst>
      <p:ext uri="{BB962C8B-B14F-4D97-AF65-F5344CB8AC3E}">
        <p14:creationId xmlns:p14="http://schemas.microsoft.com/office/powerpoint/2010/main" val="2049575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4"/>
          <p:cNvGrpSpPr>
            <a:grpSpLocks/>
          </p:cNvGrpSpPr>
          <p:nvPr/>
        </p:nvGrpSpPr>
        <p:grpSpPr bwMode="auto">
          <a:xfrm>
            <a:off x="0" y="6305550"/>
            <a:ext cx="9144000" cy="400050"/>
            <a:chOff x="0" y="3546"/>
            <a:chExt cx="5760" cy="684"/>
          </a:xfrm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0" y="3546"/>
              <a:ext cx="5760" cy="679"/>
            </a:xfrm>
            <a:prstGeom prst="rect">
              <a:avLst/>
            </a:prstGeom>
            <a:solidFill>
              <a:srgbClr val="BAC4D8">
                <a:alpha val="60001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  <p:sp>
          <p:nvSpPr>
            <p:cNvPr id="13" name="Rectangle 6"/>
            <p:cNvSpPr>
              <a:spLocks noChangeArrowheads="1"/>
            </p:cNvSpPr>
            <p:nvPr userDrawn="1"/>
          </p:nvSpPr>
          <p:spPr bwMode="auto">
            <a:xfrm>
              <a:off x="0" y="3551"/>
              <a:ext cx="5760" cy="679"/>
            </a:xfrm>
            <a:prstGeom prst="rect">
              <a:avLst/>
            </a:prstGeom>
            <a:solidFill>
              <a:schemeClr val="bg1">
                <a:alpha val="60001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</p:grpSp>
      <p:grpSp>
        <p:nvGrpSpPr>
          <p:cNvPr id="16" name="Group 8"/>
          <p:cNvGrpSpPr>
            <a:grpSpLocks/>
          </p:cNvGrpSpPr>
          <p:nvPr/>
        </p:nvGrpSpPr>
        <p:grpSpPr bwMode="auto">
          <a:xfrm>
            <a:off x="0" y="209550"/>
            <a:ext cx="9144000" cy="1085850"/>
            <a:chOff x="0" y="-726"/>
            <a:chExt cx="5760" cy="684"/>
          </a:xfrm>
        </p:grpSpPr>
        <p:sp>
          <p:nvSpPr>
            <p:cNvPr id="17" name="Rectangle 9"/>
            <p:cNvSpPr>
              <a:spLocks noChangeArrowheads="1"/>
            </p:cNvSpPr>
            <p:nvPr userDrawn="1"/>
          </p:nvSpPr>
          <p:spPr bwMode="auto">
            <a:xfrm>
              <a:off x="0" y="-726"/>
              <a:ext cx="5760" cy="678"/>
            </a:xfrm>
            <a:prstGeom prst="rect">
              <a:avLst/>
            </a:prstGeom>
            <a:solidFill>
              <a:srgbClr val="96A5C4">
                <a:alpha val="60001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  <p:sp>
          <p:nvSpPr>
            <p:cNvPr id="18" name="Rectangle 10"/>
            <p:cNvSpPr>
              <a:spLocks noChangeArrowheads="1"/>
            </p:cNvSpPr>
            <p:nvPr userDrawn="1"/>
          </p:nvSpPr>
          <p:spPr bwMode="auto">
            <a:xfrm>
              <a:off x="0" y="-720"/>
              <a:ext cx="5760" cy="678"/>
            </a:xfrm>
            <a:prstGeom prst="rect">
              <a:avLst/>
            </a:prstGeom>
            <a:solidFill>
              <a:schemeClr val="bg1">
                <a:alpha val="31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i="1" dirty="0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 </a:t>
            </a:r>
            <a:r>
              <a:rPr lang="pt-BR" sz="4000" i="1" dirty="0" err="1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Patterns</a:t>
            </a:r>
            <a:r>
              <a:rPr lang="pt-BR" sz="4000" i="1" dirty="0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F4AECB-AAC1-46E3-AF09-A631E4BCB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33766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400" b="1" i="1" dirty="0">
                <a:solidFill>
                  <a:srgbClr val="333399"/>
                </a:solidFill>
              </a:rPr>
              <a:t>Padrões de Projeto Orientado a Objetos</a:t>
            </a:r>
            <a:endParaRPr lang="pt-BR" sz="2400" b="1" dirty="0">
              <a:solidFill>
                <a:srgbClr val="333399"/>
              </a:solidFill>
            </a:endParaRPr>
          </a:p>
          <a:p>
            <a:pPr marL="57150" indent="0" algn="just">
              <a:buNone/>
            </a:pPr>
            <a:endParaRPr lang="pt-BR" sz="1800" dirty="0">
              <a:solidFill>
                <a:srgbClr val="333399"/>
              </a:solidFill>
            </a:endParaRPr>
          </a:p>
          <a:p>
            <a:pPr marL="57150" indent="0" algn="just">
              <a:buNone/>
            </a:pPr>
            <a:r>
              <a:rPr lang="pt-BR" sz="2400" b="1" dirty="0">
                <a:solidFill>
                  <a:srgbClr val="333399"/>
                </a:solidFill>
              </a:rPr>
              <a:t>Padrões Criacionais: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i="1" dirty="0">
                <a:solidFill>
                  <a:srgbClr val="333399"/>
                </a:solidFill>
              </a:rPr>
              <a:t>Abstract Factory</a:t>
            </a:r>
            <a:endParaRPr lang="en-US" sz="2000" i="1" dirty="0">
              <a:solidFill>
                <a:srgbClr val="333399"/>
              </a:solidFill>
            </a:endParaRPr>
          </a:p>
          <a:p>
            <a:pPr lvl="2" algn="just">
              <a:buFont typeface="Wingdings" panose="05000000000000000000" pitchFamily="2" charset="2"/>
              <a:buChar char="ü"/>
            </a:pPr>
            <a:r>
              <a:rPr lang="en-US" sz="1800" b="1" u="sng" dirty="0" err="1">
                <a:solidFill>
                  <a:srgbClr val="333399"/>
                </a:solidFill>
              </a:rPr>
              <a:t>Solução</a:t>
            </a:r>
            <a:r>
              <a:rPr lang="en-US" sz="1800" b="1" dirty="0">
                <a:solidFill>
                  <a:srgbClr val="333399"/>
                </a:solidFill>
              </a:rPr>
              <a:t>: </a:t>
            </a:r>
          </a:p>
          <a:p>
            <a:pPr marL="1714500" lvl="3" indent="-342900" algn="just">
              <a:buFont typeface="+mj-lt"/>
              <a:buAutoNum type="arabicPeriod"/>
            </a:pPr>
            <a:r>
              <a:rPr lang="pt-BR" sz="1400" dirty="0">
                <a:solidFill>
                  <a:srgbClr val="333399"/>
                </a:solidFill>
              </a:rPr>
              <a:t>Declarar uma interface para cada produto distinto da familia (ex.: Button, Checkbox);</a:t>
            </a:r>
          </a:p>
          <a:p>
            <a:pPr marL="1714500" lvl="3" indent="-342900" algn="just">
              <a:buFont typeface="+mj-lt"/>
              <a:buAutoNum type="arabicPeriod"/>
            </a:pPr>
            <a:r>
              <a:rPr lang="pt-BR" sz="1400" dirty="0">
                <a:solidFill>
                  <a:srgbClr val="333399"/>
                </a:solidFill>
              </a:rPr>
              <a:t>Declarar a interface Abstract Factory com um metodo de criacao para cada produto (ex.: createButton(), createCheckbox());</a:t>
            </a:r>
          </a:p>
          <a:p>
            <a:pPr marL="1714500" lvl="3" indent="-342900" algn="just">
              <a:buFont typeface="+mj-lt"/>
              <a:buAutoNum type="arabicPeriod"/>
            </a:pPr>
            <a:r>
              <a:rPr lang="pt-BR" sz="1400" dirty="0">
                <a:solidFill>
                  <a:srgbClr val="333399"/>
                </a:solidFill>
              </a:rPr>
              <a:t>Criar uma Concrete Factory para cada variante da familia, implementando todos os metodos de criacao (ex.: WindowsFactory, MacFactory);</a:t>
            </a:r>
          </a:p>
          <a:p>
            <a:pPr marL="1714500" lvl="3" indent="-342900" algn="just">
              <a:buFont typeface="+mj-lt"/>
              <a:buAutoNum type="arabicPeriod"/>
            </a:pPr>
            <a:r>
              <a:rPr lang="pt-BR" sz="1400" dirty="0">
                <a:solidFill>
                  <a:srgbClr val="333399"/>
                </a:solidFill>
              </a:rPr>
              <a:t>O codigo cliente depende apenas das interfaces (factory e produtos), nunca das classes concretas;</a:t>
            </a:r>
          </a:p>
          <a:p>
            <a:pPr marL="1714500" lvl="3" indent="-342900" algn="just">
              <a:buFont typeface="+mj-lt"/>
              <a:buAutoNum type="arabicPeriod"/>
            </a:pPr>
            <a:r>
              <a:rPr lang="pt-BR" sz="1400" dirty="0">
                <a:solidFill>
                  <a:srgbClr val="333399"/>
                </a:solidFill>
              </a:rPr>
              <a:t>A variante concreta e escolhida uma unica vez (config./injecao de dependencia) e injetada no cliente, garantindo que os produtos criados sejam sempre compativeis entre si.</a:t>
            </a:r>
          </a:p>
          <a:p>
            <a:pPr marL="1714500" lvl="3" indent="-342900" algn="just">
              <a:buFont typeface="+mj-lt"/>
              <a:buAutoNum type="arabicPeriod"/>
            </a:pPr>
            <a:endParaRPr lang="pt-BR" sz="1400" dirty="0">
              <a:solidFill>
                <a:srgbClr val="333399"/>
              </a:solidFill>
            </a:endParaRPr>
          </a:p>
          <a:p>
            <a:pPr marL="1714500" lvl="3" indent="-342900" algn="just">
              <a:buFont typeface="+mj-lt"/>
              <a:buAutoNum type="arabicPeriod" startAt="3"/>
            </a:pPr>
            <a:endParaRPr lang="pt-BR" sz="1400" dirty="0">
              <a:solidFill>
                <a:srgbClr val="333399"/>
              </a:solidFill>
            </a:endParaRPr>
          </a:p>
          <a:p>
            <a:pPr lvl="3" algn="just">
              <a:buFont typeface="Wingdings" panose="05000000000000000000" pitchFamily="2" charset="2"/>
              <a:buChar char="§"/>
            </a:pPr>
            <a:endParaRPr lang="en-US" sz="1400" dirty="0">
              <a:solidFill>
                <a:srgbClr val="333399"/>
              </a:solidFill>
            </a:endParaRPr>
          </a:p>
          <a:p>
            <a:pPr lvl="2" algn="just">
              <a:buFont typeface="Wingdings" panose="05000000000000000000" pitchFamily="2" charset="2"/>
              <a:buChar char="ü"/>
            </a:pPr>
            <a:endParaRPr lang="pt-BR" sz="1800" dirty="0">
              <a:solidFill>
                <a:srgbClr val="333399"/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C95A-2AF6-49B0-BE51-226E5A34C307}" type="slidenum">
              <a:rPr lang="pt-BR" smtClean="0"/>
              <a:t>3</a:t>
            </a:fld>
            <a:endParaRPr lang="pt-BR" dirty="0"/>
          </a:p>
        </p:txBody>
      </p:sp>
      <p:pic>
        <p:nvPicPr>
          <p:cNvPr id="15" name="Imagem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09" y="328339"/>
            <a:ext cx="514732" cy="792000"/>
          </a:xfrm>
          <a:prstGeom prst="rect">
            <a:avLst/>
          </a:prstGeom>
        </p:spPr>
      </p:pic>
      <p:pic>
        <p:nvPicPr>
          <p:cNvPr id="23" name="Imagem 2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286" y="567712"/>
            <a:ext cx="1200000" cy="360000"/>
          </a:xfrm>
          <a:prstGeom prst="rect">
            <a:avLst/>
          </a:prstGeom>
        </p:spPr>
      </p:pic>
      <p:sp>
        <p:nvSpPr>
          <p:cNvPr id="5" name="Rectangle 14">
            <a:extLst>
              <a:ext uri="{FF2B5EF4-FFF2-40B4-BE49-F238E27FC236}">
                <a16:creationId xmlns:a16="http://schemas.microsoft.com/office/drawing/2014/main" id="{36B674DF-A554-44F2-F417-3B94F00F5C9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356350"/>
            <a:ext cx="3752056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1" u="none">
                <a:solidFill>
                  <a:srgbClr val="83A5D7"/>
                </a:solidFill>
                <a:latin typeface="Arial" charset="0"/>
              </a:defRPr>
            </a:lvl1pPr>
          </a:lstStyle>
          <a:p>
            <a:pPr algn="just"/>
            <a:r>
              <a:rPr lang="en-US" i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Marcus Paulo — marcuspaulodev@gmail.com</a:t>
            </a:r>
          </a:p>
        </p:txBody>
      </p:sp>
    </p:spTree>
    <p:extLst>
      <p:ext uri="{BB962C8B-B14F-4D97-AF65-F5344CB8AC3E}">
        <p14:creationId xmlns:p14="http://schemas.microsoft.com/office/powerpoint/2010/main" val="693341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4"/>
          <p:cNvGrpSpPr>
            <a:grpSpLocks/>
          </p:cNvGrpSpPr>
          <p:nvPr/>
        </p:nvGrpSpPr>
        <p:grpSpPr bwMode="auto">
          <a:xfrm>
            <a:off x="0" y="6305550"/>
            <a:ext cx="9144000" cy="400050"/>
            <a:chOff x="0" y="3546"/>
            <a:chExt cx="5760" cy="684"/>
          </a:xfrm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0" y="3546"/>
              <a:ext cx="5760" cy="679"/>
            </a:xfrm>
            <a:prstGeom prst="rect">
              <a:avLst/>
            </a:prstGeom>
            <a:solidFill>
              <a:srgbClr val="BAC4D8">
                <a:alpha val="60001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  <p:sp>
          <p:nvSpPr>
            <p:cNvPr id="13" name="Rectangle 6"/>
            <p:cNvSpPr>
              <a:spLocks noChangeArrowheads="1"/>
            </p:cNvSpPr>
            <p:nvPr userDrawn="1"/>
          </p:nvSpPr>
          <p:spPr bwMode="auto">
            <a:xfrm>
              <a:off x="0" y="3551"/>
              <a:ext cx="5760" cy="679"/>
            </a:xfrm>
            <a:prstGeom prst="rect">
              <a:avLst/>
            </a:prstGeom>
            <a:solidFill>
              <a:schemeClr val="bg1">
                <a:alpha val="60001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</p:grpSp>
      <p:grpSp>
        <p:nvGrpSpPr>
          <p:cNvPr id="16" name="Group 8"/>
          <p:cNvGrpSpPr>
            <a:grpSpLocks/>
          </p:cNvGrpSpPr>
          <p:nvPr/>
        </p:nvGrpSpPr>
        <p:grpSpPr bwMode="auto">
          <a:xfrm>
            <a:off x="0" y="209550"/>
            <a:ext cx="9144000" cy="1085850"/>
            <a:chOff x="0" y="-726"/>
            <a:chExt cx="5760" cy="684"/>
          </a:xfrm>
        </p:grpSpPr>
        <p:sp>
          <p:nvSpPr>
            <p:cNvPr id="17" name="Rectangle 9"/>
            <p:cNvSpPr>
              <a:spLocks noChangeArrowheads="1"/>
            </p:cNvSpPr>
            <p:nvPr userDrawn="1"/>
          </p:nvSpPr>
          <p:spPr bwMode="auto">
            <a:xfrm>
              <a:off x="0" y="-726"/>
              <a:ext cx="5760" cy="678"/>
            </a:xfrm>
            <a:prstGeom prst="rect">
              <a:avLst/>
            </a:prstGeom>
            <a:solidFill>
              <a:srgbClr val="96A5C4">
                <a:alpha val="60001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  <p:sp>
          <p:nvSpPr>
            <p:cNvPr id="18" name="Rectangle 10"/>
            <p:cNvSpPr>
              <a:spLocks noChangeArrowheads="1"/>
            </p:cNvSpPr>
            <p:nvPr userDrawn="1"/>
          </p:nvSpPr>
          <p:spPr bwMode="auto">
            <a:xfrm>
              <a:off x="0" y="-720"/>
              <a:ext cx="5760" cy="678"/>
            </a:xfrm>
            <a:prstGeom prst="rect">
              <a:avLst/>
            </a:prstGeom>
            <a:solidFill>
              <a:schemeClr val="bg1">
                <a:alpha val="31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i="1" dirty="0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 </a:t>
            </a:r>
            <a:r>
              <a:rPr lang="pt-BR" sz="4000" i="1" dirty="0" err="1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Patterns</a:t>
            </a:r>
            <a:r>
              <a:rPr lang="pt-BR" sz="4000" i="1" dirty="0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F4AECB-AAC1-46E3-AF09-A631E4BCB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1"/>
            <a:ext cx="4150000" cy="433766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400" b="1" i="1" dirty="0">
                <a:solidFill>
                  <a:srgbClr val="333399"/>
                </a:solidFill>
              </a:rPr>
              <a:t>Padrões de Projeto Orientado a Objetos</a:t>
            </a:r>
            <a:endParaRPr lang="pt-BR" sz="2400" b="1" dirty="0">
              <a:solidFill>
                <a:srgbClr val="333399"/>
              </a:solidFill>
            </a:endParaRPr>
          </a:p>
          <a:p>
            <a:pPr marL="57150" indent="0" algn="just">
              <a:buNone/>
            </a:pPr>
            <a:endParaRPr lang="pt-BR" sz="1800" dirty="0">
              <a:solidFill>
                <a:srgbClr val="333399"/>
              </a:solidFill>
            </a:endParaRPr>
          </a:p>
          <a:p>
            <a:pPr marL="57150" indent="0" algn="just">
              <a:buNone/>
            </a:pPr>
            <a:r>
              <a:rPr lang="pt-BR" sz="2400" b="1" dirty="0">
                <a:solidFill>
                  <a:srgbClr val="333399"/>
                </a:solidFill>
              </a:rPr>
              <a:t>Padrões Criacionais: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i="1" dirty="0">
                <a:solidFill>
                  <a:srgbClr val="333399"/>
                </a:solidFill>
              </a:rPr>
              <a:t>Abstract Factory</a:t>
            </a:r>
            <a:endParaRPr lang="en-US" sz="2000" i="1" dirty="0">
              <a:solidFill>
                <a:srgbClr val="333399"/>
              </a:solidFill>
            </a:endParaRPr>
          </a:p>
          <a:p>
            <a:pPr lvl="2" algn="just">
              <a:buFont typeface="Wingdings" panose="05000000000000000000" pitchFamily="2" charset="2"/>
              <a:buChar char="ü"/>
            </a:pPr>
            <a:r>
              <a:rPr lang="en-US" sz="1800" b="1" u="sng" dirty="0" err="1">
                <a:solidFill>
                  <a:srgbClr val="333399"/>
                </a:solidFill>
              </a:rPr>
              <a:t>Estrutura</a:t>
            </a:r>
            <a:r>
              <a:rPr lang="en-US" sz="1800" b="1" dirty="0">
                <a:solidFill>
                  <a:srgbClr val="333399"/>
                </a:solidFill>
              </a:rPr>
              <a:t>: </a:t>
            </a:r>
          </a:p>
          <a:p>
            <a:pPr marL="1714500" lvl="3" indent="-342900" algn="just">
              <a:buFont typeface="+mj-lt"/>
              <a:buAutoNum type="arabicPeriod"/>
            </a:pPr>
            <a:r>
              <a:rPr lang="pt-BR" sz="1400" b="1" dirty="0">
                <a:solidFill>
                  <a:srgbClr val="333399"/>
                </a:solidFill>
              </a:rPr>
              <a:t>GUIFactory (interface): declara createButton() e createCheckbox();</a:t>
            </a:r>
          </a:p>
          <a:p>
            <a:pPr marL="1714500" lvl="3" indent="-342900" algn="just">
              <a:buFont typeface="+mj-lt"/>
              <a:buAutoNum type="arabicPeriod"/>
            </a:pPr>
            <a:r>
              <a:rPr lang="pt-BR" sz="1400" b="1" dirty="0">
                <a:solidFill>
                  <a:srgbClr val="333399"/>
                </a:solidFill>
              </a:rPr>
              <a:t>WindowsFactory / MacFactory (classes concretas): implementam GUIFactory, cada uma criando os produtos da sua propria variante;</a:t>
            </a:r>
          </a:p>
          <a:p>
            <a:pPr marL="1714500" lvl="3" indent="-342900" algn="just">
              <a:buFont typeface="+mj-lt"/>
              <a:buAutoNum type="arabicPeriod"/>
            </a:pPr>
            <a:r>
              <a:rPr lang="pt-BR" sz="1400" b="1" dirty="0">
                <a:solidFill>
                  <a:srgbClr val="333399"/>
                </a:solidFill>
              </a:rPr>
              <a:t>Button / Checkbox (interfaces): declaram o comportamento comum de cada tipo de produto;</a:t>
            </a:r>
          </a:p>
          <a:p>
            <a:pPr marL="1714500" lvl="3" indent="-342900" algn="just">
              <a:buFont typeface="+mj-lt"/>
              <a:buAutoNum type="arabicPeriod"/>
            </a:pPr>
            <a:r>
              <a:rPr lang="pt-BR" sz="1400" b="1" dirty="0">
                <a:solidFill>
                  <a:srgbClr val="333399"/>
                </a:solidFill>
              </a:rPr>
              <a:t>WindowsButton, WindowsCheckbox, MacButton, MacCheckbox: implementacoes concretas de cada produto;</a:t>
            </a:r>
          </a:p>
          <a:p>
            <a:pPr marL="1714500" lvl="3" indent="-342900" algn="just">
              <a:buFont typeface="+mj-lt"/>
              <a:buAutoNum type="arabicPeriod"/>
            </a:pPr>
            <a:r>
              <a:rPr lang="pt-BR" sz="1400" b="1" dirty="0">
                <a:solidFill>
                  <a:srgbClr val="333399"/>
                </a:solidFill>
              </a:rPr>
              <a:t>Application (cliente): recebe uma GUIFactory no construtor e so usa os metodos de Button/Checkbox.</a:t>
            </a:r>
          </a:p>
          <a:p>
            <a:pPr lvl="2" algn="just">
              <a:buFont typeface="Wingdings" panose="05000000000000000000" pitchFamily="2" charset="2"/>
              <a:buChar char="ü"/>
            </a:pPr>
            <a:endParaRPr lang="pt-BR" sz="1800" dirty="0">
              <a:solidFill>
                <a:srgbClr val="333399"/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C95A-2AF6-49B0-BE51-226E5A34C307}" type="slidenum">
              <a:rPr lang="pt-BR" smtClean="0"/>
              <a:t>4</a:t>
            </a:fld>
            <a:endParaRPr lang="pt-BR" dirty="0"/>
          </a:p>
        </p:txBody>
      </p:sp>
      <p:pic>
        <p:nvPicPr>
          <p:cNvPr id="15" name="Imagem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09" y="328339"/>
            <a:ext cx="514732" cy="792000"/>
          </a:xfrm>
          <a:prstGeom prst="rect">
            <a:avLst/>
          </a:prstGeom>
        </p:spPr>
      </p:pic>
      <p:pic>
        <p:nvPicPr>
          <p:cNvPr id="23" name="Imagem 2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286" y="567712"/>
            <a:ext cx="1200000" cy="360000"/>
          </a:xfrm>
          <a:prstGeom prst="rect">
            <a:avLst/>
          </a:prstGeom>
        </p:spPr>
      </p:pic>
      <p:sp>
        <p:nvSpPr>
          <p:cNvPr id="6" name="Rectangle 14">
            <a:extLst>
              <a:ext uri="{FF2B5EF4-FFF2-40B4-BE49-F238E27FC236}">
                <a16:creationId xmlns:a16="http://schemas.microsoft.com/office/drawing/2014/main" id="{AE81D55B-E5CF-74E9-DC16-6AC89B187E6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356350"/>
            <a:ext cx="3752056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1" u="none">
                <a:solidFill>
                  <a:srgbClr val="83A5D7"/>
                </a:solidFill>
                <a:latin typeface="Arial" charset="0"/>
              </a:defRPr>
            </a:lvl1pPr>
          </a:lstStyle>
          <a:p>
            <a:pPr algn="just"/>
            <a:r>
              <a:rPr lang="en-US" i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Marcus Paulo — marcuspaulodev@gmail.com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74920" y="1508760"/>
            <a:ext cx="2651760" cy="502920"/>
          </a:xfrm>
          <a:prstGeom prst="rect">
            <a:avLst/>
          </a:prstGeom>
          <a:solidFill>
            <a:srgbClr val="FFF3D6"/>
          </a:solidFill>
          <a:ln w="12700">
            <a:solidFill>
              <a:srgbClr val="8A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b="1" sz="1100">
                <a:solidFill>
                  <a:srgbClr val="141B4D"/>
                </a:solidFill>
              </a:rPr>
              <a:t>Application (cliente)</a:t>
            </a:r>
          </a:p>
          <a:p>
            <a:pPr algn="ctr"/>
            <a:r>
              <a:rPr sz="900">
                <a:solidFill>
                  <a:srgbClr val="141B4D"/>
                </a:solidFill>
              </a:rPr>
              <a:t>usa GUIFactory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74920" y="2148840"/>
            <a:ext cx="2651760" cy="621792"/>
          </a:xfrm>
          <a:prstGeom prst="rect">
            <a:avLst/>
          </a:prstGeom>
          <a:solidFill>
            <a:srgbClr val="DDE8FF"/>
          </a:solidFill>
          <a:ln w="12700">
            <a:solidFill>
              <a:srgbClr val="2B4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b="1" sz="1100">
                <a:solidFill>
                  <a:srgbClr val="141B4D"/>
                </a:solidFill>
              </a:rPr>
              <a:t>«interface» GUIFactory</a:t>
            </a:r>
          </a:p>
          <a:p>
            <a:pPr algn="ctr"/>
            <a:r>
              <a:rPr sz="900">
                <a:solidFill>
                  <a:srgbClr val="141B4D"/>
                </a:solidFill>
              </a:rPr>
              <a:t>createButton()</a:t>
            </a:r>
          </a:p>
          <a:p>
            <a:pPr algn="ctr"/>
            <a:r>
              <a:rPr sz="900">
                <a:solidFill>
                  <a:srgbClr val="141B4D"/>
                </a:solidFill>
              </a:rPr>
              <a:t>createCheckbox()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09160" y="2926080"/>
            <a:ext cx="1417320" cy="566928"/>
          </a:xfrm>
          <a:prstGeom prst="rect">
            <a:avLst/>
          </a:prstGeom>
          <a:solidFill>
            <a:srgbClr val="DDE8FF"/>
          </a:solidFill>
          <a:ln w="12700">
            <a:solidFill>
              <a:srgbClr val="2B4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b="1" sz="1100">
                <a:solidFill>
                  <a:srgbClr val="141B4D"/>
                </a:solidFill>
              </a:rPr>
              <a:t>WindowsFactory</a:t>
            </a:r>
          </a:p>
          <a:p>
            <a:pPr algn="ctr"/>
            <a:r>
              <a:rPr sz="800">
                <a:solidFill>
                  <a:srgbClr val="141B4D"/>
                </a:solidFill>
              </a:rPr>
              <a:t>cria produtos Windows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2926080"/>
            <a:ext cx="1417320" cy="566928"/>
          </a:xfrm>
          <a:prstGeom prst="rect">
            <a:avLst/>
          </a:prstGeom>
          <a:solidFill>
            <a:srgbClr val="DDE8FF"/>
          </a:solidFill>
          <a:ln w="12700">
            <a:solidFill>
              <a:srgbClr val="2B4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b="1" sz="1100">
                <a:solidFill>
                  <a:srgbClr val="141B4D"/>
                </a:solidFill>
              </a:rPr>
              <a:t>MacFactory</a:t>
            </a:r>
          </a:p>
          <a:p>
            <a:pPr algn="ctr"/>
            <a:r>
              <a:rPr sz="800">
                <a:solidFill>
                  <a:srgbClr val="141B4D"/>
                </a:solidFill>
              </a:rPr>
              <a:t>cria produtos Mac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09160" y="3703320"/>
            <a:ext cx="1417320" cy="502920"/>
          </a:xfrm>
          <a:prstGeom prst="rect">
            <a:avLst/>
          </a:prstGeom>
          <a:solidFill>
            <a:srgbClr val="E7F7EC"/>
          </a:solidFill>
          <a:ln w="127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b="1" sz="1100">
                <a:solidFill>
                  <a:srgbClr val="141B4D"/>
                </a:solidFill>
              </a:rPr>
              <a:t>«interface» Button</a:t>
            </a:r>
          </a:p>
          <a:p>
            <a:pPr algn="ctr"/>
            <a:r>
              <a:rPr sz="800">
                <a:solidFill>
                  <a:srgbClr val="141B4D"/>
                </a:solidFill>
              </a:rPr>
              <a:t>render(); onClick()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3703320"/>
            <a:ext cx="1417320" cy="502920"/>
          </a:xfrm>
          <a:prstGeom prst="rect">
            <a:avLst/>
          </a:prstGeom>
          <a:solidFill>
            <a:srgbClr val="E7F7EC"/>
          </a:solidFill>
          <a:ln w="127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b="1" sz="1100">
                <a:solidFill>
                  <a:srgbClr val="141B4D"/>
                </a:solidFill>
              </a:rPr>
              <a:t>«interface» Checkbox</a:t>
            </a:r>
          </a:p>
          <a:p>
            <a:pPr algn="ctr"/>
            <a:r>
              <a:rPr sz="800">
                <a:solidFill>
                  <a:srgbClr val="141B4D"/>
                </a:solidFill>
              </a:rPr>
              <a:t>render(); toggle()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09160" y="4389120"/>
            <a:ext cx="1417320" cy="566928"/>
          </a:xfrm>
          <a:prstGeom prst="rect">
            <a:avLst/>
          </a:prstGeom>
          <a:solidFill>
            <a:srgbClr val="E7F7EC"/>
          </a:solidFill>
          <a:ln w="127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b="1" sz="1100">
                <a:solidFill>
                  <a:srgbClr val="141B4D"/>
                </a:solidFill>
              </a:rPr>
              <a:t>WindowsButton</a:t>
            </a:r>
          </a:p>
          <a:p>
            <a:pPr algn="ctr"/>
            <a:r>
              <a:rPr sz="800">
                <a:solidFill>
                  <a:srgbClr val="141B4D"/>
                </a:solidFill>
              </a:rPr>
              <a:t>WindowsCheckbox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4389120"/>
            <a:ext cx="1417320" cy="566928"/>
          </a:xfrm>
          <a:prstGeom prst="rect">
            <a:avLst/>
          </a:prstGeom>
          <a:solidFill>
            <a:srgbClr val="E7F7EC"/>
          </a:solidFill>
          <a:ln w="127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b="1" sz="1100">
                <a:solidFill>
                  <a:srgbClr val="141B4D"/>
                </a:solidFill>
              </a:rPr>
              <a:t>MacButton</a:t>
            </a:r>
          </a:p>
          <a:p>
            <a:pPr algn="ctr"/>
            <a:r>
              <a:rPr sz="800">
                <a:solidFill>
                  <a:srgbClr val="141B4D"/>
                </a:solidFill>
              </a:rPr>
              <a:t>MacCheckbox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9160" y="5074920"/>
            <a:ext cx="3063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i="1">
                <a:solidFill>
                  <a:srgbClr val="444444"/>
                </a:solidFill>
              </a:rPr>
              <a:t>Cada Factory concreta so cria produtos da sua propria familia: assim, Button e Checkbox usados juntos sao sempre compativeis (mesma variante).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943600" y="2011680"/>
            <a:ext cx="0" cy="137160"/>
          </a:xfrm>
          <a:prstGeom prst="line">
            <a:avLst/>
          </a:prstGeom>
          <a:ln w="15875">
            <a:solidFill>
              <a:srgbClr val="334477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5413248" y="2770632"/>
            <a:ext cx="393192" cy="155448"/>
          </a:xfrm>
          <a:prstGeom prst="line">
            <a:avLst/>
          </a:prstGeom>
          <a:ln w="15875">
            <a:solidFill>
              <a:srgbClr val="3344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6492240" y="2770632"/>
            <a:ext cx="566928" cy="155448"/>
          </a:xfrm>
          <a:prstGeom prst="line">
            <a:avLst/>
          </a:prstGeom>
          <a:ln w="15875">
            <a:solidFill>
              <a:srgbClr val="3344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413248" y="3493008"/>
            <a:ext cx="0" cy="210312"/>
          </a:xfrm>
          <a:prstGeom prst="line">
            <a:avLst/>
          </a:prstGeom>
          <a:ln w="15875">
            <a:solidFill>
              <a:srgbClr val="334477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7059168" y="3493008"/>
            <a:ext cx="0" cy="210312"/>
          </a:xfrm>
          <a:prstGeom prst="line">
            <a:avLst/>
          </a:prstGeom>
          <a:ln w="15875">
            <a:solidFill>
              <a:srgbClr val="334477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413248" y="4206240"/>
            <a:ext cx="0" cy="182880"/>
          </a:xfrm>
          <a:prstGeom prst="line">
            <a:avLst/>
          </a:prstGeom>
          <a:ln w="15875">
            <a:solidFill>
              <a:srgbClr val="3344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7059168" y="4206240"/>
            <a:ext cx="0" cy="182880"/>
          </a:xfrm>
          <a:prstGeom prst="line">
            <a:avLst/>
          </a:prstGeom>
          <a:ln w="15875">
            <a:solidFill>
              <a:srgbClr val="3344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4110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7D778-AF68-B1FC-30C0-5A8B8D237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4">
            <a:extLst>
              <a:ext uri="{FF2B5EF4-FFF2-40B4-BE49-F238E27FC236}">
                <a16:creationId xmlns:a16="http://schemas.microsoft.com/office/drawing/2014/main" id="{D22405AB-904F-63B0-93DF-4ED4C3A0533D}"/>
              </a:ext>
            </a:extLst>
          </p:cNvPr>
          <p:cNvGrpSpPr>
            <a:grpSpLocks/>
          </p:cNvGrpSpPr>
          <p:nvPr/>
        </p:nvGrpSpPr>
        <p:grpSpPr bwMode="auto">
          <a:xfrm>
            <a:off x="0" y="6305550"/>
            <a:ext cx="9144000" cy="400050"/>
            <a:chOff x="0" y="3546"/>
            <a:chExt cx="5760" cy="684"/>
          </a:xfrm>
        </p:grpSpPr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812858A9-6D4B-B317-48EF-5A708A02EC4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0" y="3546"/>
              <a:ext cx="5760" cy="679"/>
            </a:xfrm>
            <a:prstGeom prst="rect">
              <a:avLst/>
            </a:prstGeom>
            <a:solidFill>
              <a:srgbClr val="BAC4D8">
                <a:alpha val="60001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  <p:sp>
          <p:nvSpPr>
            <p:cNvPr id="13" name="Rectangle 6">
              <a:extLst>
                <a:ext uri="{FF2B5EF4-FFF2-40B4-BE49-F238E27FC236}">
                  <a16:creationId xmlns:a16="http://schemas.microsoft.com/office/drawing/2014/main" id="{32A5A3AB-B1D9-12FA-F561-6E0F36A9973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0" y="3551"/>
              <a:ext cx="5760" cy="679"/>
            </a:xfrm>
            <a:prstGeom prst="rect">
              <a:avLst/>
            </a:prstGeom>
            <a:solidFill>
              <a:schemeClr val="bg1">
                <a:alpha val="60001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</p:grpSp>
      <p:grpSp>
        <p:nvGrpSpPr>
          <p:cNvPr id="16" name="Group 8">
            <a:extLst>
              <a:ext uri="{FF2B5EF4-FFF2-40B4-BE49-F238E27FC236}">
                <a16:creationId xmlns:a16="http://schemas.microsoft.com/office/drawing/2014/main" id="{E23A1FFA-8526-3CF0-0214-CD7A506DC64E}"/>
              </a:ext>
            </a:extLst>
          </p:cNvPr>
          <p:cNvGrpSpPr>
            <a:grpSpLocks/>
          </p:cNvGrpSpPr>
          <p:nvPr/>
        </p:nvGrpSpPr>
        <p:grpSpPr bwMode="auto">
          <a:xfrm>
            <a:off x="0" y="209550"/>
            <a:ext cx="9144000" cy="1085850"/>
            <a:chOff x="0" y="-726"/>
            <a:chExt cx="5760" cy="684"/>
          </a:xfrm>
        </p:grpSpPr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0C6CC2A8-912E-999E-5003-8DFDDD42341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0" y="-726"/>
              <a:ext cx="5760" cy="678"/>
            </a:xfrm>
            <a:prstGeom prst="rect">
              <a:avLst/>
            </a:prstGeom>
            <a:solidFill>
              <a:srgbClr val="96A5C4">
                <a:alpha val="60001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  <p:sp>
          <p:nvSpPr>
            <p:cNvPr id="18" name="Rectangle 10">
              <a:extLst>
                <a:ext uri="{FF2B5EF4-FFF2-40B4-BE49-F238E27FC236}">
                  <a16:creationId xmlns:a16="http://schemas.microsoft.com/office/drawing/2014/main" id="{94953508-C056-EA4C-C060-C81FB017E44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0" y="-720"/>
              <a:ext cx="5760" cy="678"/>
            </a:xfrm>
            <a:prstGeom prst="rect">
              <a:avLst/>
            </a:prstGeom>
            <a:solidFill>
              <a:schemeClr val="bg1">
                <a:alpha val="31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06E8A26C-2F78-4A17-D33D-5DA21845F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i="1" dirty="0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 </a:t>
            </a:r>
            <a:r>
              <a:rPr lang="pt-BR" sz="4000" i="1" dirty="0" err="1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Patterns</a:t>
            </a:r>
            <a:r>
              <a:rPr lang="pt-BR" sz="4000" i="1" dirty="0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195F881-3416-FD67-C39E-09BD67B80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1"/>
            <a:ext cx="8229599" cy="433766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400" b="1" i="1" dirty="0">
                <a:solidFill>
                  <a:srgbClr val="333399"/>
                </a:solidFill>
              </a:rPr>
              <a:t>Padrões de Projeto Orientado a Objetos</a:t>
            </a:r>
            <a:endParaRPr lang="pt-BR" sz="2400" b="1" dirty="0">
              <a:solidFill>
                <a:srgbClr val="333399"/>
              </a:solidFill>
            </a:endParaRPr>
          </a:p>
          <a:p>
            <a:pPr marL="57150" indent="0" algn="just">
              <a:buNone/>
            </a:pPr>
            <a:endParaRPr lang="pt-BR" sz="1800" dirty="0">
              <a:solidFill>
                <a:srgbClr val="333399"/>
              </a:solidFill>
            </a:endParaRPr>
          </a:p>
          <a:p>
            <a:pPr marL="57150" indent="0" algn="just">
              <a:buNone/>
            </a:pPr>
            <a:r>
              <a:rPr lang="pt-BR" sz="2400" b="1" dirty="0">
                <a:solidFill>
                  <a:srgbClr val="333399"/>
                </a:solidFill>
              </a:rPr>
              <a:t>Padrões Criacionais: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i="1" dirty="0">
                <a:solidFill>
                  <a:srgbClr val="333399"/>
                </a:solidFill>
              </a:rPr>
              <a:t>Abstract Factory</a:t>
            </a:r>
            <a:endParaRPr lang="en-US" sz="2000" i="1" dirty="0">
              <a:solidFill>
                <a:srgbClr val="333399"/>
              </a:solidFill>
            </a:endParaRPr>
          </a:p>
          <a:p>
            <a:pPr lvl="2" algn="just">
              <a:buFont typeface="Wingdings" panose="05000000000000000000" pitchFamily="2" charset="2"/>
              <a:buChar char="ü"/>
            </a:pPr>
            <a:r>
              <a:rPr lang="en-US" sz="1800" b="1" u="sng" dirty="0" err="1">
                <a:solidFill>
                  <a:srgbClr val="333399"/>
                </a:solidFill>
              </a:rPr>
              <a:t>Exemplo</a:t>
            </a:r>
            <a:r>
              <a:rPr lang="en-US" sz="1800" b="1" u="sng" dirty="0">
                <a:solidFill>
                  <a:srgbClr val="333399"/>
                </a:solidFill>
              </a:rPr>
              <a:t> de Código</a:t>
            </a:r>
            <a:r>
              <a:rPr lang="en-US" sz="1800" b="1" dirty="0">
                <a:solidFill>
                  <a:srgbClr val="333399"/>
                </a:solidFill>
              </a:rPr>
              <a:t>: </a:t>
            </a:r>
          </a:p>
          <a:p>
            <a:pPr lvl="2" algn="just">
              <a:buFont typeface="Wingdings" panose="05000000000000000000" pitchFamily="2" charset="2"/>
              <a:buChar char="ü"/>
            </a:pPr>
            <a:endParaRPr lang="pt-BR" sz="1800" dirty="0">
              <a:solidFill>
                <a:srgbClr val="333399"/>
              </a:solidFill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DD911A3-EEB2-365D-51B9-9995178A9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C95A-2AF6-49B0-BE51-226E5A34C307}" type="slidenum">
              <a:rPr lang="pt-BR" smtClean="0"/>
              <a:t>5</a:t>
            </a:fld>
            <a:endParaRPr lang="pt-BR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C10B1C1B-3878-7851-DD82-29C41BB12A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09" y="328339"/>
            <a:ext cx="514732" cy="792000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92375872-45C1-6D18-131D-BBF3B40502E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286" y="567712"/>
            <a:ext cx="1200000" cy="360000"/>
          </a:xfrm>
          <a:prstGeom prst="rect">
            <a:avLst/>
          </a:prstGeom>
        </p:spPr>
      </p:pic>
      <p:sp>
        <p:nvSpPr>
          <p:cNvPr id="6" name="Rectangle 14">
            <a:extLst>
              <a:ext uri="{FF2B5EF4-FFF2-40B4-BE49-F238E27FC236}">
                <a16:creationId xmlns:a16="http://schemas.microsoft.com/office/drawing/2014/main" id="{ED912FF9-6581-2942-327B-109A119707F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356350"/>
            <a:ext cx="3752056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1" u="none">
                <a:solidFill>
                  <a:srgbClr val="83A5D7"/>
                </a:solidFill>
                <a:latin typeface="Arial" charset="0"/>
              </a:defRPr>
            </a:lvl1pPr>
          </a:lstStyle>
          <a:p>
            <a:pPr algn="just"/>
            <a:r>
              <a:rPr lang="en-US" i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Marcus Paulo — marcuspaulodev@gmail.com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2331720"/>
            <a:ext cx="4160520" cy="4160520"/>
          </a:xfrm>
          <a:prstGeom prst="rect">
            <a:avLst/>
          </a:prstGeom>
          <a:solidFill>
            <a:srgbClr val="1E1E1E"/>
          </a:solidFill>
        </p:spPr>
        <p:txBody>
          <a:bodyPr wrap="square" lIns="76200" rIns="76200" tIns="76200" bIns="76200">
            <a:spAutoFit/>
          </a:bodyPr>
          <a:lstStyle/>
          <a:p>
            <a:r>
              <a:rPr sz="1150">
                <a:solidFill>
                  <a:srgbClr val="6A9955"/>
                </a:solidFill>
                <a:latin typeface="Consolas"/>
              </a:rPr>
              <a:t>// GUIFactory.java  (Abstract Factory)</a:t>
            </a:r>
          </a:p>
          <a:p>
            <a:r>
              <a:rPr sz="1150">
                <a:solidFill>
                  <a:srgbClr val="DCDCAA"/>
                </a:solidFill>
                <a:latin typeface="Consolas"/>
              </a:rPr>
              <a:t>public interface GUIFactory {</a:t>
            </a:r>
          </a:p>
          <a:p>
            <a:r>
              <a:rPr sz="1150">
                <a:solidFill>
                  <a:srgbClr val="DCDCAA"/>
                </a:solidFill>
                <a:latin typeface="Consolas"/>
              </a:rPr>
              <a:t>    Button createButton();</a:t>
            </a:r>
          </a:p>
          <a:p>
            <a:r>
              <a:rPr sz="1150">
                <a:solidFill>
                  <a:srgbClr val="DCDCAA"/>
                </a:solidFill>
                <a:latin typeface="Consolas"/>
              </a:rPr>
              <a:t>    Checkbox createCheckbox();</a:t>
            </a:r>
          </a:p>
          <a:p>
            <a:r>
              <a:rPr sz="1150">
                <a:solidFill>
                  <a:srgbClr val="DCDCAA"/>
                </a:solidFill>
                <a:latin typeface="Consolas"/>
              </a:rPr>
              <a:t>}</a:t>
            </a:r>
          </a:p>
          <a:p>
            <a:r>
              <a:rPr sz="1150">
                <a:solidFill>
                  <a:srgbClr val="FFFFFF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6A9955"/>
                </a:solidFill>
                <a:latin typeface="Consolas"/>
              </a:rPr>
              <a:t>// WindowsFactory.java  (Concrete Factory)</a:t>
            </a:r>
          </a:p>
          <a:p>
            <a:r>
              <a:rPr sz="1150">
                <a:solidFill>
                  <a:srgbClr val="DCDCAA"/>
                </a:solidFill>
                <a:latin typeface="Consolas"/>
              </a:rPr>
              <a:t>public class WindowsFactory implements GUIFactory {</a:t>
            </a:r>
          </a:p>
          <a:p>
            <a:r>
              <a:rPr sz="1150">
                <a:solidFill>
                  <a:srgbClr val="DCDCAA"/>
                </a:solidFill>
                <a:latin typeface="Consolas"/>
              </a:rPr>
              <a:t>    public Button createButton() {</a:t>
            </a:r>
          </a:p>
          <a:p>
            <a:r>
              <a:rPr sz="1150">
                <a:solidFill>
                  <a:srgbClr val="9CDCFE"/>
                </a:solidFill>
                <a:latin typeface="Consolas"/>
              </a:rPr>
              <a:t>        return new WindowsButton();</a:t>
            </a:r>
          </a:p>
          <a:p>
            <a:r>
              <a:rPr sz="1150">
                <a:solidFill>
                  <a:srgbClr val="DCDCAA"/>
                </a:solidFill>
                <a:latin typeface="Consolas"/>
              </a:rPr>
              <a:t>    }</a:t>
            </a:r>
          </a:p>
          <a:p>
            <a:r>
              <a:rPr sz="1150">
                <a:solidFill>
                  <a:srgbClr val="DCDCAA"/>
                </a:solidFill>
                <a:latin typeface="Consolas"/>
              </a:rPr>
              <a:t>    public Checkbox createCheckbox() {</a:t>
            </a:r>
          </a:p>
          <a:p>
            <a:r>
              <a:rPr sz="1150">
                <a:solidFill>
                  <a:srgbClr val="9CDCFE"/>
                </a:solidFill>
                <a:latin typeface="Consolas"/>
              </a:rPr>
              <a:t>        return new WindowsCheckbox();</a:t>
            </a:r>
          </a:p>
          <a:p>
            <a:r>
              <a:rPr sz="1150">
                <a:solidFill>
                  <a:srgbClr val="DCDCAA"/>
                </a:solidFill>
                <a:latin typeface="Consolas"/>
              </a:rPr>
              <a:t>    }</a:t>
            </a:r>
          </a:p>
          <a:p>
            <a:r>
              <a:rPr sz="1150">
                <a:solidFill>
                  <a:srgbClr val="DCDCAA"/>
                </a:solidFill>
                <a:latin typeface="Consolas"/>
              </a:rPr>
              <a:t>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2331720"/>
            <a:ext cx="4023360" cy="4160520"/>
          </a:xfrm>
          <a:prstGeom prst="rect">
            <a:avLst/>
          </a:prstGeom>
          <a:solidFill>
            <a:srgbClr val="1E1E1E"/>
          </a:solidFill>
        </p:spPr>
        <p:txBody>
          <a:bodyPr wrap="square" lIns="76200" rIns="76200" tIns="76200" bIns="76200">
            <a:spAutoFit/>
          </a:bodyPr>
          <a:lstStyle/>
          <a:p>
            <a:r>
              <a:rPr sz="1150">
                <a:solidFill>
                  <a:srgbClr val="6A9955"/>
                </a:solidFill>
                <a:latin typeface="Consolas"/>
              </a:rPr>
              <a:t>// Main.java  (codigo cliente)</a:t>
            </a:r>
          </a:p>
          <a:p>
            <a:r>
              <a:rPr sz="1150">
                <a:solidFill>
                  <a:srgbClr val="DCDCAA"/>
                </a:solidFill>
                <a:latin typeface="Consolas"/>
              </a:rPr>
              <a:t>GUIFactory factory = os.contains("mac")</a:t>
            </a:r>
          </a:p>
          <a:p>
            <a:r>
              <a:rPr sz="1150">
                <a:solidFill>
                  <a:srgbClr val="DCDCAA"/>
                </a:solidFill>
                <a:latin typeface="Consolas"/>
              </a:rPr>
              <a:t>    ? new MacFactory()</a:t>
            </a:r>
          </a:p>
          <a:p>
            <a:r>
              <a:rPr sz="1150">
                <a:solidFill>
                  <a:srgbClr val="DCDCAA"/>
                </a:solidFill>
                <a:latin typeface="Consolas"/>
              </a:rPr>
              <a:t>    : new WindowsFactory();</a:t>
            </a:r>
          </a:p>
          <a:p>
            <a:r>
              <a:rPr sz="1150">
                <a:solidFill>
                  <a:srgbClr val="FFFFFF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6A9955"/>
                </a:solidFill>
                <a:latin typeface="Consolas"/>
              </a:rPr>
              <a:t>// Application so conhece as interfaces:</a:t>
            </a:r>
          </a:p>
          <a:p>
            <a:r>
              <a:rPr sz="1150">
                <a:solidFill>
                  <a:srgbClr val="6A9955"/>
                </a:solidFill>
                <a:latin typeface="Consolas"/>
              </a:rPr>
              <a:t>// nao sabe se e Windows ou Mac.</a:t>
            </a:r>
          </a:p>
          <a:p>
            <a:r>
              <a:rPr sz="1150">
                <a:solidFill>
                  <a:srgbClr val="DCDCAA"/>
                </a:solidFill>
                <a:latin typeface="Consolas"/>
              </a:rPr>
              <a:t>Application app = new Application(factory);</a:t>
            </a:r>
          </a:p>
          <a:p>
            <a:r>
              <a:rPr sz="1150">
                <a:solidFill>
                  <a:srgbClr val="DCDCAA"/>
                </a:solidFill>
                <a:latin typeface="Consolas"/>
              </a:rPr>
              <a:t>app.render();</a:t>
            </a:r>
          </a:p>
          <a:p>
            <a:r>
              <a:rPr sz="1150">
                <a:solidFill>
                  <a:srgbClr val="FFFFFF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6A9955"/>
                </a:solidFill>
                <a:latin typeface="Consolas"/>
              </a:rPr>
              <a:t>// Saida (variante windows):</a:t>
            </a:r>
          </a:p>
          <a:p>
            <a:r>
              <a:rPr sz="1150">
                <a:solidFill>
                  <a:srgbClr val="606060"/>
                </a:solidFill>
                <a:latin typeface="Consolas"/>
              </a:rPr>
              <a:t>// [Windows] Renderizando botao...</a:t>
            </a:r>
          </a:p>
          <a:p>
            <a:r>
              <a:rPr sz="1150">
                <a:solidFill>
                  <a:srgbClr val="606060"/>
                </a:solidFill>
                <a:latin typeface="Consolas"/>
              </a:rPr>
              <a:t>// [Windows] Renderizando checkbox...</a:t>
            </a:r>
          </a:p>
          <a:p>
            <a:r>
              <a:rPr sz="1150">
                <a:solidFill>
                  <a:srgbClr val="FFFFFF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6A9955"/>
                </a:solidFill>
                <a:latin typeface="Consolas"/>
              </a:rPr>
              <a:t>// Saida (variante mac):</a:t>
            </a:r>
          </a:p>
          <a:p>
            <a:r>
              <a:rPr sz="1150">
                <a:solidFill>
                  <a:srgbClr val="606060"/>
                </a:solidFill>
                <a:latin typeface="Consolas"/>
              </a:rPr>
              <a:t>// [Mac] Renderizando botao...</a:t>
            </a:r>
          </a:p>
          <a:p>
            <a:r>
              <a:rPr sz="1150">
                <a:solidFill>
                  <a:srgbClr val="606060"/>
                </a:solidFill>
                <a:latin typeface="Consolas"/>
              </a:rPr>
              <a:t>// [Mac] Renderizando checkbox...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192024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/>
              <a:t>Codigo completo (11 classes/interfaces, com WindowsButton/Checkbox e MacButton/Checkbox) na pasta codigo/ do projeto.</a:t>
            </a:r>
          </a:p>
        </p:txBody>
      </p:sp>
    </p:spTree>
    <p:extLst>
      <p:ext uri="{BB962C8B-B14F-4D97-AF65-F5344CB8AC3E}">
        <p14:creationId xmlns:p14="http://schemas.microsoft.com/office/powerpoint/2010/main" val="1353790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4"/>
          <p:cNvGrpSpPr>
            <a:grpSpLocks/>
          </p:cNvGrpSpPr>
          <p:nvPr/>
        </p:nvGrpSpPr>
        <p:grpSpPr bwMode="auto">
          <a:xfrm>
            <a:off x="0" y="6305550"/>
            <a:ext cx="9144000" cy="400050"/>
            <a:chOff x="0" y="3546"/>
            <a:chExt cx="5760" cy="684"/>
          </a:xfrm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0" y="3546"/>
              <a:ext cx="5760" cy="679"/>
            </a:xfrm>
            <a:prstGeom prst="rect">
              <a:avLst/>
            </a:prstGeom>
            <a:solidFill>
              <a:srgbClr val="BAC4D8">
                <a:alpha val="60001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  <p:sp>
          <p:nvSpPr>
            <p:cNvPr id="13" name="Rectangle 6"/>
            <p:cNvSpPr>
              <a:spLocks noChangeArrowheads="1"/>
            </p:cNvSpPr>
            <p:nvPr userDrawn="1"/>
          </p:nvSpPr>
          <p:spPr bwMode="auto">
            <a:xfrm>
              <a:off x="0" y="3551"/>
              <a:ext cx="5760" cy="679"/>
            </a:xfrm>
            <a:prstGeom prst="rect">
              <a:avLst/>
            </a:prstGeom>
            <a:solidFill>
              <a:schemeClr val="bg1">
                <a:alpha val="60001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</p:grpSp>
      <p:grpSp>
        <p:nvGrpSpPr>
          <p:cNvPr id="16" name="Group 8"/>
          <p:cNvGrpSpPr>
            <a:grpSpLocks/>
          </p:cNvGrpSpPr>
          <p:nvPr/>
        </p:nvGrpSpPr>
        <p:grpSpPr bwMode="auto">
          <a:xfrm>
            <a:off x="0" y="209550"/>
            <a:ext cx="9144000" cy="1085850"/>
            <a:chOff x="0" y="-726"/>
            <a:chExt cx="5760" cy="684"/>
          </a:xfrm>
        </p:grpSpPr>
        <p:sp>
          <p:nvSpPr>
            <p:cNvPr id="17" name="Rectangle 9"/>
            <p:cNvSpPr>
              <a:spLocks noChangeArrowheads="1"/>
            </p:cNvSpPr>
            <p:nvPr userDrawn="1"/>
          </p:nvSpPr>
          <p:spPr bwMode="auto">
            <a:xfrm>
              <a:off x="0" y="-726"/>
              <a:ext cx="5760" cy="678"/>
            </a:xfrm>
            <a:prstGeom prst="rect">
              <a:avLst/>
            </a:prstGeom>
            <a:solidFill>
              <a:srgbClr val="96A5C4">
                <a:alpha val="60001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  <p:sp>
          <p:nvSpPr>
            <p:cNvPr id="18" name="Rectangle 10"/>
            <p:cNvSpPr>
              <a:spLocks noChangeArrowheads="1"/>
            </p:cNvSpPr>
            <p:nvPr userDrawn="1"/>
          </p:nvSpPr>
          <p:spPr bwMode="auto">
            <a:xfrm>
              <a:off x="0" y="-720"/>
              <a:ext cx="5760" cy="678"/>
            </a:xfrm>
            <a:prstGeom prst="rect">
              <a:avLst/>
            </a:prstGeom>
            <a:solidFill>
              <a:schemeClr val="bg1">
                <a:alpha val="31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i="1" dirty="0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 </a:t>
            </a:r>
            <a:r>
              <a:rPr lang="pt-BR" sz="4000" i="1" dirty="0" err="1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Patterns</a:t>
            </a:r>
            <a:r>
              <a:rPr lang="pt-BR" sz="4000" i="1" dirty="0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F4AECB-AAC1-46E3-AF09-A631E4BCB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33766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400" b="1" i="1" dirty="0">
                <a:solidFill>
                  <a:srgbClr val="333399"/>
                </a:solidFill>
              </a:rPr>
              <a:t>Padrões de Projeto Orientado a Objetos</a:t>
            </a:r>
            <a:endParaRPr lang="pt-BR" sz="2400" b="1" dirty="0">
              <a:solidFill>
                <a:srgbClr val="333399"/>
              </a:solidFill>
            </a:endParaRPr>
          </a:p>
          <a:p>
            <a:pPr marL="57150" indent="0" algn="just">
              <a:buNone/>
            </a:pPr>
            <a:endParaRPr lang="pt-BR" sz="1800" dirty="0">
              <a:solidFill>
                <a:srgbClr val="333399"/>
              </a:solidFill>
            </a:endParaRPr>
          </a:p>
          <a:p>
            <a:pPr marL="57150" indent="0" algn="just">
              <a:buNone/>
            </a:pPr>
            <a:r>
              <a:rPr lang="pt-BR" sz="2400" b="1" dirty="0">
                <a:solidFill>
                  <a:srgbClr val="333399"/>
                </a:solidFill>
              </a:rPr>
              <a:t>Padrões Criacionais: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i="1" dirty="0">
                <a:solidFill>
                  <a:srgbClr val="333399"/>
                </a:solidFill>
              </a:rPr>
              <a:t>Abstract Factory</a:t>
            </a:r>
            <a:endParaRPr lang="en-US" sz="2000" i="1" dirty="0">
              <a:solidFill>
                <a:srgbClr val="333399"/>
              </a:solidFill>
            </a:endParaRPr>
          </a:p>
          <a:p>
            <a:pPr lvl="2" algn="just">
              <a:buFont typeface="Wingdings" panose="05000000000000000000" pitchFamily="2" charset="2"/>
              <a:buChar char="ü"/>
            </a:pPr>
            <a:r>
              <a:rPr lang="en-US" sz="1800" u="sng" dirty="0" err="1">
                <a:solidFill>
                  <a:srgbClr val="333399"/>
                </a:solidFill>
              </a:rPr>
              <a:t>Aplicabilidade</a:t>
            </a:r>
            <a:r>
              <a:rPr lang="en-US" sz="1800" dirty="0">
                <a:solidFill>
                  <a:srgbClr val="333399"/>
                </a:solidFill>
              </a:rPr>
              <a:t>: </a:t>
            </a:r>
          </a:p>
          <a:p>
            <a:pPr lvl="3" algn="just">
              <a:buFont typeface="Wingdings" panose="05000000000000000000" pitchFamily="2" charset="2"/>
              <a:buChar char="§"/>
            </a:pPr>
            <a:r>
              <a:rPr lang="pt-BR" sz="1400" dirty="0">
                <a:solidFill>
                  <a:srgbClr val="333399"/>
                </a:solidFill>
              </a:rPr>
              <a:t>Quando o sistema deve ser independente de como seus produtos sao criados, compostos e representados;</a:t>
            </a:r>
          </a:p>
          <a:p>
            <a:pPr lvl="3" algn="just">
              <a:buFont typeface="Wingdings" panose="05000000000000000000" pitchFamily="2" charset="2"/>
              <a:buChar char="§"/>
            </a:pPr>
            <a:r>
              <a:rPr lang="pt-BR" sz="1400" dirty="0">
                <a:solidFill>
                  <a:srgbClr val="333399"/>
                </a:solidFill>
              </a:rPr>
              <a:t>Quando o sistema precisa ser configurado com uma entre varias familias de produtos (ex.: temas de UI, drivers, fornecedores de nuvem);</a:t>
            </a:r>
          </a:p>
          <a:p>
            <a:pPr lvl="3" algn="just">
              <a:buFont typeface="Wingdings" panose="05000000000000000000" pitchFamily="2" charset="2"/>
              <a:buChar char="§"/>
            </a:pPr>
            <a:r>
              <a:rPr lang="pt-BR" sz="1400" dirty="0">
                <a:solidFill>
                  <a:srgbClr val="333399"/>
                </a:solidFill>
              </a:rPr>
              <a:t>Quando voce quer fornecer uma biblioteca de produtos revelando apenas as interfaces, nao as implementacoes;</a:t>
            </a:r>
          </a:p>
          <a:p>
            <a:pPr lvl="3" algn="just">
              <a:buFont typeface="Wingdings" panose="05000000000000000000" pitchFamily="2" charset="2"/>
              <a:buChar char="§"/>
            </a:pPr>
            <a:r>
              <a:rPr lang="pt-BR" sz="1400" dirty="0">
                <a:solidFill>
                  <a:srgbClr val="333399"/>
                </a:solidFill>
              </a:rPr>
              <a:t>Quando e essencial garantir que os produtos usados juntos sejam sempre compativeis entre si (familia consistente).</a:t>
            </a:r>
            <a:endParaRPr lang="en-US" sz="1400" dirty="0">
              <a:solidFill>
                <a:srgbClr val="333399"/>
              </a:solidFill>
            </a:endParaRPr>
          </a:p>
          <a:p>
            <a:pPr lvl="2" algn="just">
              <a:buFont typeface="Wingdings" panose="05000000000000000000" pitchFamily="2" charset="2"/>
              <a:buChar char="ü"/>
            </a:pPr>
            <a:endParaRPr lang="pt-BR" sz="1800" dirty="0">
              <a:solidFill>
                <a:srgbClr val="333399"/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C95A-2AF6-49B0-BE51-226E5A34C307}" type="slidenum">
              <a:rPr lang="pt-BR" smtClean="0"/>
              <a:t>6</a:t>
            </a:fld>
            <a:endParaRPr lang="pt-BR" dirty="0"/>
          </a:p>
        </p:txBody>
      </p:sp>
      <p:pic>
        <p:nvPicPr>
          <p:cNvPr id="15" name="Imagem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09" y="328339"/>
            <a:ext cx="514732" cy="792000"/>
          </a:xfrm>
          <a:prstGeom prst="rect">
            <a:avLst/>
          </a:prstGeom>
        </p:spPr>
      </p:pic>
      <p:pic>
        <p:nvPicPr>
          <p:cNvPr id="23" name="Imagem 2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286" y="567712"/>
            <a:ext cx="1200000" cy="360000"/>
          </a:xfrm>
          <a:prstGeom prst="rect">
            <a:avLst/>
          </a:prstGeom>
        </p:spPr>
      </p:pic>
      <p:sp>
        <p:nvSpPr>
          <p:cNvPr id="5" name="Rectangle 14">
            <a:extLst>
              <a:ext uri="{FF2B5EF4-FFF2-40B4-BE49-F238E27FC236}">
                <a16:creationId xmlns:a16="http://schemas.microsoft.com/office/drawing/2014/main" id="{19D190A5-4B0B-0CC4-B09F-E91B114009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356350"/>
            <a:ext cx="3752056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1" u="none">
                <a:solidFill>
                  <a:srgbClr val="83A5D7"/>
                </a:solidFill>
                <a:latin typeface="Arial" charset="0"/>
              </a:defRPr>
            </a:lvl1pPr>
          </a:lstStyle>
          <a:p>
            <a:pPr algn="just"/>
            <a:r>
              <a:rPr lang="en-US" i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Marcus Paulo — marcuspaulodev@gmail.com</a:t>
            </a:r>
          </a:p>
        </p:txBody>
      </p:sp>
    </p:spTree>
    <p:extLst>
      <p:ext uri="{BB962C8B-B14F-4D97-AF65-F5344CB8AC3E}">
        <p14:creationId xmlns:p14="http://schemas.microsoft.com/office/powerpoint/2010/main" val="210780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4"/>
          <p:cNvGrpSpPr>
            <a:grpSpLocks/>
          </p:cNvGrpSpPr>
          <p:nvPr/>
        </p:nvGrpSpPr>
        <p:grpSpPr bwMode="auto">
          <a:xfrm>
            <a:off x="0" y="6305550"/>
            <a:ext cx="9144000" cy="400050"/>
            <a:chOff x="0" y="3546"/>
            <a:chExt cx="5760" cy="684"/>
          </a:xfrm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0" y="3546"/>
              <a:ext cx="5760" cy="679"/>
            </a:xfrm>
            <a:prstGeom prst="rect">
              <a:avLst/>
            </a:prstGeom>
            <a:solidFill>
              <a:srgbClr val="BAC4D8">
                <a:alpha val="60001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  <p:sp>
          <p:nvSpPr>
            <p:cNvPr id="13" name="Rectangle 6"/>
            <p:cNvSpPr>
              <a:spLocks noChangeArrowheads="1"/>
            </p:cNvSpPr>
            <p:nvPr userDrawn="1"/>
          </p:nvSpPr>
          <p:spPr bwMode="auto">
            <a:xfrm>
              <a:off x="0" y="3551"/>
              <a:ext cx="5760" cy="679"/>
            </a:xfrm>
            <a:prstGeom prst="rect">
              <a:avLst/>
            </a:prstGeom>
            <a:solidFill>
              <a:schemeClr val="bg1">
                <a:alpha val="60001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</p:grpSp>
      <p:grpSp>
        <p:nvGrpSpPr>
          <p:cNvPr id="16" name="Group 8"/>
          <p:cNvGrpSpPr>
            <a:grpSpLocks/>
          </p:cNvGrpSpPr>
          <p:nvPr/>
        </p:nvGrpSpPr>
        <p:grpSpPr bwMode="auto">
          <a:xfrm>
            <a:off x="0" y="209550"/>
            <a:ext cx="9144000" cy="1085850"/>
            <a:chOff x="0" y="-726"/>
            <a:chExt cx="5760" cy="684"/>
          </a:xfrm>
        </p:grpSpPr>
        <p:sp>
          <p:nvSpPr>
            <p:cNvPr id="17" name="Rectangle 9"/>
            <p:cNvSpPr>
              <a:spLocks noChangeArrowheads="1"/>
            </p:cNvSpPr>
            <p:nvPr userDrawn="1"/>
          </p:nvSpPr>
          <p:spPr bwMode="auto">
            <a:xfrm>
              <a:off x="0" y="-726"/>
              <a:ext cx="5760" cy="678"/>
            </a:xfrm>
            <a:prstGeom prst="rect">
              <a:avLst/>
            </a:prstGeom>
            <a:solidFill>
              <a:srgbClr val="96A5C4">
                <a:alpha val="60001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  <p:sp>
          <p:nvSpPr>
            <p:cNvPr id="18" name="Rectangle 10"/>
            <p:cNvSpPr>
              <a:spLocks noChangeArrowheads="1"/>
            </p:cNvSpPr>
            <p:nvPr userDrawn="1"/>
          </p:nvSpPr>
          <p:spPr bwMode="auto">
            <a:xfrm>
              <a:off x="0" y="-720"/>
              <a:ext cx="5760" cy="678"/>
            </a:xfrm>
            <a:prstGeom prst="rect">
              <a:avLst/>
            </a:prstGeom>
            <a:solidFill>
              <a:schemeClr val="bg1">
                <a:alpha val="31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i="1" dirty="0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 </a:t>
            </a:r>
            <a:r>
              <a:rPr lang="pt-BR" sz="4000" i="1" dirty="0" err="1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Patterns</a:t>
            </a:r>
            <a:r>
              <a:rPr lang="pt-BR" sz="4000" i="1" dirty="0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F4AECB-AAC1-46E3-AF09-A631E4BCB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33766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400" b="1" i="1" dirty="0">
                <a:solidFill>
                  <a:srgbClr val="333399"/>
                </a:solidFill>
              </a:rPr>
              <a:t>Padrões de Projeto Orientado a Objetos</a:t>
            </a:r>
            <a:endParaRPr lang="pt-BR" sz="2400" b="1" dirty="0">
              <a:solidFill>
                <a:srgbClr val="333399"/>
              </a:solidFill>
            </a:endParaRPr>
          </a:p>
          <a:p>
            <a:pPr marL="57150" indent="0" algn="just">
              <a:buNone/>
            </a:pPr>
            <a:endParaRPr lang="pt-BR" sz="1800" dirty="0">
              <a:solidFill>
                <a:srgbClr val="333399"/>
              </a:solidFill>
            </a:endParaRPr>
          </a:p>
          <a:p>
            <a:pPr marL="57150" indent="0" algn="just">
              <a:buNone/>
            </a:pPr>
            <a:r>
              <a:rPr lang="pt-BR" sz="2400" b="1" dirty="0">
                <a:solidFill>
                  <a:srgbClr val="333399"/>
                </a:solidFill>
              </a:rPr>
              <a:t>Padrões Criacionais:</a:t>
            </a:r>
          </a:p>
          <a:p>
            <a:r>
              <a:rPr b="0" sz="2000" i="1"/>
              <a:t>Abstract Factory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C95A-2AF6-49B0-BE51-226E5A34C307}" type="slidenum">
              <a:rPr lang="pt-BR" smtClean="0"/>
              <a:t>7</a:t>
            </a:fld>
            <a:endParaRPr lang="pt-BR" dirty="0"/>
          </a:p>
        </p:txBody>
      </p:sp>
      <p:pic>
        <p:nvPicPr>
          <p:cNvPr id="15" name="Imagem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09" y="328339"/>
            <a:ext cx="514732" cy="792000"/>
          </a:xfrm>
          <a:prstGeom prst="rect">
            <a:avLst/>
          </a:prstGeom>
        </p:spPr>
      </p:pic>
      <p:pic>
        <p:nvPicPr>
          <p:cNvPr id="23" name="Imagem 2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286" y="567712"/>
            <a:ext cx="1200000" cy="360000"/>
          </a:xfrm>
          <a:prstGeom prst="rect">
            <a:avLst/>
          </a:prstGeom>
        </p:spPr>
      </p:pic>
      <p:graphicFrame>
        <p:nvGraphicFramePr>
          <p:cNvPr id="6" name="Tabela 6">
            <a:extLst>
              <a:ext uri="{FF2B5EF4-FFF2-40B4-BE49-F238E27FC236}">
                <a16:creationId xmlns:a16="http://schemas.microsoft.com/office/drawing/2014/main" id="{19AF9261-8EF8-490B-BB71-B2DC1BEC26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1361928"/>
              </p:ext>
            </p:extLst>
          </p:nvPr>
        </p:nvGraphicFramePr>
        <p:xfrm>
          <a:off x="457200" y="2852936"/>
          <a:ext cx="8229600" cy="181864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1474462612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0381406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/>
                        <a:t>PRÓS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dirty="0"/>
                        <a:t>CONTRAS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3667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algn="just">
                        <a:buFont typeface="Wingdings" panose="05000000000000000000" pitchFamily="2" charset="2"/>
                        <a:buChar char="ü"/>
                      </a:pPr>
                      <a:r>
                        <a:rPr lang="pt-BR" sz="1300" b="0" kern="1200" dirty="0">
                          <a:solidFill>
                            <a:schemeClr val="dk1"/>
                          </a:solidFill>
                          <a:effectLst/>
                        </a:rPr>
                        <a:t>Garante que os produtos criados por uma factory sejam sempre compativeis entre si.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Wingdings 2" panose="05020102010507070707" pitchFamily="18" charset="2"/>
                        <a:buChar char="O"/>
                      </a:pPr>
                      <a:r>
                        <a:rPr lang="pt-BR" sz="1300" b="0" kern="1200" dirty="0">
                          <a:solidFill>
                            <a:schemeClr val="dk1"/>
                          </a:solidFill>
                          <a:effectLst/>
                        </a:rPr>
                        <a:t>Aumenta a quantidade de interfaces e classes do sistema.</a:t>
                      </a:r>
                      <a:endParaRPr lang="pt-B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6487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algn="just">
                        <a:buFont typeface="Wingdings" panose="05000000000000000000" pitchFamily="2" charset="2"/>
                        <a:buChar char="ü"/>
                      </a:pPr>
                      <a:r>
                        <a:rPr lang="pt-BR" sz="1300" b="0" kern="1200" dirty="0">
                          <a:solidFill>
                            <a:schemeClr val="dk1"/>
                          </a:solidFill>
                          <a:effectLst/>
                        </a:rPr>
                        <a:t>Evita acoplar o codigo cliente as classes concretas dos produtos.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Wingdings 2" panose="05020102010507070707" pitchFamily="18" charset="2"/>
                        <a:buChar char="O"/>
                      </a:pPr>
                      <a:r>
                        <a:rPr lang="pt-BR" sz="1300" dirty="0"/>
                        <a:t>Adicionar um novo TIPO de produto exige alterar a interface e TODAS as factories concretas.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1256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algn="just">
                        <a:buFont typeface="Wingdings" panose="05000000000000000000" pitchFamily="2" charset="2"/>
                        <a:buChar char="ü"/>
                      </a:pPr>
                      <a:r>
                        <a:rPr lang="pt-BR" sz="1300" b="0" kern="1200" dirty="0">
                          <a:solidFill>
                            <a:schemeClr val="dk1"/>
                          </a:solidFill>
                          <a:effectLst/>
                        </a:rPr>
                        <a:t>Facilita trocar toda uma familia de produtos de uma vez (basta trocar a factory).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Wingdings 2" panose="05020102010507070707" pitchFamily="18" charset="2"/>
                        <a:buChar char="O"/>
                      </a:pPr>
                      <a:r>
                        <a:rPr lang="pt-BR" sz="1300" dirty="0"/>
                        <a:t>Pode ser complexidade desnecessaria quando existe apenas uma variante de produtos.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0627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algn="just">
                        <a:buFont typeface="Wingdings" panose="05000000000000000000" pitchFamily="2" charset="2"/>
                        <a:buChar char="ü"/>
                      </a:pPr>
                      <a:r>
                        <a:rPr lang="pt-BR" sz="1300" b="0" kern="1200" dirty="0">
                          <a:solidFill>
                            <a:schemeClr val="dk1"/>
                          </a:solidFill>
                          <a:effectLst/>
                        </a:rPr>
                        <a:t>Isola a logica de criacao em um so lugar (Single Responsibility Principle).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Wingdings 2" panose="05020102010507070707" pitchFamily="18" charset="2"/>
                        <a:buChar char="O"/>
                      </a:pPr>
                      <a:r>
                        <a:rPr lang="pt-BR" sz="1300" dirty="0"/>
                        <a:t>Curva de aprendizado maior para quem le o codigo pela primeira vez.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4868967"/>
                  </a:ext>
                </a:extLst>
              </a:tr>
            </a:tbl>
          </a:graphicData>
        </a:graphic>
      </p:graphicFrame>
      <p:sp>
        <p:nvSpPr>
          <p:cNvPr id="5" name="Rectangle 14">
            <a:extLst>
              <a:ext uri="{FF2B5EF4-FFF2-40B4-BE49-F238E27FC236}">
                <a16:creationId xmlns:a16="http://schemas.microsoft.com/office/drawing/2014/main" id="{0F619050-3846-9DAA-2ABB-E5FFC94C5D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356350"/>
            <a:ext cx="3752056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1" u="none">
                <a:solidFill>
                  <a:srgbClr val="83A5D7"/>
                </a:solidFill>
                <a:latin typeface="Arial" charset="0"/>
              </a:defRPr>
            </a:lvl1pPr>
          </a:lstStyle>
          <a:p>
            <a:pPr algn="just"/>
            <a:r>
              <a:rPr lang="en-US" i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Marcus Paulo — marcuspaulodev@gmail.com</a:t>
            </a:r>
          </a:p>
        </p:txBody>
      </p:sp>
    </p:spTree>
    <p:extLst>
      <p:ext uri="{BB962C8B-B14F-4D97-AF65-F5344CB8AC3E}">
        <p14:creationId xmlns:p14="http://schemas.microsoft.com/office/powerpoint/2010/main" val="208205220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EmbeddedLab</Template>
  <TotalTime>118500</TotalTime>
  <Words>288</Words>
  <Application>Microsoft Office PowerPoint</Application>
  <PresentationFormat>Apresentação na tela (4:3)</PresentationFormat>
  <Paragraphs>91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Arial</vt:lpstr>
      <vt:lpstr>Calibri</vt:lpstr>
      <vt:lpstr>Tahoma</vt:lpstr>
      <vt:lpstr>Wingdings</vt:lpstr>
      <vt:lpstr>Wingdings 2</vt:lpstr>
      <vt:lpstr>Tema do Office</vt:lpstr>
      <vt:lpstr>Design Patterns </vt:lpstr>
      <vt:lpstr>Design Patterns </vt:lpstr>
      <vt:lpstr>Design Patterns </vt:lpstr>
      <vt:lpstr>Design Patterns </vt:lpstr>
      <vt:lpstr>Design Patterns </vt:lpstr>
      <vt:lpstr>Design Patterns </vt:lpstr>
      <vt:lpstr>Design Patterns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Sistemas Multimídia</dc:title>
  <dc:creator>lenardocs</dc:creator>
  <cp:lastModifiedBy>Lenardo Chaves</cp:lastModifiedBy>
  <cp:revision>2228</cp:revision>
  <cp:lastPrinted>2015-03-03T10:46:54Z</cp:lastPrinted>
  <dcterms:created xsi:type="dcterms:W3CDTF">2012-08-10T18:51:58Z</dcterms:created>
  <dcterms:modified xsi:type="dcterms:W3CDTF">2026-08-18T18:57:08Z</dcterms:modified>
</cp:coreProperties>
</file>