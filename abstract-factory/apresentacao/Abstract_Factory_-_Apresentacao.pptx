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9144000" cy="6858000"/>
  <p:notesSz cx="6797675" cy="987425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mover o slide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229816D-6810-4CDF-96FF-2BCF542D4474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932040" y="741240"/>
            <a:ext cx="4933080" cy="370116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79680" y="4690440"/>
            <a:ext cx="5437440" cy="444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37"/>
          </p:nvPr>
        </p:nvSpPr>
        <p:spPr>
          <a:xfrm>
            <a:off x="3850560" y="9378720"/>
            <a:ext cx="2944800" cy="49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E076BA0-8DA4-46C3-8B92-1C2617ACB7A7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932040" y="741240"/>
            <a:ext cx="4933080" cy="370116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79680" y="4690440"/>
            <a:ext cx="5437440" cy="444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38"/>
          </p:nvPr>
        </p:nvSpPr>
        <p:spPr>
          <a:xfrm>
            <a:off x="3850560" y="9378720"/>
            <a:ext cx="2944800" cy="49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EC6422-2CC7-4089-A6A6-1B3BC4B32E14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932040" y="741240"/>
            <a:ext cx="4933080" cy="370116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79680" y="4690440"/>
            <a:ext cx="5437440" cy="444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39"/>
          </p:nvPr>
        </p:nvSpPr>
        <p:spPr>
          <a:xfrm>
            <a:off x="3850560" y="9378720"/>
            <a:ext cx="2944800" cy="49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4C9AAF-2B9D-44F9-A584-42EE4701F359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932040" y="741240"/>
            <a:ext cx="4933080" cy="370116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79680" y="4690440"/>
            <a:ext cx="5437440" cy="444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40"/>
          </p:nvPr>
        </p:nvSpPr>
        <p:spPr>
          <a:xfrm>
            <a:off x="3850560" y="9378720"/>
            <a:ext cx="2944800" cy="49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4C3DE6-89EF-456C-904C-00E05B14C2D4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932040" y="741240"/>
            <a:ext cx="4933080" cy="370116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79680" y="4690440"/>
            <a:ext cx="5437440" cy="444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41"/>
          </p:nvPr>
        </p:nvSpPr>
        <p:spPr>
          <a:xfrm>
            <a:off x="3850560" y="9378720"/>
            <a:ext cx="2944800" cy="49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7ECD58-1688-44F8-9562-CDFBEF0CDE65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932040" y="741240"/>
            <a:ext cx="4933080" cy="370116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79680" y="4690440"/>
            <a:ext cx="5437440" cy="444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42"/>
          </p:nvPr>
        </p:nvSpPr>
        <p:spPr>
          <a:xfrm>
            <a:off x="3850560" y="9378720"/>
            <a:ext cx="2944800" cy="49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123B8C-88B3-46EE-9AB1-0B16799DF869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932040" y="741240"/>
            <a:ext cx="4933080" cy="370116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79680" y="4690440"/>
            <a:ext cx="5437440" cy="444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43"/>
          </p:nvPr>
        </p:nvSpPr>
        <p:spPr>
          <a:xfrm>
            <a:off x="3850560" y="9378720"/>
            <a:ext cx="2944800" cy="49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D48A378-2895-46C3-BB9A-73F7EF121626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D55896-671B-4F56-93D5-A8BFC14E2BA9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título mestre</a:t>
            </a:r>
            <a:endParaRPr lang="pt-BR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406F1D-0560-4011-859B-3B11FDA5B212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título mestre</a:t>
            </a:r>
            <a:endParaRPr lang="pt-BR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9144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975BD70-DEB1-444F-BE0B-1A209466A3BB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título mestre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DBA89D-317D-4E0C-9768-0D5FED481BF8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título mestre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5EFC97-2E25-48E1-A349-F10288C22D7E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e texto vertica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título mestre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F4EECD-4E06-4276-B9E0-348ADA8401FC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título mestre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EEC10F1-AED9-4E28-8709-A865F86A91F3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Clique para editar o título mestre</a:t>
            </a:r>
            <a:endParaRPr lang="pt-BR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pt-BR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B43EB3-8BA1-45D8-A2E1-8E59621BD209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as Partes d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título mestre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5CC375-3D1C-4736-A422-D5E3007BBBEC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título mestre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texto mestre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2BADA4-6EB6-4572-BD0A-1ABDD2576F59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ment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título mestre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254C40-EC1B-4B84-9A7E-19EC78C5472E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4"/>
          <p:cNvGrpSpPr/>
          <p:nvPr/>
        </p:nvGrpSpPr>
        <p:grpSpPr>
          <a:xfrm>
            <a:off x="0" y="6305400"/>
            <a:ext cx="9143280" cy="399600"/>
            <a:chOff x="0" y="6305400"/>
            <a:chExt cx="9143280" cy="399600"/>
          </a:xfrm>
        </p:grpSpPr>
        <p:sp>
          <p:nvSpPr>
            <p:cNvPr id="66" name="Rectangle 5"/>
            <p:cNvSpPr/>
            <p:nvPr/>
          </p:nvSpPr>
          <p:spPr>
            <a:xfrm>
              <a:off x="0" y="6305400"/>
              <a:ext cx="9143280" cy="396360"/>
            </a:xfrm>
            <a:prstGeom prst="rect">
              <a:avLst/>
            </a:prstGeom>
            <a:solidFill>
              <a:srgbClr val="BAC4D8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67" name="Rectangle 6"/>
            <p:cNvSpPr/>
            <p:nvPr/>
          </p:nvSpPr>
          <p:spPr>
            <a:xfrm>
              <a:off x="0" y="6308640"/>
              <a:ext cx="9143280" cy="396360"/>
            </a:xfrm>
            <a:prstGeom prst="rect">
              <a:avLst/>
            </a:prstGeom>
            <a:solidFill>
              <a:schemeClr val="lt1">
                <a:alpha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grpSp>
        <p:nvGrpSpPr>
          <p:cNvPr id="68" name="Group 8"/>
          <p:cNvGrpSpPr/>
          <p:nvPr/>
        </p:nvGrpSpPr>
        <p:grpSpPr>
          <a:xfrm>
            <a:off x="0" y="209520"/>
            <a:ext cx="9143280" cy="1085400"/>
            <a:chOff x="0" y="209520"/>
            <a:chExt cx="9143280" cy="1085400"/>
          </a:xfrm>
        </p:grpSpPr>
        <p:sp>
          <p:nvSpPr>
            <p:cNvPr id="69" name="Rectangle 9"/>
            <p:cNvSpPr/>
            <p:nvPr/>
          </p:nvSpPr>
          <p:spPr>
            <a:xfrm>
              <a:off x="0" y="209520"/>
              <a:ext cx="9143280" cy="1075680"/>
            </a:xfrm>
            <a:prstGeom prst="rect">
              <a:avLst/>
            </a:prstGeom>
            <a:solidFill>
              <a:srgbClr val="96A5C4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70" name="Rectangle 10"/>
            <p:cNvSpPr/>
            <p:nvPr/>
          </p:nvSpPr>
          <p:spPr>
            <a:xfrm>
              <a:off x="0" y="219240"/>
              <a:ext cx="9143280" cy="1075680"/>
            </a:xfrm>
            <a:prstGeom prst="rect">
              <a:avLst/>
            </a:prstGeom>
            <a:solidFill>
              <a:schemeClr val="lt1">
                <a:alpha val="31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Design Patterns </a:t>
            </a:r>
            <a:endParaRPr lang="pt-BR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de Projeto Orientado a Objetos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Criacionais: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just" defTabSz="914400">
              <a:lnSpc>
                <a:spcPct val="100000"/>
              </a:lnSpc>
              <a:spcBef>
                <a:spcPts val="400"/>
              </a:spcBef>
              <a:buClr>
                <a:srgbClr val="333399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Abstract Factory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just" defTabSz="914400">
              <a:lnSpc>
                <a:spcPct val="100000"/>
              </a:lnSpc>
              <a:spcBef>
                <a:spcPts val="360"/>
              </a:spcBef>
              <a:buClr>
                <a:srgbClr val="333399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Fornece uma interface para criar familias de objetos relacionados (ou dependentes) sem especificar suas classes concretas.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3" name="Imagem 14"/>
          <p:cNvPicPr/>
          <p:nvPr/>
        </p:nvPicPr>
        <p:blipFill>
          <a:blip r:embed="rId1"/>
          <a:stretch/>
        </p:blipFill>
        <p:spPr>
          <a:xfrm>
            <a:off x="8244360" y="328320"/>
            <a:ext cx="514080" cy="79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Imagem 22"/>
          <p:cNvPicPr/>
          <p:nvPr/>
        </p:nvPicPr>
        <p:blipFill>
          <a:blip r:embed="rId2"/>
          <a:stretch/>
        </p:blipFill>
        <p:spPr>
          <a:xfrm>
            <a:off x="281160" y="567720"/>
            <a:ext cx="119916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7D3E50A4-18A6-4D1F-B440-81B8F745401C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4"/>
          <p:cNvGrpSpPr/>
          <p:nvPr/>
        </p:nvGrpSpPr>
        <p:grpSpPr>
          <a:xfrm>
            <a:off x="0" y="6305400"/>
            <a:ext cx="9143280" cy="399600"/>
            <a:chOff x="0" y="6305400"/>
            <a:chExt cx="9143280" cy="399600"/>
          </a:xfrm>
        </p:grpSpPr>
        <p:sp>
          <p:nvSpPr>
            <p:cNvPr id="76" name="Rectangle 5"/>
            <p:cNvSpPr/>
            <p:nvPr/>
          </p:nvSpPr>
          <p:spPr>
            <a:xfrm>
              <a:off x="0" y="6305400"/>
              <a:ext cx="9143280" cy="396360"/>
            </a:xfrm>
            <a:prstGeom prst="rect">
              <a:avLst/>
            </a:prstGeom>
            <a:solidFill>
              <a:srgbClr val="BAC4D8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77" name="Rectangle 6"/>
            <p:cNvSpPr/>
            <p:nvPr/>
          </p:nvSpPr>
          <p:spPr>
            <a:xfrm>
              <a:off x="0" y="6308640"/>
              <a:ext cx="9143280" cy="396360"/>
            </a:xfrm>
            <a:prstGeom prst="rect">
              <a:avLst/>
            </a:prstGeom>
            <a:solidFill>
              <a:schemeClr val="lt1">
                <a:alpha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grpSp>
        <p:nvGrpSpPr>
          <p:cNvPr id="78" name="Group 8"/>
          <p:cNvGrpSpPr/>
          <p:nvPr/>
        </p:nvGrpSpPr>
        <p:grpSpPr>
          <a:xfrm>
            <a:off x="0" y="209520"/>
            <a:ext cx="9143280" cy="1085400"/>
            <a:chOff x="0" y="209520"/>
            <a:chExt cx="9143280" cy="1085400"/>
          </a:xfrm>
        </p:grpSpPr>
        <p:sp>
          <p:nvSpPr>
            <p:cNvPr id="79" name="Rectangle 9"/>
            <p:cNvSpPr/>
            <p:nvPr/>
          </p:nvSpPr>
          <p:spPr>
            <a:xfrm>
              <a:off x="0" y="209520"/>
              <a:ext cx="9143280" cy="1075680"/>
            </a:xfrm>
            <a:prstGeom prst="rect">
              <a:avLst/>
            </a:prstGeom>
            <a:solidFill>
              <a:srgbClr val="96A5C4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80" name="Rectangle 10"/>
            <p:cNvSpPr/>
            <p:nvPr/>
          </p:nvSpPr>
          <p:spPr>
            <a:xfrm>
              <a:off x="0" y="219240"/>
              <a:ext cx="9143280" cy="1075680"/>
            </a:xfrm>
            <a:prstGeom prst="rect">
              <a:avLst/>
            </a:prstGeom>
            <a:solidFill>
              <a:schemeClr val="lt1">
                <a:alpha val="31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Design Patterns </a:t>
            </a:r>
            <a:endParaRPr lang="pt-BR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33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de Projeto Orientado a Objetos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Criacionais: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just" defTabSz="914400">
              <a:lnSpc>
                <a:spcPct val="100000"/>
              </a:lnSpc>
              <a:spcBef>
                <a:spcPts val="400"/>
              </a:spcBef>
              <a:buClr>
                <a:srgbClr val="333399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Abstract Factory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just" defTabSz="914400">
              <a:lnSpc>
                <a:spcPct val="100000"/>
              </a:lnSpc>
              <a:spcBef>
                <a:spcPts val="360"/>
              </a:spcBef>
              <a:buClr>
                <a:srgbClr val="333399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en-US" sz="1800" b="1" u="sng" strike="noStrike">
                <a:solidFill>
                  <a:srgbClr val="333399"/>
                </a:solidFill>
                <a:effectLst/>
                <a:uFillTx/>
                <a:latin typeface="Calibri"/>
              </a:rPr>
              <a:t>Problema</a:t>
            </a:r>
            <a:r>
              <a:rPr lang="en-US" sz="18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: 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just" defTabSz="914400">
              <a:lnSpc>
                <a:spcPct val="100000"/>
              </a:lnSpc>
              <a:spcBef>
                <a:spcPts val="320"/>
              </a:spcBef>
              <a:buClr>
                <a:srgbClr val="333399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pt-BR" sz="16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Um sistema precisa criar familias inteiras de objetos relacionados (ex.: botao + checkbox de uma interface grafica) sem depender das suas classes concretas;</a:t>
            </a:r>
            <a:endParaRPr lang="pt-BR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just" defTabSz="914400">
              <a:lnSpc>
                <a:spcPct val="100000"/>
              </a:lnSpc>
              <a:spcBef>
                <a:spcPts val="320"/>
              </a:spcBef>
              <a:buClr>
                <a:srgbClr val="333399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pt-BR" sz="16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O sistema deve suportar multiplas variantes da mesma familia de produtos (ex.: visual Windows vs. visual Mac) e permitir trocar de variante sem alterar o codigo cliente;</a:t>
            </a:r>
            <a:endParaRPr lang="pt-BR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just" defTabSz="914400">
              <a:lnSpc>
                <a:spcPct val="100000"/>
              </a:lnSpc>
              <a:spcBef>
                <a:spcPts val="320"/>
              </a:spcBef>
              <a:buClr>
                <a:srgbClr val="333399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pt-BR" sz="16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Instanciar os produtos diretamente com "new" espalha decisoes de classe concreta pelo codigo cliente, dificultando a manutencao e violando o principio Aberto-Fechado (OCP).</a:t>
            </a:r>
            <a:endParaRPr lang="pt-BR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00000"/>
              </a:lnSpc>
              <a:spcBef>
                <a:spcPts val="320"/>
              </a:spcBef>
              <a:buNone/>
              <a:tabLst>
                <a:tab pos="0" algn="l"/>
              </a:tabLst>
            </a:pPr>
            <a:endParaRPr lang="pt-BR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" name="Imagem 14"/>
          <p:cNvPicPr/>
          <p:nvPr/>
        </p:nvPicPr>
        <p:blipFill>
          <a:blip r:embed="rId1"/>
          <a:stretch/>
        </p:blipFill>
        <p:spPr>
          <a:xfrm>
            <a:off x="8244360" y="328320"/>
            <a:ext cx="514080" cy="79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Imagem 22"/>
          <p:cNvPicPr/>
          <p:nvPr/>
        </p:nvPicPr>
        <p:blipFill>
          <a:blip r:embed="rId2"/>
          <a:stretch/>
        </p:blipFill>
        <p:spPr>
          <a:xfrm>
            <a:off x="281160" y="567720"/>
            <a:ext cx="119916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A04F61EC-FED5-4B83-889E-F35E1AB4A795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oup 4"/>
          <p:cNvGrpSpPr/>
          <p:nvPr/>
        </p:nvGrpSpPr>
        <p:grpSpPr>
          <a:xfrm>
            <a:off x="0" y="6305400"/>
            <a:ext cx="9143280" cy="399600"/>
            <a:chOff x="0" y="6305400"/>
            <a:chExt cx="9143280" cy="399600"/>
          </a:xfrm>
        </p:grpSpPr>
        <p:sp>
          <p:nvSpPr>
            <p:cNvPr id="86" name="Rectangle 5"/>
            <p:cNvSpPr/>
            <p:nvPr/>
          </p:nvSpPr>
          <p:spPr>
            <a:xfrm>
              <a:off x="0" y="6305400"/>
              <a:ext cx="9143280" cy="396360"/>
            </a:xfrm>
            <a:prstGeom prst="rect">
              <a:avLst/>
            </a:prstGeom>
            <a:solidFill>
              <a:srgbClr val="BAC4D8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87" name="Rectangle 6"/>
            <p:cNvSpPr/>
            <p:nvPr/>
          </p:nvSpPr>
          <p:spPr>
            <a:xfrm>
              <a:off x="0" y="6308640"/>
              <a:ext cx="9143280" cy="396360"/>
            </a:xfrm>
            <a:prstGeom prst="rect">
              <a:avLst/>
            </a:prstGeom>
            <a:solidFill>
              <a:schemeClr val="lt1">
                <a:alpha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grpSp>
        <p:nvGrpSpPr>
          <p:cNvPr id="88" name="Group 8"/>
          <p:cNvGrpSpPr/>
          <p:nvPr/>
        </p:nvGrpSpPr>
        <p:grpSpPr>
          <a:xfrm>
            <a:off x="0" y="209520"/>
            <a:ext cx="9143280" cy="1085400"/>
            <a:chOff x="0" y="209520"/>
            <a:chExt cx="9143280" cy="1085400"/>
          </a:xfrm>
        </p:grpSpPr>
        <p:sp>
          <p:nvSpPr>
            <p:cNvPr id="89" name="Rectangle 9"/>
            <p:cNvSpPr/>
            <p:nvPr/>
          </p:nvSpPr>
          <p:spPr>
            <a:xfrm>
              <a:off x="0" y="209520"/>
              <a:ext cx="9143280" cy="1075680"/>
            </a:xfrm>
            <a:prstGeom prst="rect">
              <a:avLst/>
            </a:prstGeom>
            <a:solidFill>
              <a:srgbClr val="96A5C4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90" name="Rectangle 10"/>
            <p:cNvSpPr/>
            <p:nvPr/>
          </p:nvSpPr>
          <p:spPr>
            <a:xfrm>
              <a:off x="0" y="219240"/>
              <a:ext cx="9143280" cy="1075680"/>
            </a:xfrm>
            <a:prstGeom prst="rect">
              <a:avLst/>
            </a:prstGeom>
            <a:solidFill>
              <a:schemeClr val="lt1">
                <a:alpha val="31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Design Patterns </a:t>
            </a:r>
            <a:endParaRPr lang="pt-BR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33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de Projeto Orientado a Objetos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Criacionais: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just" defTabSz="914400">
              <a:lnSpc>
                <a:spcPct val="100000"/>
              </a:lnSpc>
              <a:spcBef>
                <a:spcPts val="400"/>
              </a:spcBef>
              <a:buClr>
                <a:srgbClr val="333399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Abstract Factory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just" defTabSz="914400">
              <a:lnSpc>
                <a:spcPct val="100000"/>
              </a:lnSpc>
              <a:spcBef>
                <a:spcPts val="360"/>
              </a:spcBef>
              <a:buClr>
                <a:srgbClr val="333399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en-US" sz="1800" b="1" u="sng" strike="noStrike">
                <a:solidFill>
                  <a:srgbClr val="333399"/>
                </a:solidFill>
                <a:effectLst/>
                <a:uFillTx/>
                <a:latin typeface="Calibri"/>
              </a:rPr>
              <a:t>Solução</a:t>
            </a:r>
            <a:r>
              <a:rPr lang="en-US" sz="18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: 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14680" lvl="3" indent="-34308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pt-BR" sz="14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Declarar uma interface para cada produto distinto da familia (ex.: Button, Checkbox);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14680" lvl="3" indent="-34308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pt-BR" sz="14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Declarar a interface Abstract Factory com um metodo de criacao para cada produto (ex.: createButton(), createCheckbox());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14680" lvl="3" indent="-34308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pt-BR" sz="14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Criar uma Concrete Factory para cada variante da familia, implementando todos os metodos de criacao (ex.: WindowsFactory, MacFactory);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14680" lvl="3" indent="-34308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pt-BR" sz="14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O codigo cliente depende apenas das interfaces (factory e produtos), nunca das classes concretas;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14680" lvl="3" indent="-34308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pt-BR" sz="14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A variante concreta e escolhida uma unica vez (config./injecao de dependencia) e injetada no cliente, garantindo que os produtos criados sejam sempre compativeis entre si.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3" name="Imagem 14"/>
          <p:cNvPicPr/>
          <p:nvPr/>
        </p:nvPicPr>
        <p:blipFill>
          <a:blip r:embed="rId1"/>
          <a:stretch/>
        </p:blipFill>
        <p:spPr>
          <a:xfrm>
            <a:off x="8244360" y="328320"/>
            <a:ext cx="514080" cy="79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Imagem 22"/>
          <p:cNvPicPr/>
          <p:nvPr/>
        </p:nvPicPr>
        <p:blipFill>
          <a:blip r:embed="rId2"/>
          <a:stretch/>
        </p:blipFill>
        <p:spPr>
          <a:xfrm>
            <a:off x="281160" y="567720"/>
            <a:ext cx="119916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EE96A54-DD28-48DD-9C8B-158BBC807FC8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roup 4"/>
          <p:cNvGrpSpPr/>
          <p:nvPr/>
        </p:nvGrpSpPr>
        <p:grpSpPr>
          <a:xfrm>
            <a:off x="0" y="6305400"/>
            <a:ext cx="9143280" cy="399600"/>
            <a:chOff x="0" y="6305400"/>
            <a:chExt cx="9143280" cy="399600"/>
          </a:xfrm>
        </p:grpSpPr>
        <p:sp>
          <p:nvSpPr>
            <p:cNvPr id="96" name="Rectangle 5"/>
            <p:cNvSpPr/>
            <p:nvPr/>
          </p:nvSpPr>
          <p:spPr>
            <a:xfrm>
              <a:off x="0" y="6305400"/>
              <a:ext cx="9143280" cy="396360"/>
            </a:xfrm>
            <a:prstGeom prst="rect">
              <a:avLst/>
            </a:prstGeom>
            <a:solidFill>
              <a:srgbClr val="BAC4D8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97" name="Rectangle 6"/>
            <p:cNvSpPr/>
            <p:nvPr/>
          </p:nvSpPr>
          <p:spPr>
            <a:xfrm>
              <a:off x="0" y="6308640"/>
              <a:ext cx="9143280" cy="396360"/>
            </a:xfrm>
            <a:prstGeom prst="rect">
              <a:avLst/>
            </a:prstGeom>
            <a:solidFill>
              <a:schemeClr val="lt1">
                <a:alpha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grpSp>
        <p:nvGrpSpPr>
          <p:cNvPr id="98" name="Group 8"/>
          <p:cNvGrpSpPr/>
          <p:nvPr/>
        </p:nvGrpSpPr>
        <p:grpSpPr>
          <a:xfrm>
            <a:off x="0" y="209520"/>
            <a:ext cx="9143280" cy="1085400"/>
            <a:chOff x="0" y="209520"/>
            <a:chExt cx="9143280" cy="1085400"/>
          </a:xfrm>
        </p:grpSpPr>
        <p:sp>
          <p:nvSpPr>
            <p:cNvPr id="99" name="Rectangle 9"/>
            <p:cNvSpPr/>
            <p:nvPr/>
          </p:nvSpPr>
          <p:spPr>
            <a:xfrm>
              <a:off x="0" y="209520"/>
              <a:ext cx="9143280" cy="1075680"/>
            </a:xfrm>
            <a:prstGeom prst="rect">
              <a:avLst/>
            </a:prstGeom>
            <a:solidFill>
              <a:srgbClr val="96A5C4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100" name="Rectangle 10"/>
            <p:cNvSpPr/>
            <p:nvPr/>
          </p:nvSpPr>
          <p:spPr>
            <a:xfrm>
              <a:off x="0" y="219240"/>
              <a:ext cx="9143280" cy="1075680"/>
            </a:xfrm>
            <a:prstGeom prst="rect">
              <a:avLst/>
            </a:prstGeom>
            <a:solidFill>
              <a:schemeClr val="lt1">
                <a:alpha val="31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Design Patterns </a:t>
            </a:r>
            <a:endParaRPr lang="pt-BR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149360" cy="433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p>
            <a:pPr indent="0" algn="ctr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de Projeto Orientado a Objetos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Criacionais: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just" defTabSz="914400">
              <a:lnSpc>
                <a:spcPct val="100000"/>
              </a:lnSpc>
              <a:spcBef>
                <a:spcPts val="400"/>
              </a:spcBef>
              <a:buClr>
                <a:srgbClr val="333399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Abstract Factory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just" defTabSz="914400">
              <a:lnSpc>
                <a:spcPct val="100000"/>
              </a:lnSpc>
              <a:spcBef>
                <a:spcPts val="360"/>
              </a:spcBef>
              <a:buClr>
                <a:srgbClr val="333399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en-US" sz="1800" b="1" u="sng" strike="noStrike">
                <a:solidFill>
                  <a:srgbClr val="333399"/>
                </a:solidFill>
                <a:effectLst/>
                <a:uFillTx/>
                <a:latin typeface="Calibri"/>
              </a:rPr>
              <a:t>Estrutura</a:t>
            </a:r>
            <a:r>
              <a:rPr lang="en-US" sz="18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: 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14680" lvl="3" indent="-34308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pt-BR" sz="14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GUIFactory (interface): declara createButton() e createCheckbox();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14680" lvl="3" indent="-34308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pt-BR" sz="14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WindowsFactory / MacFactory (classes concretas): implementam GUIFactory, cada uma criando os produtos da sua propria variante;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14680" lvl="3" indent="-34308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pt-BR" sz="14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Button / Checkbox (interfaces): declaram o comportamento comum de cada tipo de produto;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14680" lvl="3" indent="-34308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pt-BR" sz="14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WindowsButton, WindowsCheckbox, MacButton, MacCheckbox: implementacoes concretas de cada produto;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14680" lvl="3" indent="-34308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pt-BR" sz="14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Application (cliente): recebe uma GUIFactory no construtor e so usa os metodos de Button/Checkbox.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3" name="Imagem 14"/>
          <p:cNvPicPr/>
          <p:nvPr/>
        </p:nvPicPr>
        <p:blipFill>
          <a:blip r:embed="rId1"/>
          <a:stretch/>
        </p:blipFill>
        <p:spPr>
          <a:xfrm>
            <a:off x="8244360" y="328320"/>
            <a:ext cx="514080" cy="79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" name="Imagem 22"/>
          <p:cNvPicPr/>
          <p:nvPr/>
        </p:nvPicPr>
        <p:blipFill>
          <a:blip r:embed="rId2"/>
          <a:stretch/>
        </p:blipFill>
        <p:spPr>
          <a:xfrm>
            <a:off x="281160" y="567720"/>
            <a:ext cx="119916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Rectangle 23"/>
          <p:cNvSpPr/>
          <p:nvPr/>
        </p:nvSpPr>
        <p:spPr>
          <a:xfrm>
            <a:off x="5074920" y="1508760"/>
            <a:ext cx="2651040" cy="502200"/>
          </a:xfrm>
          <a:prstGeom prst="rect">
            <a:avLst/>
          </a:prstGeom>
          <a:solidFill>
            <a:srgbClr val="FFF3D6"/>
          </a:solidFill>
          <a:ln w="12700">
            <a:solidFill>
              <a:srgbClr val="8A6D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25560" rIns="38160" bIns="25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Application (cliente)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usa GUIFactory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 24"/>
          <p:cNvSpPr/>
          <p:nvPr/>
        </p:nvSpPr>
        <p:spPr>
          <a:xfrm>
            <a:off x="5074920" y="2148840"/>
            <a:ext cx="2651040" cy="621000"/>
          </a:xfrm>
          <a:prstGeom prst="rect">
            <a:avLst/>
          </a:prstGeom>
          <a:solidFill>
            <a:srgbClr val="DDE8FF"/>
          </a:solidFill>
          <a:ln w="12700">
            <a:solidFill>
              <a:srgbClr val="2B4C8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25560" rIns="38160" bIns="25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«interface» GUIFactory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createButton()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createCheckbox()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Rectangle 25"/>
          <p:cNvSpPr/>
          <p:nvPr/>
        </p:nvSpPr>
        <p:spPr>
          <a:xfrm>
            <a:off x="4709160" y="2926080"/>
            <a:ext cx="1416600" cy="566280"/>
          </a:xfrm>
          <a:prstGeom prst="rect">
            <a:avLst/>
          </a:prstGeom>
          <a:solidFill>
            <a:srgbClr val="DDE8FF"/>
          </a:solidFill>
          <a:ln w="12700">
            <a:solidFill>
              <a:srgbClr val="2B4C8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25560" rIns="38160" bIns="25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WindowsFactory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cria produtos Windows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26"/>
          <p:cNvSpPr/>
          <p:nvPr/>
        </p:nvSpPr>
        <p:spPr>
          <a:xfrm>
            <a:off x="6355080" y="2926080"/>
            <a:ext cx="1416600" cy="566280"/>
          </a:xfrm>
          <a:prstGeom prst="rect">
            <a:avLst/>
          </a:prstGeom>
          <a:solidFill>
            <a:srgbClr val="DDE8FF"/>
          </a:solidFill>
          <a:ln w="12700">
            <a:solidFill>
              <a:srgbClr val="2B4C8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25560" rIns="38160" bIns="25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MacFactory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cria produtos Mac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27"/>
          <p:cNvSpPr/>
          <p:nvPr/>
        </p:nvSpPr>
        <p:spPr>
          <a:xfrm>
            <a:off x="4709160" y="3703320"/>
            <a:ext cx="1416600" cy="502200"/>
          </a:xfrm>
          <a:prstGeom prst="rect">
            <a:avLst/>
          </a:prstGeom>
          <a:solidFill>
            <a:srgbClr val="E7F7EC"/>
          </a:solidFill>
          <a:ln w="12700">
            <a:solidFill>
              <a:srgbClr val="2E7D4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25560" rIns="38160" bIns="25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«interface» Button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render(); onClick()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ectangle 28"/>
          <p:cNvSpPr/>
          <p:nvPr/>
        </p:nvSpPr>
        <p:spPr>
          <a:xfrm>
            <a:off x="6355080" y="3703320"/>
            <a:ext cx="1416600" cy="502200"/>
          </a:xfrm>
          <a:prstGeom prst="rect">
            <a:avLst/>
          </a:prstGeom>
          <a:solidFill>
            <a:srgbClr val="E7F7EC"/>
          </a:solidFill>
          <a:ln w="12700">
            <a:solidFill>
              <a:srgbClr val="2E7D4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25560" rIns="38160" bIns="25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«interface» Checkbox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render(); toggle()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ectangle 29"/>
          <p:cNvSpPr/>
          <p:nvPr/>
        </p:nvSpPr>
        <p:spPr>
          <a:xfrm>
            <a:off x="4709160" y="4389120"/>
            <a:ext cx="1416600" cy="566280"/>
          </a:xfrm>
          <a:prstGeom prst="rect">
            <a:avLst/>
          </a:prstGeom>
          <a:solidFill>
            <a:srgbClr val="E7F7EC"/>
          </a:solidFill>
          <a:ln w="12700">
            <a:solidFill>
              <a:srgbClr val="2E7D4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25560" rIns="38160" bIns="25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WindowsButton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WindowsCheckbox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ectangle 30"/>
          <p:cNvSpPr/>
          <p:nvPr/>
        </p:nvSpPr>
        <p:spPr>
          <a:xfrm>
            <a:off x="6355080" y="4389120"/>
            <a:ext cx="1416600" cy="566280"/>
          </a:xfrm>
          <a:prstGeom prst="rect">
            <a:avLst/>
          </a:prstGeom>
          <a:solidFill>
            <a:srgbClr val="E7F7EC"/>
          </a:solidFill>
          <a:ln w="12700">
            <a:solidFill>
              <a:srgbClr val="2E7D4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25560" rIns="38160" bIns="255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100" b="1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MacButton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800" b="0" u="none" strike="noStrike">
                <a:solidFill>
                  <a:srgbClr val="141B4D"/>
                </a:solidFill>
                <a:effectLst/>
                <a:uFillTx/>
                <a:latin typeface="Calibri"/>
              </a:rPr>
              <a:t>MacCheckbox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31"/>
          <p:cNvSpPr/>
          <p:nvPr/>
        </p:nvSpPr>
        <p:spPr>
          <a:xfrm>
            <a:off x="4709160" y="5074920"/>
            <a:ext cx="30625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800" b="0" i="1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Cada Factory concreta so cria produtos da sua propria familia: assim, Button e Checkbox usados juntos sao sempre compativeis (mesma variante).</a:t>
            </a:r>
            <a:endParaRPr lang="pt-B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Connector 32"/>
          <p:cNvCxnSpPr/>
          <p:nvPr/>
        </p:nvCxnSpPr>
        <p:spPr>
          <a:xfrm>
            <a:off x="5943600" y="2011680"/>
            <a:ext cx="720" cy="137880"/>
          </a:xfrm>
          <a:prstGeom prst="straightConnector1">
            <a:avLst/>
          </a:prstGeom>
          <a:ln w="15875">
            <a:solidFill>
              <a:srgbClr val="334477"/>
            </a:solidFill>
            <a:prstDash val="dash"/>
            <a:round/>
            <a:tailEnd len="med" type="triangle" w="med"/>
          </a:ln>
        </p:spPr>
      </p:cxnSp>
      <p:cxnSp>
        <p:nvCxnSpPr>
          <p:cNvPr id="115" name="Connector 33"/>
          <p:cNvCxnSpPr/>
          <p:nvPr/>
        </p:nvCxnSpPr>
        <p:spPr>
          <a:xfrm flipV="1">
            <a:off x="5412960" y="2770560"/>
            <a:ext cx="394200" cy="156240"/>
          </a:xfrm>
          <a:prstGeom prst="straightConnector1">
            <a:avLst/>
          </a:prstGeom>
          <a:ln w="15875">
            <a:solidFill>
              <a:srgbClr val="334477"/>
            </a:solidFill>
            <a:round/>
            <a:tailEnd len="med" type="triangle" w="med"/>
          </a:ln>
        </p:spPr>
      </p:cxnSp>
      <p:cxnSp>
        <p:nvCxnSpPr>
          <p:cNvPr id="116" name="Connector 34"/>
          <p:cNvCxnSpPr/>
          <p:nvPr/>
        </p:nvCxnSpPr>
        <p:spPr>
          <a:xfrm flipH="1" flipV="1">
            <a:off x="6492240" y="2770560"/>
            <a:ext cx="567360" cy="156240"/>
          </a:xfrm>
          <a:prstGeom prst="straightConnector1">
            <a:avLst/>
          </a:prstGeom>
          <a:ln w="15875">
            <a:solidFill>
              <a:srgbClr val="334477"/>
            </a:solidFill>
            <a:round/>
            <a:tailEnd len="med" type="triangle" w="med"/>
          </a:ln>
        </p:spPr>
      </p:cxnSp>
      <p:cxnSp>
        <p:nvCxnSpPr>
          <p:cNvPr id="117" name="Connector 35"/>
          <p:cNvCxnSpPr/>
          <p:nvPr/>
        </p:nvCxnSpPr>
        <p:spPr>
          <a:xfrm flipV="1">
            <a:off x="5412960" y="3492720"/>
            <a:ext cx="720" cy="211320"/>
          </a:xfrm>
          <a:prstGeom prst="straightConnector1">
            <a:avLst/>
          </a:prstGeom>
          <a:ln w="15875">
            <a:solidFill>
              <a:srgbClr val="334477"/>
            </a:solidFill>
            <a:prstDash val="dash"/>
            <a:round/>
            <a:tailEnd len="med" type="triangle" w="med"/>
          </a:ln>
        </p:spPr>
      </p:cxnSp>
      <p:cxnSp>
        <p:nvCxnSpPr>
          <p:cNvPr id="118" name="Connector 36"/>
          <p:cNvCxnSpPr/>
          <p:nvPr/>
        </p:nvCxnSpPr>
        <p:spPr>
          <a:xfrm flipV="1">
            <a:off x="7058880" y="3492720"/>
            <a:ext cx="720" cy="211320"/>
          </a:xfrm>
          <a:prstGeom prst="straightConnector1">
            <a:avLst/>
          </a:prstGeom>
          <a:ln w="15875">
            <a:solidFill>
              <a:srgbClr val="334477"/>
            </a:solidFill>
            <a:prstDash val="dash"/>
            <a:round/>
            <a:tailEnd len="med" type="triangle" w="med"/>
          </a:ln>
        </p:spPr>
      </p:cxnSp>
      <p:cxnSp>
        <p:nvCxnSpPr>
          <p:cNvPr id="119" name="Connector 37"/>
          <p:cNvCxnSpPr/>
          <p:nvPr/>
        </p:nvCxnSpPr>
        <p:spPr>
          <a:xfrm flipV="1">
            <a:off x="5412960" y="4206240"/>
            <a:ext cx="720" cy="183600"/>
          </a:xfrm>
          <a:prstGeom prst="straightConnector1">
            <a:avLst/>
          </a:prstGeom>
          <a:ln w="15875">
            <a:solidFill>
              <a:srgbClr val="334477"/>
            </a:solidFill>
            <a:round/>
            <a:tailEnd len="med" type="triangle" w="med"/>
          </a:ln>
        </p:spPr>
      </p:cxnSp>
      <p:cxnSp>
        <p:nvCxnSpPr>
          <p:cNvPr id="120" name="Connector 38"/>
          <p:cNvCxnSpPr/>
          <p:nvPr/>
        </p:nvCxnSpPr>
        <p:spPr>
          <a:xfrm flipV="1">
            <a:off x="7058880" y="4206240"/>
            <a:ext cx="720" cy="183600"/>
          </a:xfrm>
          <a:prstGeom prst="straightConnector1">
            <a:avLst/>
          </a:prstGeom>
          <a:ln w="15875">
            <a:solidFill>
              <a:srgbClr val="334477"/>
            </a:solidFill>
            <a:round/>
            <a:tailEnd len="med" type="triangle" w="med"/>
          </a:ln>
        </p:spPr>
      </p:cxn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7D3104D9-1107-4401-8EA7-B99D0D42A2FD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roup 4"/>
          <p:cNvGrpSpPr/>
          <p:nvPr/>
        </p:nvGrpSpPr>
        <p:grpSpPr>
          <a:xfrm>
            <a:off x="0" y="6305400"/>
            <a:ext cx="9143280" cy="399600"/>
            <a:chOff x="0" y="6305400"/>
            <a:chExt cx="9143280" cy="399600"/>
          </a:xfrm>
        </p:grpSpPr>
        <p:sp>
          <p:nvSpPr>
            <p:cNvPr id="122" name="Rectangle 5"/>
            <p:cNvSpPr/>
            <p:nvPr/>
          </p:nvSpPr>
          <p:spPr>
            <a:xfrm>
              <a:off x="0" y="6305400"/>
              <a:ext cx="9143280" cy="396360"/>
            </a:xfrm>
            <a:prstGeom prst="rect">
              <a:avLst/>
            </a:prstGeom>
            <a:solidFill>
              <a:srgbClr val="BAC4D8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123" name="Rectangle 6"/>
            <p:cNvSpPr/>
            <p:nvPr/>
          </p:nvSpPr>
          <p:spPr>
            <a:xfrm>
              <a:off x="0" y="6308640"/>
              <a:ext cx="9143280" cy="396360"/>
            </a:xfrm>
            <a:prstGeom prst="rect">
              <a:avLst/>
            </a:prstGeom>
            <a:solidFill>
              <a:schemeClr val="lt1">
                <a:alpha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grpSp>
        <p:nvGrpSpPr>
          <p:cNvPr id="124" name="Group 8"/>
          <p:cNvGrpSpPr/>
          <p:nvPr/>
        </p:nvGrpSpPr>
        <p:grpSpPr>
          <a:xfrm>
            <a:off x="0" y="209520"/>
            <a:ext cx="9143280" cy="1085400"/>
            <a:chOff x="0" y="209520"/>
            <a:chExt cx="9143280" cy="1085400"/>
          </a:xfrm>
        </p:grpSpPr>
        <p:sp>
          <p:nvSpPr>
            <p:cNvPr id="125" name="Rectangle 9"/>
            <p:cNvSpPr/>
            <p:nvPr/>
          </p:nvSpPr>
          <p:spPr>
            <a:xfrm>
              <a:off x="0" y="209520"/>
              <a:ext cx="9143280" cy="1075680"/>
            </a:xfrm>
            <a:prstGeom prst="rect">
              <a:avLst/>
            </a:prstGeom>
            <a:solidFill>
              <a:srgbClr val="96A5C4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126" name="Rectangle 10"/>
            <p:cNvSpPr/>
            <p:nvPr/>
          </p:nvSpPr>
          <p:spPr>
            <a:xfrm>
              <a:off x="0" y="219240"/>
              <a:ext cx="9143280" cy="1075680"/>
            </a:xfrm>
            <a:prstGeom prst="rect">
              <a:avLst/>
            </a:prstGeom>
            <a:solidFill>
              <a:schemeClr val="lt1">
                <a:alpha val="31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Design Patterns </a:t>
            </a:r>
            <a:endParaRPr lang="pt-BR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33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de Projeto Orientado a Objetos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Criacionais: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just" defTabSz="914400">
              <a:lnSpc>
                <a:spcPct val="100000"/>
              </a:lnSpc>
              <a:spcBef>
                <a:spcPts val="400"/>
              </a:spcBef>
              <a:buClr>
                <a:srgbClr val="333399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Abstract Factory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just" defTabSz="914400">
              <a:lnSpc>
                <a:spcPct val="100000"/>
              </a:lnSpc>
              <a:spcBef>
                <a:spcPts val="360"/>
              </a:spcBef>
              <a:buClr>
                <a:srgbClr val="333399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en-US" sz="1800" b="1" u="sng" strike="noStrike">
                <a:solidFill>
                  <a:srgbClr val="333399"/>
                </a:solidFill>
                <a:effectLst/>
                <a:uFillTx/>
                <a:latin typeface="Calibri"/>
              </a:rPr>
              <a:t>Exemplo de Código</a:t>
            </a:r>
            <a:r>
              <a:rPr lang="en-US" sz="18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: 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29" name="Imagem 14"/>
          <p:cNvPicPr/>
          <p:nvPr/>
        </p:nvPicPr>
        <p:blipFill>
          <a:blip r:embed="rId1"/>
          <a:stretch/>
        </p:blipFill>
        <p:spPr>
          <a:xfrm>
            <a:off x="8244360" y="328320"/>
            <a:ext cx="514080" cy="79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0" name="Imagem 22"/>
          <p:cNvPicPr/>
          <p:nvPr/>
        </p:nvPicPr>
        <p:blipFill>
          <a:blip r:embed="rId2"/>
          <a:stretch/>
        </p:blipFill>
        <p:spPr>
          <a:xfrm>
            <a:off x="281160" y="567720"/>
            <a:ext cx="119916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TextBox 23"/>
          <p:cNvSpPr/>
          <p:nvPr/>
        </p:nvSpPr>
        <p:spPr>
          <a:xfrm>
            <a:off x="411480" y="2331720"/>
            <a:ext cx="4159800" cy="4159800"/>
          </a:xfrm>
          <a:prstGeom prst="rect">
            <a:avLst/>
          </a:prstGeom>
          <a:solidFill>
            <a:srgbClr val="1E1E1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tIns="76320" rIns="76320" bIns="7632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6A9955"/>
                </a:solidFill>
                <a:effectLst/>
                <a:uFillTx/>
                <a:latin typeface="Consolas"/>
              </a:rPr>
              <a:t>// GUIFactory.java  (Abstract Factory)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public interface GUIFactory {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    Button createButton();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    Checkbox createCheckbox();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}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6A9955"/>
                </a:solidFill>
                <a:effectLst/>
                <a:uFillTx/>
                <a:latin typeface="Consolas"/>
              </a:rPr>
              <a:t>// WindowsFactory.java  (Concrete Factory)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public class WindowsFactory implements GUIFactory {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    public Button createButton() {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9CDCFE"/>
                </a:solidFill>
                <a:effectLst/>
                <a:uFillTx/>
                <a:latin typeface="Consolas"/>
              </a:rPr>
              <a:t>        return new WindowsButton();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    }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    public Checkbox createCheckbox() {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9CDCFE"/>
                </a:solidFill>
                <a:effectLst/>
                <a:uFillTx/>
                <a:latin typeface="Consolas"/>
              </a:rPr>
              <a:t>        return new WindowsCheckbox();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    }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}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24"/>
          <p:cNvSpPr/>
          <p:nvPr/>
        </p:nvSpPr>
        <p:spPr>
          <a:xfrm>
            <a:off x="4709160" y="2331720"/>
            <a:ext cx="4022640" cy="4159800"/>
          </a:xfrm>
          <a:prstGeom prst="rect">
            <a:avLst/>
          </a:prstGeom>
          <a:solidFill>
            <a:srgbClr val="1E1E1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tIns="76320" rIns="76320" bIns="7632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6A9955"/>
                </a:solidFill>
                <a:effectLst/>
                <a:uFillTx/>
                <a:latin typeface="Consolas"/>
              </a:rPr>
              <a:t>// Main.java  (codigo cliente)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GUIFactory factory = os.contains("mac")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    ? new MacFactory()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    : new WindowsFactory();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6A9955"/>
                </a:solidFill>
                <a:effectLst/>
                <a:uFillTx/>
                <a:latin typeface="Consolas"/>
              </a:rPr>
              <a:t>// Application so conhece as interfaces: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6A9955"/>
                </a:solidFill>
                <a:effectLst/>
                <a:uFillTx/>
                <a:latin typeface="Consolas"/>
              </a:rPr>
              <a:t>// nao sabe se e Windows ou Mac.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Application app = new Application(factory);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DCDCAA"/>
                </a:solidFill>
                <a:effectLst/>
                <a:uFillTx/>
                <a:latin typeface="Consolas"/>
              </a:rPr>
              <a:t>app.render();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6A9955"/>
                </a:solidFill>
                <a:effectLst/>
                <a:uFillTx/>
                <a:latin typeface="Consolas"/>
              </a:rPr>
              <a:t>// Saida (variante windows):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606060"/>
                </a:solidFill>
                <a:effectLst/>
                <a:uFillTx/>
                <a:latin typeface="Consolas"/>
              </a:rPr>
              <a:t>// [Windows] Renderizando botao...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606060"/>
                </a:solidFill>
                <a:effectLst/>
                <a:uFillTx/>
                <a:latin typeface="Consolas"/>
              </a:rPr>
              <a:t>// [Windows] Renderizando checkbox...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6A9955"/>
                </a:solidFill>
                <a:effectLst/>
                <a:uFillTx/>
                <a:latin typeface="Consolas"/>
              </a:rPr>
              <a:t>// Saida (variante mac):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606060"/>
                </a:solidFill>
                <a:effectLst/>
                <a:uFillTx/>
                <a:latin typeface="Consolas"/>
              </a:rPr>
              <a:t>// [Mac] Renderizando botao...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150" b="0" u="none" strike="noStrike">
                <a:solidFill>
                  <a:srgbClr val="606060"/>
                </a:solidFill>
                <a:effectLst/>
                <a:uFillTx/>
                <a:latin typeface="Consolas"/>
              </a:rPr>
              <a:t>// [Mac] Renderizando checkbox...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D145804D-26CE-4190-9CFD-0689624CB24C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4"/>
          <p:cNvGrpSpPr/>
          <p:nvPr/>
        </p:nvGrpSpPr>
        <p:grpSpPr>
          <a:xfrm>
            <a:off x="0" y="6305400"/>
            <a:ext cx="9143280" cy="399600"/>
            <a:chOff x="0" y="6305400"/>
            <a:chExt cx="9143280" cy="399600"/>
          </a:xfrm>
        </p:grpSpPr>
        <p:sp>
          <p:nvSpPr>
            <p:cNvPr id="134" name="Rectangle 5"/>
            <p:cNvSpPr/>
            <p:nvPr/>
          </p:nvSpPr>
          <p:spPr>
            <a:xfrm>
              <a:off x="0" y="6305400"/>
              <a:ext cx="9143280" cy="396360"/>
            </a:xfrm>
            <a:prstGeom prst="rect">
              <a:avLst/>
            </a:prstGeom>
            <a:solidFill>
              <a:srgbClr val="BAC4D8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135" name="Rectangle 6"/>
            <p:cNvSpPr/>
            <p:nvPr/>
          </p:nvSpPr>
          <p:spPr>
            <a:xfrm>
              <a:off x="0" y="6308640"/>
              <a:ext cx="9143280" cy="396360"/>
            </a:xfrm>
            <a:prstGeom prst="rect">
              <a:avLst/>
            </a:prstGeom>
            <a:solidFill>
              <a:schemeClr val="lt1">
                <a:alpha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grpSp>
        <p:nvGrpSpPr>
          <p:cNvPr id="136" name="Group 8"/>
          <p:cNvGrpSpPr/>
          <p:nvPr/>
        </p:nvGrpSpPr>
        <p:grpSpPr>
          <a:xfrm>
            <a:off x="0" y="209520"/>
            <a:ext cx="9143280" cy="1085400"/>
            <a:chOff x="0" y="209520"/>
            <a:chExt cx="9143280" cy="1085400"/>
          </a:xfrm>
        </p:grpSpPr>
        <p:sp>
          <p:nvSpPr>
            <p:cNvPr id="137" name="Rectangle 9"/>
            <p:cNvSpPr/>
            <p:nvPr/>
          </p:nvSpPr>
          <p:spPr>
            <a:xfrm>
              <a:off x="0" y="209520"/>
              <a:ext cx="9143280" cy="1075680"/>
            </a:xfrm>
            <a:prstGeom prst="rect">
              <a:avLst/>
            </a:prstGeom>
            <a:solidFill>
              <a:srgbClr val="96A5C4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138" name="Rectangle 10"/>
            <p:cNvSpPr/>
            <p:nvPr/>
          </p:nvSpPr>
          <p:spPr>
            <a:xfrm>
              <a:off x="0" y="219240"/>
              <a:ext cx="9143280" cy="1075680"/>
            </a:xfrm>
            <a:prstGeom prst="rect">
              <a:avLst/>
            </a:prstGeom>
            <a:solidFill>
              <a:schemeClr val="lt1">
                <a:alpha val="31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Design Patterns </a:t>
            </a:r>
            <a:endParaRPr lang="pt-BR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33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de Projeto Orientado a Objetos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Criacionais: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just" defTabSz="914400">
              <a:lnSpc>
                <a:spcPct val="100000"/>
              </a:lnSpc>
              <a:spcBef>
                <a:spcPts val="400"/>
              </a:spcBef>
              <a:buClr>
                <a:srgbClr val="333399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Abstract Factory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just" defTabSz="914400">
              <a:lnSpc>
                <a:spcPct val="100000"/>
              </a:lnSpc>
              <a:spcBef>
                <a:spcPts val="360"/>
              </a:spcBef>
              <a:buClr>
                <a:srgbClr val="333399"/>
              </a:buClr>
              <a:buFont typeface="Wingdings" charset="2"/>
              <a:buChar char=""/>
              <a:tabLst>
                <a:tab pos="0" algn="l"/>
              </a:tabLst>
            </a:pPr>
            <a:r>
              <a:rPr lang="en-US" sz="1800" b="0" u="sng" strike="noStrike">
                <a:solidFill>
                  <a:srgbClr val="333399"/>
                </a:solidFill>
                <a:effectLst/>
                <a:uFillTx/>
                <a:latin typeface="Calibri"/>
              </a:rPr>
              <a:t>Aplicabilidade</a:t>
            </a:r>
            <a:r>
              <a:rPr lang="en-US" sz="18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: 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pt-BR" sz="14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Quando o sistema deve ser independente de como seus produtos sao criados, compostos e representados;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pt-BR" sz="14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Quando o sistema precisa ser configurado com uma entre varias familias de produtos (ex.: temas de UI, drivers, fornecedores de nuvem);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pt-BR" sz="14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Quando voce quer fornecer uma biblioteca de produtos revelando apenas as interfaces, nao as implementacoes;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just" defTabSz="914400">
              <a:lnSpc>
                <a:spcPct val="100000"/>
              </a:lnSpc>
              <a:spcBef>
                <a:spcPts val="281"/>
              </a:spcBef>
              <a:buClr>
                <a:srgbClr val="333399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pt-BR" sz="1400" b="0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Quando e essencial garantir que os produtos usados juntos sejam sempre compativeis entre si (familia consistente).</a:t>
            </a:r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1" name="Imagem 14"/>
          <p:cNvPicPr/>
          <p:nvPr/>
        </p:nvPicPr>
        <p:blipFill>
          <a:blip r:embed="rId1"/>
          <a:stretch/>
        </p:blipFill>
        <p:spPr>
          <a:xfrm>
            <a:off x="8244360" y="328320"/>
            <a:ext cx="514080" cy="79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2" name="Imagem 22"/>
          <p:cNvPicPr/>
          <p:nvPr/>
        </p:nvPicPr>
        <p:blipFill>
          <a:blip r:embed="rId2"/>
          <a:stretch/>
        </p:blipFill>
        <p:spPr>
          <a:xfrm>
            <a:off x="281160" y="567720"/>
            <a:ext cx="119916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3B9BF168-D2AA-4C2E-8852-3E55041A9EE0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roup 4"/>
          <p:cNvGrpSpPr/>
          <p:nvPr/>
        </p:nvGrpSpPr>
        <p:grpSpPr>
          <a:xfrm>
            <a:off x="0" y="6305400"/>
            <a:ext cx="9143280" cy="399600"/>
            <a:chOff x="0" y="6305400"/>
            <a:chExt cx="9143280" cy="399600"/>
          </a:xfrm>
        </p:grpSpPr>
        <p:sp>
          <p:nvSpPr>
            <p:cNvPr id="144" name="Rectangle 5"/>
            <p:cNvSpPr/>
            <p:nvPr/>
          </p:nvSpPr>
          <p:spPr>
            <a:xfrm>
              <a:off x="0" y="6305400"/>
              <a:ext cx="9143280" cy="396360"/>
            </a:xfrm>
            <a:prstGeom prst="rect">
              <a:avLst/>
            </a:prstGeom>
            <a:solidFill>
              <a:srgbClr val="BAC4D8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145" name="Rectangle 6"/>
            <p:cNvSpPr/>
            <p:nvPr/>
          </p:nvSpPr>
          <p:spPr>
            <a:xfrm>
              <a:off x="0" y="6308640"/>
              <a:ext cx="9143280" cy="396360"/>
            </a:xfrm>
            <a:prstGeom prst="rect">
              <a:avLst/>
            </a:prstGeom>
            <a:solidFill>
              <a:schemeClr val="lt1">
                <a:alpha val="60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grpSp>
        <p:nvGrpSpPr>
          <p:cNvPr id="146" name="Group 8"/>
          <p:cNvGrpSpPr/>
          <p:nvPr/>
        </p:nvGrpSpPr>
        <p:grpSpPr>
          <a:xfrm>
            <a:off x="0" y="209520"/>
            <a:ext cx="9143280" cy="1085400"/>
            <a:chOff x="0" y="209520"/>
            <a:chExt cx="9143280" cy="1085400"/>
          </a:xfrm>
        </p:grpSpPr>
        <p:sp>
          <p:nvSpPr>
            <p:cNvPr id="147" name="Rectangle 9"/>
            <p:cNvSpPr/>
            <p:nvPr/>
          </p:nvSpPr>
          <p:spPr>
            <a:xfrm>
              <a:off x="0" y="209520"/>
              <a:ext cx="9143280" cy="1075680"/>
            </a:xfrm>
            <a:prstGeom prst="rect">
              <a:avLst/>
            </a:prstGeom>
            <a:solidFill>
              <a:srgbClr val="96A5C4">
                <a:alpha val="60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  <p:sp>
          <p:nvSpPr>
            <p:cNvPr id="148" name="Rectangle 10"/>
            <p:cNvSpPr/>
            <p:nvPr/>
          </p:nvSpPr>
          <p:spPr>
            <a:xfrm>
              <a:off x="0" y="219240"/>
              <a:ext cx="9143280" cy="1075680"/>
            </a:xfrm>
            <a:prstGeom prst="rect">
              <a:avLst/>
            </a:prstGeom>
            <a:solidFill>
              <a:schemeClr val="lt1">
                <a:alpha val="31000"/>
              </a:scheme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ctr">
              <a:noAutofit/>
            </a:bodyPr>
            <a:p>
              <a:endParaRPr lang="pt-BR" sz="1800" b="0" u="none" strike="noStrike">
                <a:solidFill>
                  <a:schemeClr val="dk1"/>
                </a:solidFill>
                <a:effectLst/>
                <a:uFillTx/>
                <a:latin typeface="Tahoma"/>
              </a:endParaRPr>
            </a:p>
          </p:txBody>
        </p:sp>
      </p:grpSp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000" b="0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Design Patterns </a:t>
            </a:r>
            <a:endParaRPr lang="pt-BR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33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i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de Projeto Orientado a Objetos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57240" indent="0" algn="just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rgbClr val="333399"/>
                </a:solidFill>
                <a:effectLst/>
                <a:uFillTx/>
                <a:latin typeface="Calibri"/>
              </a:rPr>
              <a:t>Padrões Criacionais: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0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Abstract Factory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51" name="Imagem 14"/>
          <p:cNvPicPr/>
          <p:nvPr/>
        </p:nvPicPr>
        <p:blipFill>
          <a:blip r:embed="rId1"/>
          <a:stretch/>
        </p:blipFill>
        <p:spPr>
          <a:xfrm>
            <a:off x="8244360" y="328320"/>
            <a:ext cx="514080" cy="79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2" name="Imagem 22"/>
          <p:cNvPicPr/>
          <p:nvPr/>
        </p:nvPicPr>
        <p:blipFill>
          <a:blip r:embed="rId2"/>
          <a:stretch/>
        </p:blipFill>
        <p:spPr>
          <a:xfrm>
            <a:off x="281160" y="567720"/>
            <a:ext cx="1199160" cy="3592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53" name="Tabela 6"/>
          <p:cNvGraphicFramePr/>
          <p:nvPr/>
        </p:nvGraphicFramePr>
        <p:xfrm>
          <a:off x="457200" y="2853000"/>
          <a:ext cx="8229240" cy="224424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PRÓS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25200">
                      <a:solidFill>
                        <a:srgbClr val="000000"/>
                      </a:solidFill>
                      <a:prstDash val="solid"/>
                    </a:lnT>
                    <a:lnB w="2520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CONTRAS</a:t>
                      </a:r>
                      <a:endParaRPr lang="pt-BR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25200">
                      <a:solidFill>
                        <a:srgbClr val="000000"/>
                      </a:solidFill>
                      <a:prstDash val="solid"/>
                    </a:lnT>
                    <a:lnB w="2520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marL="285840" indent="-285840" algn="just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"/>
                      </a:pPr>
                      <a:r>
                        <a:rPr lang="pt-BR" sz="1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Garante que os produtos criados por uma factory sejam sempre compativeis entre si.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285840" indent="-285840" algn="just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 2" charset="2"/>
                        <a:buChar char=""/>
                      </a:pPr>
                      <a:r>
                        <a:rPr lang="pt-BR" sz="1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Aumenta a quantidade de interfaces e classes do sistema.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marL="285840" indent="-285840" algn="just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"/>
                      </a:pPr>
                      <a:r>
                        <a:rPr lang="pt-BR" sz="1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Evita acoplar o codigo cliente as classes concretas dos produtos.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285840" indent="-285840" algn="just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 2" charset="2"/>
                        <a:buChar char=""/>
                      </a:pPr>
                      <a:r>
                        <a:rPr lang="pt-BR" sz="1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Adicionar um novo TIPO de produto exige alterar a interface e TODAS as factories concretas.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marL="285840" indent="-285840" algn="just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"/>
                      </a:pPr>
                      <a:r>
                        <a:rPr lang="pt-BR" sz="1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Facilita trocar toda uma familia de produtos de uma vez (basta trocar a factory).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285840" indent="-285840" algn="just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 2" charset="2"/>
                        <a:buChar char=""/>
                      </a:pPr>
                      <a:r>
                        <a:rPr lang="pt-BR" sz="1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Pode ser complexidade desnecessaria quando existe apenas uma variante de produtos.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dk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marL="285840" indent="-285840" algn="just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"/>
                      </a:pPr>
                      <a:r>
                        <a:rPr lang="pt-BR" sz="1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Isola a logica de criacao em um so lugar (Single Responsibility Principle).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2520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285840" indent="-285840" algn="just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 2" charset="2"/>
                        <a:buChar char=""/>
                      </a:pPr>
                      <a:r>
                        <a:rPr lang="pt-BR" sz="13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Curva de aprendizado maior para quem le o codigo pela primeira vez.</a:t>
                      </a:r>
                      <a:endParaRPr lang="pt-B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2520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503F6753-1619-416F-B5C2-99C5DA32EE0D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EmbeddedLab</Template>
  <TotalTime>118501</TotalTime>
  <Application>LibreOffice/26.2.5.2$Linux_X86_64 LibreOffice_project/620$Build-2</Application>
  <AppVersion>15.0000</AppVersion>
  <Words>288</Words>
  <Paragraphs>91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2012-08-10T18:51:58Z</dcterms:created>
  <dc:creator>lenardocs</dc:creator>
  <dc:description/>
  <dc:language>pt-BR</dc:language>
  <cp:lastModifiedBy/>
  <cp:lastPrinted>2015-03-03T10:46:54Z</cp:lastPrinted>
  <dcterms:modified xsi:type="dcterms:W3CDTF">2026-08-28T18:59:34Z</dcterms:modified>
  <cp:revision>2230</cp:revision>
  <dc:subject/>
  <dc:title>Sistemas Multimídia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Apresentação na tela (4:3)</vt:lpwstr>
  </property>
  <property fmtid="{D5CDD505-2E9C-101B-9397-08002B2CF9AE}" pid="4" name="Slides">
    <vt:i4>7</vt:i4>
  </property>
</Properties>
</file>