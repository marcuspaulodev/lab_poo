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797675" cy="987425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B6B8AA2-8D9A-42E2-AC8B-AF8D27B7C09D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37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D843D3-0AA9-4F39-9834-A4C1993E68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38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AE8617-01B9-4233-8CD3-D0F324B0920C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39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5A6065-8D21-47B4-97FB-33CA1B77AA31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0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9D9E57-757B-4357-9042-015B17E759EB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1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DFB6FA-4827-4DC6-B98A-F8FEB163673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42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B9FC1B-10D6-4964-B98D-DDDF78FD60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43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6D6152-10C6-48D4-B8B0-40F43AEF029A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902B52-CB80-4704-A236-2EC0F6B40DC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D38045-3D08-4710-AA4C-A36939B9F56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tí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ul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8DB8CE-0DE9-4A97-A013-501CE201453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A40CB8-F393-4F55-B8C3-06E74C887CE8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EB828-C684-4F14-BAEF-181C23567C03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2444DD-1FDC-4EE2-9BC1-C64DD7FE76A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B51835-420F-4434-ACB7-F8937F4D3AB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771A90-273E-4AD2-A8E2-F21668F049A1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A4B3A7-B971-4FDB-BD2D-6318722AD79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7DE757-8E53-4654-8AF4-3FC44C1B109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C75399-33C1-4D26-9C8B-F489C819CA5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6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6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6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6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Observer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Observer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Define uma dependência um-para-muitos entre objetos, de modo que, quando um objeto muda de estado, todos os seus dependentes são notificados e atualizados automaticamente.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79BD921-545F-42EE-9793-D8F6DD0CBA0D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7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7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7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Observer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Observer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Problema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Vários objetos precisam reagir quando o estado de outro objeto muda.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Ex.: quando uma estação meteorológica mede uma nova temperatura, o painel, o alerta de calor e o histórico precisam ser atualizados.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Se a estação chamar cada um diretamente, ela fica acoplada a todas as classes interessadas na medição.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Adicionar ou remover um interessado obriga a alterar a estação; consultar o estado o tempo todo (polling) desperdiça processamento.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F825F48-5D32-4F8D-A2E7-CD12E23C4CF6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8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8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8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Observer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Observer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Solução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objeto observado (Sujeito) mantém uma lista de Observadores interessados no seu estado.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Observadores se inscrevem e cancelam a inscrição em tempo de execução: adicionar() e remover().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o estado muda, o Sujeito chama notificar(), que invoca atualizar() em cada Observador da lista.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Sujeito conhece apenas a interface Observador, nunca as classes concretas.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Cada Observador decide o que fazer com a notificação: exibir, alertar, registrar...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F311CF6-1F9A-4969-BDE2-A168238A21AA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9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9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9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0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Observer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Observer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Estrutura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Sujeito declara adicionar(), remover() e notificar().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EstacaoMeteorologica guarda a lista de observadores e avisa todos a cada medição.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Os observadores concretos implementam atualizar() da interface Observador.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Main (Cliente) inscreve os observadores na estação.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Rectangle 106"/>
          <p:cNvSpPr/>
          <p:nvPr/>
        </p:nvSpPr>
        <p:spPr>
          <a:xfrm>
            <a:off x="4716000" y="4800000"/>
            <a:ext cx="1800000" cy="5000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Main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(Cliente)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107"/>
          <p:cNvSpPr/>
          <p:nvPr/>
        </p:nvSpPr>
        <p:spPr>
          <a:xfrm>
            <a:off x="4716000" y="1625000"/>
            <a:ext cx="1800000" cy="9250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«interface»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Sujeito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adicionar(obs)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remover(obs)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notificar()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108"/>
          <p:cNvSpPr/>
          <p:nvPr/>
        </p:nvSpPr>
        <p:spPr>
          <a:xfrm>
            <a:off x="6886000" y="1625000"/>
            <a:ext cx="1800000" cy="6500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«interface»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Observador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atualizar(temp)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109"/>
          <p:cNvSpPr/>
          <p:nvPr/>
        </p:nvSpPr>
        <p:spPr>
          <a:xfrm>
            <a:off x="4716000" y="3150000"/>
            <a:ext cx="1800000" cy="85000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EstacaoMeteorologica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(Sujeito concreto)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- observadores: List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medir(temp)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110"/>
          <p:cNvSpPr/>
          <p:nvPr/>
        </p:nvSpPr>
        <p:spPr>
          <a:xfrm>
            <a:off x="6886000" y="3150000"/>
            <a:ext cx="1800000" cy="105000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PainelTemperatura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AlertaCalor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HistoricoTemperaturas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(Observadores concretos)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atualizar(temp)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" name="Connector 111"/>
          <p:cNvCxnSpPr/>
          <p:nvPr/>
        </p:nvCxnSpPr>
        <p:spPr>
          <a:xfrm flipV="1">
            <a:off x="5616000" y="4000000"/>
            <a:ext cx="0" cy="8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12" name="Connector 112"/>
          <p:cNvCxnSpPr/>
          <p:nvPr/>
        </p:nvCxnSpPr>
        <p:spPr>
          <a:xfrm flipV="1">
            <a:off x="6516000" y="4200000"/>
            <a:ext cx="870000" cy="85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13" name="Connector 113"/>
          <p:cNvCxnSpPr/>
          <p:nvPr/>
        </p:nvCxnSpPr>
        <p:spPr>
          <a:xfrm flipV="1">
            <a:off x="5616000" y="2550000"/>
            <a:ext cx="0" cy="600000"/>
          </a:xfrm>
          <a:prstGeom prst="straightConnector1">
            <a:avLst/>
          </a:prstGeom>
          <a:ln w="15875">
            <a:solidFill>
              <a:srgbClr val="606060"/>
            </a:solidFill>
            <a:prstDash val="dash"/>
            <a:round/>
            <a:tailEnd len="med" type="triangle" w="med"/>
          </a:ln>
        </p:spPr>
      </p:cxnSp>
      <p:cxnSp>
        <p:nvCxnSpPr>
          <p:cNvPr id="114" name="Connector 114"/>
          <p:cNvCxnSpPr/>
          <p:nvPr/>
        </p:nvCxnSpPr>
        <p:spPr>
          <a:xfrm flipV="1">
            <a:off x="7786000" y="2275000"/>
            <a:ext cx="0" cy="875000"/>
          </a:xfrm>
          <a:prstGeom prst="straightConnector1">
            <a:avLst/>
          </a:prstGeom>
          <a:ln w="15875">
            <a:solidFill>
              <a:srgbClr val="606060"/>
            </a:solidFill>
            <a:prstDash val="dash"/>
            <a:round/>
            <a:tailEnd len="med" type="triangle" w="med"/>
          </a:ln>
        </p:spPr>
      </p:cxnSp>
      <p:cxnSp>
        <p:nvCxnSpPr>
          <p:cNvPr id="115" name="Connector 115"/>
          <p:cNvCxnSpPr/>
          <p:nvPr/>
        </p:nvCxnSpPr>
        <p:spPr>
          <a:xfrm flipV="1">
            <a:off x="6516000" y="2050000"/>
            <a:ext cx="370000" cy="135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headEnd type="diamond" w="lg" len="lg"/>
            <a:tailEnd len="med" type="triangle" w="med"/>
          </a:ln>
        </p:spPr>
      </p:cxn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2CAB2AB-BA36-483E-B4A8-2FD0474FE398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11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2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13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14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5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Observer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Observer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Exemplo de Código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Observador define atualizar(temperatura); a estação percorre sua lista e notifica cada um.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medir() altera o estado e chama notificar(): a estação não sabe quem está do outro lado.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 inscreve três observadores; depois de remover o painel, só o alerta e o histórico recebem a medição seguinte.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8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Rectangle 23"/>
          <p:cNvSpPr/>
          <p:nvPr/>
        </p:nvSpPr>
        <p:spPr>
          <a:xfrm>
            <a:off x="4716000" y="16498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Observador.java / EstacaoMeteorologica.java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interface Observador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void atualizar(int temperatura);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class EstacaoMeteorologica ...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private List&lt;Observador&gt; observadores;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...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public void notificar()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for (Observador o : observadores)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o.atualizar(temperatura);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public void medir(int t)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temperatura = t; notificar();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24"/>
          <p:cNvSpPr/>
          <p:nvPr/>
        </p:nvSpPr>
        <p:spPr>
          <a:xfrm>
            <a:off x="4716000" y="41500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AlertaCalor.java / Main.java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void atualizar(int temperatura)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if (temperatura &gt;= limite)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System.out.println("Calor extremo!");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estacao.adicionar(painel);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estacao.adicionar(new AlertaCalor(35));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estacao.adicionar(historico);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estacao.medir(36);  // 3 avisados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estacao.remover(painel);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estacao.medir(31);  // 2 avisados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4F17A84-12A4-4BB9-B4F6-F9BCC4D7D1B5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2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2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2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Observer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Observer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Aplicabilidade</a:t>
            </a:r>
            <a:r>
              <a:rPr lang="en-US" sz="18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a mudança de estado de um objeto exige atualizar outros, e não se sabe de antemão quantos ou quais são.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um objeto deve avisar outros sem depender de suas classes concretas (baixo acoplamento).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os interessados precisam entrar e sair em tempo de execução.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Exemplos: listeners de eventos em Swing/JavaFX, PropertyChangeListener, sistemas publish/subscribe, MVC (modelo notificando as views).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EDA7002-B8DF-4828-8539-74A945FBD055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3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3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3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Observer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42" name="Tabela 6"/>
          <p:cNvGraphicFramePr/>
          <p:nvPr/>
        </p:nvGraphicFramePr>
        <p:xfrm>
          <a:off x="457200" y="2853000"/>
          <a:ext cx="8229240" cy="2073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PRÓS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CONTRAS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Baixo acoplamento: o Sujeito só conhece a interface Observador.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 ordem em que os observadores são notificados não é garantida pelo padrão.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Novos observadores entram sem alterar o Sujeito (Aberto/Fechado).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Atualizações em cascata podem ser difíceis de rastrear e depurar.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Relações estabelecidas em tempo de execução: inscrever e cancelar a qualquer momento.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Observadores esquecidos na lista continuam recebendo avisos e não são coletados (vazamento de memória).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68FBF21-7E69-462B-9176-ABF03D84F657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EmbeddedLab</Template>
  <TotalTime>118500</TotalTime>
  <Application>LibreOffice/26.2.6.1$Linux_X86_64 LibreOffice_project/620$Build-1</Application>
  <AppVersion>15.0000</AppVersion>
  <Words>288</Words>
  <Paragraphs>91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2012-08-10T18:51:58Z</dcterms:created>
  <dc:creator>lenardocs</dc:creator>
  <dc:description/>
  <dc:language>pt-BR</dc:language>
  <cp:lastModifiedBy/>
  <cp:lastPrinted>2015-03-03T10:46:54Z</cp:lastPrinted>
  <dcterms:modified xsi:type="dcterms:W3CDTF">2026-09-15T19:31:40Z</dcterms:modified>
  <cp:revision>2229</cp:revision>
  <dc:subject/>
  <dc:title>Sistemas Multimídia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Apresentação na tela (4:3)</vt:lpwstr>
  </property>
  <property fmtid="{D5CDD505-2E9C-101B-9397-08002B2CF9AE}" pid="4" name="Slides">
    <vt:i4>7</vt:i4>
  </property>
</Properties>
</file>