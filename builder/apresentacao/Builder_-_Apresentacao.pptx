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3">
  <p:sldMasterIdLst>
    <p:sldMasterId id="2147483872" r:id="rId1"/>
  </p:sldMasterIdLst>
  <p:notesMasterIdLst>
    <p:notesMasterId r:id="rId9"/>
  </p:notesMasterIdLst>
  <p:handoutMasterIdLst>
    <p:handoutMasterId r:id="rId10"/>
  </p:handoutMasterIdLst>
  <p:sldIdLst>
    <p:sldId id="457" r:id="rId2"/>
    <p:sldId id="483" r:id="rId3"/>
    <p:sldId id="485" r:id="rId4"/>
    <p:sldId id="486" r:id="rId5"/>
    <p:sldId id="490" r:id="rId6"/>
    <p:sldId id="489" r:id="rId7"/>
    <p:sldId id="487" r:id="rId8"/>
  </p:sldIdLst>
  <p:sldSz cx="9144000" cy="6858000" type="screen4x3"/>
  <p:notesSz cx="6797675" cy="98742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00FF01"/>
    <a:srgbClr val="FFFFFF"/>
    <a:srgbClr val="E5E5E5"/>
    <a:srgbClr val="FDFFB3"/>
    <a:srgbClr val="FF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68421" autoAdjust="0"/>
  </p:normalViewPr>
  <p:slideViewPr>
    <p:cSldViewPr>
      <p:cViewPr varScale="1">
        <p:scale>
          <a:sx n="75" d="100"/>
          <a:sy n="75" d="100"/>
        </p:scale>
        <p:origin x="2592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393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98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C5EA0-29E7-4103-BA05-2D913AD97A19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93395-FD7E-449E-AB90-F73CDC3D17A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060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0C5F-284B-44F0-A8A0-7F84179800FE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054281-F103-4FD5-A7F2-1CA3EE49F0F2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7979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1355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578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1351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981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80E3E-F3C0-13E4-7718-29F7C2AD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7F5FD39-48DC-31D8-5728-B3BF9F165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9837A28-4DF4-9B5D-B48D-DF5B4638A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C2382F-EA7B-56BF-AECB-A3A79F160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29007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4074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054281-F103-4FD5-A7F2-1CA3EE49F0F2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6521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05063-AA5D-497E-A052-93E186060258}" type="datetime1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3338C-2AB5-4F7D-90A9-4B843DC428B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89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1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624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55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6504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73004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7887639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813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9363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926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591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63BEF-DA3A-4FF1-A0E6-59E4C77370D5}" type="datetimeFigureOut">
              <a:rPr lang="pt-BR" smtClean="0"/>
              <a:t>18/08/2026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2C95A-2AF6-49B0-BE51-226E5A34C307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107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229599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i="1" dirty="0">
                <a:solidFill>
                  <a:srgbClr val="333399"/>
                </a:solidFill>
              </a:rPr>
              <a:t>Separa a construção de um objeto complexo, passo a passo, da sua representação final, permitindo montar variações diferentes com o mesmo processo.</a:t>
            </a:r>
            <a:r>
              <a:rPr lang="en-US" sz="1800" i="1" dirty="0" err="1">
                <a:solidFill>
                  <a:srgbClr val="333399"/>
                </a:solidFill>
              </a:rPr>
              <a:t/>
            </a:r>
            <a:r>
              <a:rPr lang="en-US" sz="1800" i="1" dirty="0">
                <a:solidFill>
                  <a:srgbClr val="333399"/>
                </a:solidFill>
              </a:rPr>
              <a:t/>
            </a:r>
            <a:r>
              <a:rPr lang="en-US" sz="1800" i="1" dirty="0" err="1">
                <a:solidFill>
                  <a:srgbClr val="333399"/>
                </a:solidFill>
              </a:rPr>
              <a:t/>
            </a:r>
            <a:r>
              <a:rPr lang="en-US" sz="1800" i="1" dirty="0">
                <a:solidFill>
                  <a:srgbClr val="333399"/>
                </a:solidFill>
              </a:rPr>
              <a:t/>
            </a:r>
            <a:r>
              <a:rPr lang="en-US" sz="1800" i="1" dirty="0" err="1">
                <a:solidFill>
                  <a:srgbClr val="333399"/>
                </a:solidFill>
              </a:rPr>
              <a:t/>
            </a:r>
            <a:r>
              <a:rPr lang="en-US" sz="1800" i="1" dirty="0">
                <a:solidFill>
                  <a:srgbClr val="333399"/>
                </a:solidFill>
              </a:rPr>
              <a:t/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ftr" sz="quarter" idx="11"/>
          </p:nvPr>
        </p:nvSpPr>
        <p:spPr bwMode="auto"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1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5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8229599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Problema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Um objeto complexo pode ter muitos atributos, vários deles opcionais — ex.: montar um computador com CPU, RAM, armazenamento, placa de vídeo (opcional) e fonte.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Um construtor único com todos os parâmetros vira um "construtor telescópico": muitas sobrecargas ou uma assinatura gigante, difícil de ler e de usar corretamente.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rgbClr val="333399"/>
                </a:solidFill>
              </a:rPr>
              <a:t>Passar parâmetros opcionais como null ou valores padrão espalhados pelo código é propenso a erro (trocar a ordem de dois parâmetros do mesmo tipo, por exemplo).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t>Se a inicialização acontece aos poucos (setters soltos), o objeto pode ficar em um estado inválido/incompleto no meio do processo.</a:t>
            </a:r>
            <a:endParaRPr lang="pt-BR" sz="16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2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6A189755-9319-0F24-5E82-175FDAAB6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49575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Solução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Extrair a lógica de construção do objeto para uma classe Builder separada, com um método para cada parte a configurar.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Cada método do Builder configura uma parte e retorna o próprio Builder (fluent interface), permitindo encadear as chamadas.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Um método build() só ao final produz o objeto (Computador) já pronto e validado — nunca existe um objeto "pela metade" exposto ao cliente.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Um Diretor (Director) opcional encapsula receitas comuns de montagem (ex.: "computador gamer", "computador de escritório"), reaproveitando o mesmo Builder para produzir configurações diferentes.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dirty="0">
                <a:solidFill>
                  <a:srgbClr val="333399"/>
                </a:solidFill>
              </a:rPr>
              <a:t>O cliente pode usar o Diretor para receitas prontas, ou usar o Builder diretamente para uma configuração sob medida.</a:t>
            </a:r>
          </a:p>
          <a:p>
            <a:pPr marL="1714500" lvl="3" indent="-342900" algn="just">
              <a:buFont typeface="+mj-lt"/>
              <a:buAutoNum type="arabicPeriod"/>
            </a:pPr>
            <a:endParaRPr lang="pt-BR" sz="1400" dirty="0">
              <a:solidFill>
                <a:srgbClr val="333399"/>
              </a:solidFill>
            </a:endParaRPr>
          </a:p>
          <a:p>
            <a:pPr marL="1714500" lvl="3" indent="-342900" algn="just">
              <a:buFont typeface="+mj-lt"/>
              <a:buAutoNum type="arabicPeriod" startAt="3"/>
            </a:pPr>
            <a:endParaRPr lang="pt-BR" sz="1400" dirty="0">
              <a:solidFill>
                <a:srgbClr val="333399"/>
              </a:solidFill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3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36B674DF-A554-44F2-F417-3B94F00F5C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9334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41500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Estrutura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Main usa o DiretorMontagem, que conhece apenas a interface ComputadorBuilder.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ComputadorBuilder declara os métodos de configuração e build().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ComputadorBuilderPadrao implementa a interface e monta o Computador passo a passo.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>Computador é o produto final, devolvido só por build().</a:t>
            </a:r>
          </a:p>
          <a:p>
            <a:pPr marL="1714500" lvl="3" indent="-342900" algn="just">
              <a:buFont typeface="+mj-lt"/>
              <a:buAutoNum type="arabicPeriod"/>
            </a:pPr>
            <a:r>
              <a:rPr lang="pt-BR" sz="1400" b="1" dirty="0">
                <a:solidFill>
                  <a:srgbClr val="333399"/>
                </a:solidFill>
              </a:rPr>
              <a:t/>
            </a: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4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AE81D55B-E5CF-74E9-DC16-6AC89B187E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716016" y="1650000"/>
            <a:ext cx="260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202020"/>
                </a:solidFill>
              </a:rPr>
              <a:t>DiretorMontagem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6016" y="2500000"/>
            <a:ext cx="2600000" cy="50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202020"/>
                </a:solidFill>
              </a:rPr>
              <a:t>«interface»</a:t>
            </a:r>
          </a:p>
          <a:p>
            <a:pPr algn="ctr"/>
            <a:r>
              <a:rPr sz="1100" b="1">
                <a:solidFill>
                  <a:srgbClr val="202020"/>
                </a:solidFill>
              </a:rPr>
              <a:t>ComputadorBuilder</a:t>
            </a:r>
          </a:p>
          <a:p>
            <a:pPr algn="ctr"/>
            <a:r>
              <a:rPr sz="1100" b="1">
                <a:solidFill>
                  <a:srgbClr val="202020"/>
                </a:solidFill>
              </a:rPr>
              <a:t>+ set...() / build()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6016" y="3350000"/>
            <a:ext cx="2600000" cy="500000"/>
          </a:xfrm>
          <a:prstGeom prst="rect">
            <a:avLst/>
          </a:prstGeom>
          <a:solidFill>
            <a:srgbClr val="E4F7E9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02020"/>
                </a:solidFill>
              </a:rPr>
              <a:t>ComputadorBuilderPadrao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6016" y="4200000"/>
            <a:ext cx="2600000" cy="500000"/>
          </a:xfrm>
          <a:prstGeom prst="rect">
            <a:avLst/>
          </a:prstGeom>
          <a:solidFill>
            <a:srgbClr val="FBE4E4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202020"/>
                </a:solidFill>
              </a:rPr>
              <a:t>Computador</a:t>
            </a:r>
          </a:p>
          <a:p>
            <a:pPr algn="ctr"/>
            <a:r>
              <a:rPr sz="1100" b="0">
                <a:solidFill>
                  <a:srgbClr val="202020"/>
                </a:solidFill>
              </a:rPr>
              <a:t>(produto final)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16016" y="2150000"/>
            <a:ext cx="0" cy="350000"/>
          </a:xfrm>
          <a:prstGeom prst="line">
            <a:avLst/>
          </a:prstGeom>
          <a:ln w="15875">
            <a:solidFill>
              <a:srgbClr val="60606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16016" y="3000000"/>
            <a:ext cx="0" cy="350000"/>
          </a:xfrm>
          <a:prstGeom prst="line">
            <a:avLst/>
          </a:prstGeom>
          <a:ln w="1587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16016" y="3850000"/>
            <a:ext cx="0" cy="350000"/>
          </a:xfrm>
          <a:prstGeom prst="line">
            <a:avLst/>
          </a:prstGeom>
          <a:ln w="15875">
            <a:solidFill>
              <a:srgbClr val="60606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110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D778-AF68-B1FC-30C0-5A8B8D23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>
            <a:extLst>
              <a:ext uri="{FF2B5EF4-FFF2-40B4-BE49-F238E27FC236}">
                <a16:creationId xmlns:a16="http://schemas.microsoft.com/office/drawing/2014/main" id="{D22405AB-904F-63B0-93DF-4ED4C3A0533D}"/>
              </a:ext>
            </a:extLst>
          </p:cNvPr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12858A9-6D4B-B317-48EF-5A708A02EC4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32A5A3AB-B1D9-12FA-F561-6E0F36A997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E23A1FFA-8526-3CF0-0214-CD7A506DC64E}"/>
              </a:ext>
            </a:extLst>
          </p:cNvPr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0C6CC2A8-912E-999E-5003-8DFDDD4234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>
              <a:extLst>
                <a:ext uri="{FF2B5EF4-FFF2-40B4-BE49-F238E27FC236}">
                  <a16:creationId xmlns:a16="http://schemas.microsoft.com/office/drawing/2014/main" id="{94953508-C056-EA4C-C060-C81FB017E4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6E8A26C-2F78-4A17-D33D-5DA21845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5F881-3416-FD67-C39E-09BD67B8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1"/>
            <a:ext cx="41500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b="1" u="sng" dirty="0" err="1">
                <a:solidFill>
                  <a:srgbClr val="333399"/>
                </a:solidFill>
              </a:rPr>
              <a:t>Exemplo</a:t>
            </a:r>
            <a:r>
              <a:rPr lang="en-US" sz="1800" b="1" u="sng" dirty="0">
                <a:solidFill>
                  <a:srgbClr val="333399"/>
                </a:solidFill>
              </a:rPr>
              <a:t> de Código</a:t>
            </a:r>
            <a:r>
              <a:rPr lang="en-US" sz="1800" b="1" dirty="0">
                <a:solidFill>
                  <a:srgbClr val="333399"/>
                </a:solidFill>
              </a:rPr>
              <a:t>: 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sz="1200"/>
              <a:t>ComputadorBuilder declara os métodos fluentes de configuração e o build().</a:t>
            </a:r>
            <a:endParaRPr lang="pt-BR" sz="1800" dirty="0">
              <a:solidFill>
                <a:srgbClr val="333399"/>
              </a:solidFill>
            </a:endParaRPr>
          </a:p>
          <a:p>
            <a:pPr lvl="2"/>
            <a:r>
              <a:rPr sz="1200"/>
              <a:t>ComputadorBuilderPadrao acumula os valores e só monta o Computador (imutável) dentro de build().</a:t>
            </a:r>
          </a:p>
          <a:p>
            <a:pPr lvl="2"/>
            <a:r>
              <a:rPr sz="1200"/>
              <a:t>DiretorMontagem reaproveita o mesmo Builder para produzir receitas prontas (gamer, escritório).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D911A3-EEB2-365D-51B9-9995178A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5</a:t>
            </a:fld>
            <a:endParaRPr lang="pt-BR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C10B1C1B-3878-7851-DD82-29C41BB12A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2375872-45C1-6D18-131D-BBF3B4050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6" name="Rectangle 14">
            <a:extLst>
              <a:ext uri="{FF2B5EF4-FFF2-40B4-BE49-F238E27FC236}">
                <a16:creationId xmlns:a16="http://schemas.microsoft.com/office/drawing/2014/main" id="{ED912FF9-6581-2942-327B-109A119707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716016" y="1650000"/>
            <a:ext cx="3100000" cy="235000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60000" tIns="60000" bIns="60000"/>
          <a:lstStyle/>
          <a:p>
            <a:pPr algn="ctr"/>
            <a:r>
              <a:rPr b="1" sz="1100">
                <a:solidFill>
                  <a:srgbClr val="9CDCFE"/>
                </a:solidFill>
              </a:rPr>
              <a:t>ComputadorBuilder.java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public interface ComputadorBuilder {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ComputadorBuilder setCpu(String cpu);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ComputadorBuilder setRam(String ram);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ComputadorBuilder setArmazenamento(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  String armazenamento);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ComputadorBuilder setPlacaDeVideo(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  String placaDeVideo);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ComputadorBuilder setFonte(String fonte);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Computador build();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16016" y="4150000"/>
            <a:ext cx="3100000" cy="235000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60000" tIns="60000" bIns="60000"/>
          <a:lstStyle/>
          <a:p>
            <a:pPr algn="ctr"/>
            <a:r>
              <a:rPr b="1" sz="1100">
                <a:solidFill>
                  <a:srgbClr val="9CDCFE"/>
                </a:solidFill>
              </a:rPr>
              <a:t>DiretorMontagem.java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// DiretorMontagem.java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Computador montarComputadorGamer(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ComputadorBuilder builder) {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return builder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.setCpu("Intel Core i9")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.setRam("32GB DDR5")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.setPlacaDeVideo("RTX 4080")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.setArmazenamento("2TB NVMe SSD")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.setFonte("850W")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    .build();</a:t>
            </a:r>
          </a:p>
          <a:p>
            <a:r>
              <a:rPr sz="9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379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i="1" dirty="0">
                <a:solidFill>
                  <a:srgbClr val="333399"/>
                </a:solidFill>
              </a:rPr>
              <a:t>Builder</a:t>
            </a:r>
            <a:r>
              <a:rPr lang="en-US" sz="2000" i="1" dirty="0" err="1">
                <a:solidFill>
                  <a:srgbClr val="333399"/>
                </a:solidFill>
              </a:rPr>
              <a:t/>
            </a:r>
            <a:endParaRPr lang="en-US" sz="2000" i="1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1800" u="sng" dirty="0" err="1">
                <a:solidFill>
                  <a:srgbClr val="333399"/>
                </a:solidFill>
              </a:rPr>
              <a:t>Aplicabilidade</a:t>
            </a:r>
            <a:r>
              <a:rPr lang="en-US" sz="1800" dirty="0">
                <a:solidFill>
                  <a:srgbClr val="333399"/>
                </a:solidFill>
              </a:rPr>
              <a:t>: 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um objeto tem muitos parâmetros, vários opcionais, e um construtor único ficaria confuso ou sujeito a erro ("construtor telescópico").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o mesmo processo de construção deve produzir representações diferentes do objeto (ex.: computador gamer vs. de escritório).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se quer que o objeto final seja imutável, mas a montagem precisa acontecer aos poucos, em etapas.</a:t>
            </a: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pt-BR" sz="1400" dirty="0">
                <a:solidFill>
                  <a:srgbClr val="333399"/>
                </a:solidFill>
              </a:rPr>
              <a:t>Quando se quer isolar a lógica de construção complexa da classe do próprio produto, mantendo o produto simples.</a:t>
            </a:r>
            <a:r>
              <a:rPr lang="pt-BR" sz="1400" i="1" dirty="0">
                <a:solidFill>
                  <a:srgbClr val="333399"/>
                </a:solidFill>
              </a:rPr>
              <a:t/>
            </a:r>
            <a:r>
              <a:rPr lang="pt-BR" sz="1400" dirty="0">
                <a:solidFill>
                  <a:srgbClr val="333399"/>
                </a:solidFill>
              </a:rPr>
              <a:t/>
            </a:r>
            <a:endParaRPr lang="en-US" sz="1400" dirty="0">
              <a:solidFill>
                <a:srgbClr val="333399"/>
              </a:solidFill>
            </a:endParaRPr>
          </a:p>
          <a:p>
            <a:pPr lvl="2" algn="just">
              <a:buFont typeface="Wingdings" panose="05000000000000000000" pitchFamily="2" charset="2"/>
              <a:buChar char="ü"/>
            </a:pPr>
            <a:endParaRPr lang="pt-BR" sz="1800" dirty="0">
              <a:solidFill>
                <a:srgbClr val="333399"/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6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sp>
        <p:nvSpPr>
          <p:cNvPr id="5" name="Rectangle 14">
            <a:extLst>
              <a:ext uri="{FF2B5EF4-FFF2-40B4-BE49-F238E27FC236}">
                <a16:creationId xmlns:a16="http://schemas.microsoft.com/office/drawing/2014/main" id="{19D190A5-4B0B-0CC4-B09F-E91B114009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0780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0" y="6305550"/>
            <a:ext cx="9144000" cy="400050"/>
            <a:chOff x="0" y="3546"/>
            <a:chExt cx="5760" cy="684"/>
          </a:xfrm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0" y="3546"/>
              <a:ext cx="5760" cy="679"/>
            </a:xfrm>
            <a:prstGeom prst="rect">
              <a:avLst/>
            </a:prstGeom>
            <a:solidFill>
              <a:srgbClr val="BAC4D8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3" name="Rectangle 6"/>
            <p:cNvSpPr>
              <a:spLocks noChangeArrowheads="1"/>
            </p:cNvSpPr>
            <p:nvPr userDrawn="1"/>
          </p:nvSpPr>
          <p:spPr bwMode="auto">
            <a:xfrm>
              <a:off x="0" y="3551"/>
              <a:ext cx="5760" cy="679"/>
            </a:xfrm>
            <a:prstGeom prst="rect">
              <a:avLst/>
            </a:prstGeom>
            <a:solidFill>
              <a:schemeClr val="bg1">
                <a:alpha val="60001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grpSp>
        <p:nvGrpSpPr>
          <p:cNvPr id="16" name="Group 8"/>
          <p:cNvGrpSpPr>
            <a:grpSpLocks/>
          </p:cNvGrpSpPr>
          <p:nvPr/>
        </p:nvGrpSpPr>
        <p:grpSpPr bwMode="auto">
          <a:xfrm>
            <a:off x="0" y="209550"/>
            <a:ext cx="9144000" cy="1085850"/>
            <a:chOff x="0" y="-726"/>
            <a:chExt cx="5760" cy="684"/>
          </a:xfrm>
        </p:grpSpPr>
        <p:sp>
          <p:nvSpPr>
            <p:cNvPr id="17" name="Rectangle 9"/>
            <p:cNvSpPr>
              <a:spLocks noChangeArrowheads="1"/>
            </p:cNvSpPr>
            <p:nvPr userDrawn="1"/>
          </p:nvSpPr>
          <p:spPr bwMode="auto">
            <a:xfrm>
              <a:off x="0" y="-726"/>
              <a:ext cx="5760" cy="678"/>
            </a:xfrm>
            <a:prstGeom prst="rect">
              <a:avLst/>
            </a:prstGeom>
            <a:solidFill>
              <a:srgbClr val="96A5C4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 userDrawn="1"/>
          </p:nvSpPr>
          <p:spPr bwMode="auto">
            <a:xfrm>
              <a:off x="0" y="-720"/>
              <a:ext cx="5760" cy="678"/>
            </a:xfrm>
            <a:prstGeom prst="rect">
              <a:avLst/>
            </a:prstGeom>
            <a:solidFill>
              <a:schemeClr val="bg1">
                <a:alpha val="31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pt-BR" dirty="0">
                <a:latin typeface="Tahoma" pitchFamily="34" charset="0"/>
                <a:ea typeface="+mn-ea"/>
              </a:endParaRPr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Builder</a:t>
            </a:r>
            <a:r>
              <a:rPr lang="pt-BR" sz="4000" i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r>
              <a:rPr lang="pt-BR" sz="4000" i="1" dirty="0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AECB-AAC1-46E3-AF09-A631E4BCB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3376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1" i="1" dirty="0">
                <a:solidFill>
                  <a:srgbClr val="333399"/>
                </a:solidFill>
              </a:rPr>
              <a:t>Padrões de Projeto Orientado a Objetos</a:t>
            </a:r>
            <a:endParaRPr lang="pt-BR" sz="2400" b="1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endParaRPr lang="pt-BR" sz="1800" dirty="0">
              <a:solidFill>
                <a:srgbClr val="333399"/>
              </a:solidFill>
            </a:endParaRPr>
          </a:p>
          <a:p>
            <a:pPr marL="57150" indent="0" algn="just">
              <a:buNone/>
            </a:pPr>
            <a:r>
              <a:rPr lang="pt-BR" sz="2400" b="1" dirty="0">
                <a:solidFill>
                  <a:srgbClr val="333399"/>
                </a:solidFill>
              </a:rPr>
              <a:t>Padrões Criacionais: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2C95A-2AF6-49B0-BE51-226E5A34C307}" type="slidenum">
              <a:rPr lang="pt-BR" smtClean="0"/>
              <a:t>7</a:t>
            </a:fld>
            <a:endParaRPr lang="pt-BR" dirty="0"/>
          </a:p>
        </p:txBody>
      </p:sp>
      <p:pic>
        <p:nvPicPr>
          <p:cNvPr id="15" name="Imagem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9" y="328339"/>
            <a:ext cx="514732" cy="792000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86" y="567712"/>
            <a:ext cx="1200000" cy="360000"/>
          </a:xfrm>
          <a:prstGeom prst="rect">
            <a:avLst/>
          </a:prstGeom>
        </p:spPr>
      </p:pic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19AF9261-8EF8-490B-BB71-B2DC1BEC2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361928"/>
              </p:ext>
            </p:extLst>
          </p:nvPr>
        </p:nvGraphicFramePr>
        <p:xfrm>
          <a:off x="457200" y="2852936"/>
          <a:ext cx="8229600" cy="181864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147446261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38140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PRÓS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CONTRAS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667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/>
                        <a:t>Elimina o construtor telescópico: a montagem fica legível, passo a passo, com nomes claros para cada parte.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Aumenta o número de classes do projeto (interface Builder, implementação concreta, e opcionalmente o Diretor).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487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/>
                        <a:t>Permite reaproveitar o mesmo processo de construção para gerar representações diferentes do produto (via Diretor).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Só compensa para objetos realmente complexos — para objetos simples, o padrão adiciona mais código do que resolve.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256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200"/>
                        <a:t>Garante que o produto só é exposto ao cliente já completo e validado, via build() — sem estados intermediários inválidos.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Se o produto tiver muitos atributos obrigatórios diferentes entre si, o Builder pode acabar precisando de validações extras em build().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27154"/>
                  </a:ext>
                </a:extLst>
              </a:tr>
            </a:tbl>
          </a:graphicData>
        </a:graphic>
      </p:graphicFrame>
      <p:sp>
        <p:nvSpPr>
          <p:cNvPr id="5" name="Rectangle 14">
            <a:extLst>
              <a:ext uri="{FF2B5EF4-FFF2-40B4-BE49-F238E27FC236}">
                <a16:creationId xmlns:a16="http://schemas.microsoft.com/office/drawing/2014/main" id="{0F619050-3846-9DAA-2ABB-E5FFC94C5D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356350"/>
            <a:ext cx="3752056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 u="none">
                <a:solidFill>
                  <a:srgbClr val="83A5D7"/>
                </a:solidFill>
                <a:latin typeface="Arial" charset="0"/>
              </a:defRPr>
            </a:lvl1pPr>
          </a:lstStyle>
          <a:p>
            <a:pPr algn="just"/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Nome do Aluno: Marcus Paulo — marcuspaulodev@gmail.com</a:t>
            </a:r>
            <a:r>
              <a:rPr lang="en-US" i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  <a:r>
              <a:rPr lang="en-US" i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20522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Words>288</Words>
  <Application>Microsoft Office PowerPoint</Application>
  <PresentationFormat>Apresentação na tela (4:3)</PresentationFormat>
  <Paragraphs>91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Arial</vt:lpstr>
      <vt:lpstr>Calibri</vt:lpstr>
      <vt:lpstr>Tahoma</vt:lpstr>
      <vt:lpstr>Wingdings</vt:lpstr>
      <vt:lpstr>Wingdings 2</vt:lpstr>
      <vt:lpstr>Tema do Office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  <vt:lpstr>Design Patterns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Multimídia</dc:title>
  <dc:creator>lenardocs</dc:creator>
  <cp:lastModifiedBy>Lenardo Chaves</cp:lastModifiedBy>
  <cp:revision>2228</cp:revision>
  <cp:lastPrinted>2015-03-03T10:46:54Z</cp:lastPrinted>
  <dcterms:created xsi:type="dcterms:W3CDTF">2012-08-10T18:51:58Z</dcterms:created>
  <dcterms:modified xsi:type="dcterms:W3CDTF">2026-08-18T18:57:08Z</dcterms:modified>
</cp:coreProperties>
</file>