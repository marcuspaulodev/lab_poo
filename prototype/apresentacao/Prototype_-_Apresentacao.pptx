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bookmarkIdSeed="3">
  <p:sldMasterIdLst>
    <p:sldMasterId id="2147483872" r:id="rId1"/>
  </p:sldMasterIdLst>
  <p:notesMasterIdLst>
    <p:notesMasterId r:id="rId9"/>
  </p:notesMasterIdLst>
  <p:handoutMasterIdLst>
    <p:handoutMasterId r:id="rId10"/>
  </p:handoutMasterIdLst>
  <p:sldIdLst>
    <p:sldId id="457" r:id="rId2"/>
    <p:sldId id="483" r:id="rId3"/>
    <p:sldId id="485" r:id="rId4"/>
    <p:sldId id="486" r:id="rId5"/>
    <p:sldId id="490" r:id="rId6"/>
    <p:sldId id="489" r:id="rId7"/>
    <p:sldId id="487" r:id="rId8"/>
  </p:sldIdLst>
  <p:sldSz cx="9144000" cy="6858000" type="screen4x3"/>
  <p:notesSz cx="6797675" cy="987425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333399"/>
    <a:srgbClr val="00FF01"/>
    <a:srgbClr val="FFFFFF"/>
    <a:srgbClr val="E5E5E5"/>
    <a:srgbClr val="FDFFB3"/>
    <a:srgbClr val="FF898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édio 2 - Ênfase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enhum Estilo, Nenhuma Grad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D27102A9-8310-4765-A935-A1911B00CA55}" styleName="Estilo Claro 1 - Ênfase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6E25E649-3F16-4E02-A733-19D2CDBF48F0}" styleName="Estilo Médio 3 - Ênfase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9CF1AB2-1976-4502-BF36-3FF5EA218861}" styleName="Estilo Médio 4 - Ênfase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1"/>
              </a:solidFill>
            </a:ln>
          </a:top>
        </a:tcBdr>
        <a:fill>
          <a:solidFill>
            <a:schemeClr val="accent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1">
              <a:tint val="20000"/>
            </a:schemeClr>
          </a:solidFill>
        </a:fill>
      </a:tcStyle>
    </a:firstRow>
  </a:tblStyle>
  <a:tblStyle styleId="{073A0DAA-6AF3-43AB-8588-CEC1D06C72B9}" styleName="Estilo Mé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Estilo Médio 2 - Ênfase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43" autoAdjust="0"/>
    <p:restoredTop sz="68421" autoAdjust="0"/>
  </p:normalViewPr>
  <p:slideViewPr>
    <p:cSldViewPr>
      <p:cViewPr varScale="1">
        <p:scale>
          <a:sx n="75" d="100"/>
          <a:sy n="75" d="100"/>
        </p:scale>
        <p:origin x="2592" y="5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-3930"/>
    </p:cViewPr>
  </p:outlineViewPr>
  <p:notesTextViewPr>
    <p:cViewPr>
      <p:scale>
        <a:sx n="150" d="100"/>
        <a:sy n="150" d="100"/>
      </p:scale>
      <p:origin x="0" y="0"/>
    </p:cViewPr>
  </p:notesTextViewPr>
  <p:notesViewPr>
    <p:cSldViewPr>
      <p:cViewPr varScale="1">
        <p:scale>
          <a:sx n="50" d="100"/>
          <a:sy n="50" d="100"/>
        </p:scale>
        <p:origin x="2898" y="5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notesMaster" Target="notesMasters/notesMaster1.xml"/><Relationship Id="rId10" Type="http://schemas.openxmlformats.org/officeDocument/2006/relationships/handoutMaster" Target="handoutMasters/handout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quarter" idx="1"/>
          </p:nvPr>
        </p:nvSpPr>
        <p:spPr>
          <a:xfrm>
            <a:off x="3850443" y="0"/>
            <a:ext cx="2945659" cy="495427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BCC5EA0-29E7-4103-BA05-2D913AD97A19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2"/>
          </p:nvPr>
        </p:nvSpPr>
        <p:spPr>
          <a:xfrm>
            <a:off x="0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3"/>
          </p:nvPr>
        </p:nvSpPr>
        <p:spPr>
          <a:xfrm>
            <a:off x="3850443" y="9378824"/>
            <a:ext cx="2945659" cy="495426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E793395-FD7E-449E-AB90-F73CDC3D17A0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0706086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A630C5F-284B-44F0-A8A0-7F84179800FE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931863" y="741363"/>
            <a:ext cx="4933950" cy="37020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pt-BR" dirty="0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679768" y="4690269"/>
            <a:ext cx="5438140" cy="4443413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0" y="9378824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3850443" y="9378824"/>
            <a:ext cx="2945659" cy="4937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8054281-F103-4FD5-A7F2-1CA3EE49F0F2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579799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1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313550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2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445786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3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3135167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4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59981059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680E3E-F3C0-13E4-7718-29F7C2AD341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>
            <a:extLst>
              <a:ext uri="{FF2B5EF4-FFF2-40B4-BE49-F238E27FC236}">
                <a16:creationId xmlns:a16="http://schemas.microsoft.com/office/drawing/2014/main" id="{C7F5FD39-48DC-31D8-5728-B3BF9F1652C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>
            <a:extLst>
              <a:ext uri="{FF2B5EF4-FFF2-40B4-BE49-F238E27FC236}">
                <a16:creationId xmlns:a16="http://schemas.microsoft.com/office/drawing/2014/main" id="{F9837A28-4DF4-9B5D-B48D-DF5B4638A9A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1C2382F-EA7B-56BF-AECB-A3A79F1606B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5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92900768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6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53407469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pt-BR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8054281-F103-4FD5-A7F2-1CA3EE49F0F2}" type="slidenum">
              <a:rPr lang="pt-BR" smtClean="0"/>
              <a:t>7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46521742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D005063-AA5D-497E-A052-93E186060258}" type="datetime1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BE3338C-2AB5-4F7D-90A9-4B843DC428B1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62389134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991860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7624863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7255117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4" name="Espaço Reservado para Conteúdo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6" name="Espaço Reservado para Conteúdo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8" name="Espaço Reservado para Rodapé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9" name="Espaço Reservado para Número de Slid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21650448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4" name="Espaço Reservado para Rodapé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5" name="Espaço Reservado para Número de Slid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665730049"/>
      </p:ext>
    </p:extLst>
  </p:cSld>
  <p:clrMapOvr>
    <a:masterClrMapping/>
  </p:clrMapOvr>
  <p:hf hdr="0" ftr="0" dt="0"/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3" name="Espaço Reservado para Rodapé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078876398"/>
      </p:ext>
    </p:extLst>
  </p:cSld>
  <p:clrMapOvr>
    <a:masterClrMapping/>
  </p:clrMapOvr>
  <p:hf hdr="0" ftr="0" dt="0"/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3981390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 dirty="0"/>
          </a:p>
        </p:txBody>
      </p:sp>
      <p:sp>
        <p:nvSpPr>
          <p:cNvPr id="4" name="Espaço Reservado para Texto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pt-BR"/>
              <a:t>Clique para editar o texto mestre</a:t>
            </a:r>
          </a:p>
        </p:txBody>
      </p:sp>
      <p:sp>
        <p:nvSpPr>
          <p:cNvPr id="5" name="Espaço Reservado para Data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0936390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56926959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e texto verticai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4559121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2A63BEF-DA3A-4FF1-A0E6-59E4C77370D5}" type="datetimeFigureOut">
              <a:rPr lang="pt-BR" smtClean="0"/>
              <a:t>18/08/2026</a:t>
            </a:fld>
            <a:endParaRPr lang="pt-BR" dirty="0"/>
          </a:p>
        </p:txBody>
      </p:sp>
      <p:sp>
        <p:nvSpPr>
          <p:cNvPr id="5" name="Espaço Reservado para Rodapé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 dirty="0"/>
          </a:p>
        </p:txBody>
      </p:sp>
      <p:sp>
        <p:nvSpPr>
          <p:cNvPr id="6" name="Espaço Reservado para Número de Slide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202C95A-2AF6-49B0-BE51-226E5A34C307}" type="slidenum">
              <a:rPr lang="pt-BR" smtClean="0"/>
              <a:t>‹nº›</a:t>
            </a:fld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8810733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73" r:id="rId1"/>
    <p:sldLayoutId id="2147483874" r:id="rId2"/>
    <p:sldLayoutId id="2147483875" r:id="rId3"/>
    <p:sldLayoutId id="2147483876" r:id="rId4"/>
    <p:sldLayoutId id="2147483877" r:id="rId5"/>
    <p:sldLayoutId id="2147483878" r:id="rId6"/>
    <p:sldLayoutId id="2147483879" r:id="rId7"/>
    <p:sldLayoutId id="2147483880" r:id="rId8"/>
    <p:sldLayoutId id="2147483881" r:id="rId9"/>
    <p:sldLayoutId id="2147483882" r:id="rId10"/>
    <p:sldLayoutId id="2147483883" r:id="rId11"/>
  </p:sldLayoutIdLst>
  <p:hf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jpe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4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Prototype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457199" y="1600200"/>
            <a:ext cx="8229599" cy="452596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Prototype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i="1" dirty="0">
                <a:solidFill>
                  <a:srgbClr val="333399"/>
                </a:solidFill>
              </a:rPr>
              <a:t>Cria novos objetos copiando uma instância existente e pré-configurada, em vez de construí-los do zero.</a:t>
            </a:r>
            <a:r>
              <a:rPr lang="en-US" sz="1800" i="1" dirty="0" err="1">
                <a:solidFill>
                  <a:srgbClr val="333399"/>
                </a:solidFill>
              </a:rPr>
              <a:t/>
            </a:r>
            <a:r>
              <a:rPr lang="en-US" sz="1800" i="1" dirty="0">
                <a:solidFill>
                  <a:srgbClr val="333399"/>
                </a:solidFill>
              </a:rPr>
              <a:t/>
            </a:r>
            <a:r>
              <a:rPr lang="en-US" sz="1800" i="1" dirty="0" err="1">
                <a:solidFill>
                  <a:srgbClr val="333399"/>
                </a:solidFill>
              </a:rPr>
              <a:t/>
            </a:r>
            <a:r>
              <a:rPr lang="en-US" sz="1800" i="1" dirty="0">
                <a:solidFill>
                  <a:srgbClr val="333399"/>
                </a:solidFill>
              </a:rPr>
              <a:t/>
            </a:r>
            <a:r>
              <a:rPr lang="en-US" sz="1800" i="1" dirty="0" err="1">
                <a:solidFill>
                  <a:srgbClr val="333399"/>
                </a:solidFill>
              </a:rPr>
              <a:t/>
            </a:r>
            <a:r>
              <a:rPr lang="en-US" sz="1800" i="1" dirty="0">
                <a:solidFill>
                  <a:srgbClr val="333399"/>
                </a:solidFill>
              </a:rPr>
              <a:t/>
            </a: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24" name="Rectangle 14"/>
          <p:cNvSpPr>
            <a:spLocks noGrp="1" noChangeArrowheads="1"/>
          </p:cNvSpPr>
          <p:nvPr>
            <p:ph type="ftr" sz="quarter" idx="11"/>
          </p:nvPr>
        </p:nvSpPr>
        <p:spPr bwMode="auto"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1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4504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Prototype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1"/>
            <a:ext cx="8229599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Prototype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Problema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600" dirty="0">
                <a:solidFill>
                  <a:srgbClr val="333399"/>
                </a:solidFill>
              </a:rPr>
              <a:t>Alguns objetos são caros de criar do zero: exigem cálculo pesado, leitura de arquivo/rede, ou muitos passos de configuração.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600" dirty="0">
                <a:solidFill>
                  <a:srgbClr val="333399"/>
                </a:solidFill>
              </a:rPr>
              <a:t>Em outros casos, a classe concreta a instanciar só é conhecida em tempo de execução (ex.: carregada dinamicamente).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600" dirty="0">
                <a:solidFill>
                  <a:srgbClr val="333399"/>
                </a:solidFill>
              </a:rPr>
              <a:t>Instanciar direto com "new ClasseConcreta()" espalhado pelo código acopla o cliente às classes concretas e obriga repetir toda a configuração a cada nova instância.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t>Exemplo: em um jogo, criar um monstro do zero significa redefinir HP, ataque e loot toda vez — mesmo quando já existe um "molde" pronto para aquele tipo de monstro.</a:t>
            </a:r>
            <a:endParaRPr lang="pt-BR" sz="1600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2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5" name="Rectangle 14">
            <a:extLst>
              <a:ext uri="{FF2B5EF4-FFF2-40B4-BE49-F238E27FC236}">
                <a16:creationId xmlns:a16="http://schemas.microsoft.com/office/drawing/2014/main" id="{6A189755-9319-0F24-5E82-175FDAAB64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4957544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Prototype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Prototype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Solução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Declarar uma interface Prototype com um método de clonagem (ex.: clonar()).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Cada classe concreta implementa a interface e sabe copiar seus próprios dados — inclusive fazendo cópia profunda (deep copy) de campos mutáveis, como listas.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O cliente mantém instâncias já configuradas (protótipos) e cria novos objetos chamando clonar(), em vez de usar new + reconfigurar tudo.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Um Registro de Protótipos (catálogo) pode guardar protótipos por chave e devolver clones sob demanda — permite adicionar novos "tipos" em tempo de execução, só registrando um novo protótipo.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dirty="0">
                <a:solidFill>
                  <a:srgbClr val="333399"/>
                </a:solidFill>
              </a:rPr>
              <a:t>O cliente nunca precisa conhecer a classe concreta: só conhece a interface Prototype.</a:t>
            </a:r>
          </a:p>
          <a:p>
            <a:pPr marL="1714500" lvl="3" indent="-342900" algn="just">
              <a:buFont typeface="+mj-lt"/>
              <a:buAutoNum type="arabicPeriod"/>
            </a:pPr>
            <a:endParaRPr lang="pt-BR" sz="1400" dirty="0">
              <a:solidFill>
                <a:srgbClr val="333399"/>
              </a:solidFill>
            </a:endParaRPr>
          </a:p>
          <a:p>
            <a:pPr marL="1714500" lvl="3" indent="-342900" algn="just">
              <a:buFont typeface="+mj-lt"/>
              <a:buAutoNum type="arabicPeriod" startAt="3"/>
            </a:pPr>
            <a:endParaRPr lang="pt-BR" sz="1400" dirty="0">
              <a:solidFill>
                <a:srgbClr val="333399"/>
              </a:solidFill>
            </a:endParaRPr>
          </a:p>
          <a:p>
            <a:pPr lvl="3" algn="just">
              <a:buFont typeface="Wingdings" panose="05000000000000000000" pitchFamily="2" charset="2"/>
              <a:buChar char="§"/>
            </a:pPr>
            <a:endParaRPr lang="en-US" sz="1400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3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5" name="Rectangle 14">
            <a:extLst>
              <a:ext uri="{FF2B5EF4-FFF2-40B4-BE49-F238E27FC236}">
                <a16:creationId xmlns:a16="http://schemas.microsoft.com/office/drawing/2014/main" id="{36B674DF-A554-44F2-F417-3B94F00F5C9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693341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Prototype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1"/>
            <a:ext cx="41500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Prototype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Estrutura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Client / Registro conhece apenas a interface Prototype.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Prototype declara clonar().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Goblin e Dragao implementam Prototype e sabem copiar a si mesmos, inclusive o loot (deep copy).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>MonstroRegistro guarda protótipos por chave e devolve prototipo.clonar() sob demanda.</a:t>
            </a:r>
          </a:p>
          <a:p>
            <a:pPr marL="1714500" lvl="3" indent="-342900" algn="just">
              <a:buFont typeface="+mj-lt"/>
              <a:buAutoNum type="arabicPeriod"/>
            </a:pPr>
            <a:r>
              <a:rPr lang="pt-BR" sz="1400" b="1" dirty="0">
                <a:solidFill>
                  <a:srgbClr val="333399"/>
                </a:solidFill>
              </a:rPr>
              <a:t/>
            </a: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4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6" name="Rectangle 14">
            <a:extLst>
              <a:ext uri="{FF2B5EF4-FFF2-40B4-BE49-F238E27FC236}">
                <a16:creationId xmlns:a16="http://schemas.microsoft.com/office/drawing/2014/main" id="{AE81D55B-E5CF-74E9-DC16-6AC89B187E6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4716016" y="1750000"/>
            <a:ext cx="2600000" cy="500000"/>
          </a:xfrm>
          <a:prstGeom prst="rect">
            <a:avLst/>
          </a:prstGeom>
          <a:solidFill>
            <a:srgbClr val="EAF1FB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202020"/>
                </a:solidFill>
              </a:rPr>
              <a:t>Main / MonstroRegistro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16016" y="2700000"/>
            <a:ext cx="2600000" cy="500000"/>
          </a:xfrm>
          <a:prstGeom prst="rect">
            <a:avLst/>
          </a:prstGeom>
          <a:solidFill>
            <a:srgbClr val="FFF3D6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1">
                <a:solidFill>
                  <a:srgbClr val="202020"/>
                </a:solidFill>
              </a:rPr>
              <a:t>«interface»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Prototype</a:t>
            </a:r>
          </a:p>
          <a:p>
            <a:pPr algn="ctr"/>
            <a:r>
              <a:rPr sz="1100" b="1">
                <a:solidFill>
                  <a:srgbClr val="202020"/>
                </a:solidFill>
              </a:rPr>
              <a:t>+ clonar()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16016" y="3650000"/>
            <a:ext cx="1430000" cy="650000"/>
          </a:xfrm>
          <a:prstGeom prst="rect">
            <a:avLst/>
          </a:prstGeom>
          <a:solidFill>
            <a:srgbClr val="E4F7E9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202020"/>
                </a:solidFill>
              </a:rPr>
              <a:t>Goblin</a:t>
            </a:r>
          </a:p>
          <a:p>
            <a:pPr algn="ctr"/>
            <a:r>
              <a:rPr sz="1100" b="0">
                <a:solidFill>
                  <a:srgbClr val="202020"/>
                </a:solidFill>
              </a:rPr>
              <a:t>(30hp, loot=[...])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024016" y="3650000"/>
            <a:ext cx="1430000" cy="650000"/>
          </a:xfrm>
          <a:prstGeom prst="rect">
            <a:avLst/>
          </a:prstGeom>
          <a:solidFill>
            <a:srgbClr val="FBE4E4"/>
          </a:solidFill>
          <a:ln w="12700">
            <a:solidFill>
              <a:srgbClr val="40404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/>
            <a:r>
              <a:rPr sz="1100" b="0">
                <a:solidFill>
                  <a:srgbClr val="202020"/>
                </a:solidFill>
              </a:rPr>
              <a:t>Dragao</a:t>
            </a:r>
          </a:p>
          <a:p>
            <a:pPr algn="ctr"/>
            <a:r>
              <a:rPr sz="1100" b="0">
                <a:solidFill>
                  <a:srgbClr val="202020"/>
                </a:solidFill>
              </a:rPr>
              <a:t>(500hp, loot=[...])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6016016" y="2250000"/>
            <a:ext cx="0" cy="450000"/>
          </a:xfrm>
          <a:prstGeom prst="line">
            <a:avLst/>
          </a:prstGeom>
          <a:ln w="15875">
            <a:solidFill>
              <a:srgbClr val="606060"/>
            </a:solidFill>
            <a:prstDash val="dash"/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 flipV="1">
            <a:off x="5231016" y="3200000"/>
            <a:ext cx="785000" cy="450000"/>
          </a:xfrm>
          <a:prstGeom prst="line">
            <a:avLst/>
          </a:prstGeom>
          <a:ln w="15875">
            <a:solidFill>
              <a:srgbClr val="6060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 flipV="1">
            <a:off x="6016016" y="3200000"/>
            <a:ext cx="723000" cy="450000"/>
          </a:xfrm>
          <a:prstGeom prst="line">
            <a:avLst/>
          </a:prstGeom>
          <a:ln w="15875">
            <a:solidFill>
              <a:srgbClr val="60606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1411017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217D778-AF68-B1FC-30C0-5A8B8D2372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>
            <a:extLst>
              <a:ext uri="{FF2B5EF4-FFF2-40B4-BE49-F238E27FC236}">
                <a16:creationId xmlns:a16="http://schemas.microsoft.com/office/drawing/2014/main" id="{D22405AB-904F-63B0-93DF-4ED4C3A0533D}"/>
              </a:ext>
            </a:extLst>
          </p:cNvPr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>
              <a:extLst>
                <a:ext uri="{FF2B5EF4-FFF2-40B4-BE49-F238E27FC236}">
                  <a16:creationId xmlns:a16="http://schemas.microsoft.com/office/drawing/2014/main" id="{812858A9-6D4B-B317-48EF-5A708A02EC40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>
              <a:extLst>
                <a:ext uri="{FF2B5EF4-FFF2-40B4-BE49-F238E27FC236}">
                  <a16:creationId xmlns:a16="http://schemas.microsoft.com/office/drawing/2014/main" id="{32A5A3AB-B1D9-12FA-F561-6E0F36A99731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>
            <a:extLst>
              <a:ext uri="{FF2B5EF4-FFF2-40B4-BE49-F238E27FC236}">
                <a16:creationId xmlns:a16="http://schemas.microsoft.com/office/drawing/2014/main" id="{E23A1FFA-8526-3CF0-0214-CD7A506DC64E}"/>
              </a:ext>
            </a:extLst>
          </p:cNvPr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>
              <a:extLst>
                <a:ext uri="{FF2B5EF4-FFF2-40B4-BE49-F238E27FC236}">
                  <a16:creationId xmlns:a16="http://schemas.microsoft.com/office/drawing/2014/main" id="{0C6CC2A8-912E-999E-5003-8DFDDD423418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>
              <a:extLst>
                <a:ext uri="{FF2B5EF4-FFF2-40B4-BE49-F238E27FC236}">
                  <a16:creationId xmlns:a16="http://schemas.microsoft.com/office/drawing/2014/main" id="{94953508-C056-EA4C-C060-C81FB017E447}"/>
                </a:ext>
              </a:extLst>
            </p:cNvPr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06E8A26C-2F78-4A17-D33D-5DA21845FD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Prototype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195F881-3416-FD67-C39E-09BD67B8097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199" y="1600201"/>
            <a:ext cx="41500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Prototype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b="1" u="sng" dirty="0" err="1">
                <a:solidFill>
                  <a:srgbClr val="333399"/>
                </a:solidFill>
              </a:rPr>
              <a:t>Exemplo</a:t>
            </a:r>
            <a:r>
              <a:rPr lang="en-US" sz="1800" b="1" u="sng" dirty="0">
                <a:solidFill>
                  <a:srgbClr val="333399"/>
                </a:solidFill>
              </a:rPr>
              <a:t> de Código</a:t>
            </a:r>
            <a:r>
              <a:rPr lang="en-US" sz="1800" b="1" dirty="0">
                <a:solidFill>
                  <a:srgbClr val="333399"/>
                </a:solidFill>
              </a:rPr>
              <a:t>: </a:t>
            </a:r>
          </a:p>
          <a:p>
            <a:pPr lvl="2" algn="just">
              <a:buFont typeface="Wingdings" panose="05000000000000000000" pitchFamily="2" charset="2"/>
              <a:buChar char="ü"/>
            </a:pPr>
            <a:r>
              <a:rPr sz="1200"/>
              <a:t>Prototype&lt;T&gt; declara o contrato de clonagem genérico.</a:t>
            </a:r>
            <a:endParaRPr lang="pt-BR" sz="1800" dirty="0">
              <a:solidFill>
                <a:srgbClr val="333399"/>
              </a:solidFill>
            </a:endParaRPr>
          </a:p>
          <a:p>
            <a:pPr lvl="2"/>
            <a:r>
              <a:rPr sz="1200"/>
              <a:t>Monstro implementa a cópia profunda do loot no construtor de cópia; Goblin e Dragao só reaproveitam esse construtor.</a:t>
            </a:r>
          </a:p>
          <a:p>
            <a:pPr lvl="2"/>
            <a:r>
              <a:rPr sz="1200"/>
              <a:t>MonstroRegistro guarda protótipos por tipo e devolve clones.</a:t>
            </a:r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FDD911A3-EEB2-365D-51B9-9995178A99B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5</a:t>
            </a:fld>
            <a:endParaRPr lang="pt-BR" dirty="0"/>
          </a:p>
        </p:txBody>
      </p:sp>
      <p:pic>
        <p:nvPicPr>
          <p:cNvPr id="15" name="Imagem 14">
            <a:extLst>
              <a:ext uri="{FF2B5EF4-FFF2-40B4-BE49-F238E27FC236}">
                <a16:creationId xmlns:a16="http://schemas.microsoft.com/office/drawing/2014/main" id="{C10B1C1B-3878-7851-DD82-29C41BB12AA2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>
            <a:extLst>
              <a:ext uri="{FF2B5EF4-FFF2-40B4-BE49-F238E27FC236}">
                <a16:creationId xmlns:a16="http://schemas.microsoft.com/office/drawing/2014/main" id="{92375872-45C1-6D18-131D-BBF3B40502E5}"/>
              </a:ext>
            </a:extLst>
          </p:cNvPr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6" name="Rectangle 14">
            <a:extLst>
              <a:ext uri="{FF2B5EF4-FFF2-40B4-BE49-F238E27FC236}">
                <a16:creationId xmlns:a16="http://schemas.microsoft.com/office/drawing/2014/main" id="{ED912FF9-6581-2942-327B-109A119707F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4716016" y="1650000"/>
            <a:ext cx="3100000" cy="2350000"/>
          </a:xfrm>
          <a:prstGeom prst="rect">
            <a:avLst/>
          </a:prstGeom>
          <a:solidFill>
            <a:srgbClr val="1E1E1E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60000" tIns="60000" bIns="60000"/>
          <a:lstStyle/>
          <a:p>
            <a:pPr algn="ctr"/>
            <a:r>
              <a:rPr b="1" sz="1100">
                <a:solidFill>
                  <a:srgbClr val="9CDCFE"/>
                </a:solidFill>
              </a:rPr>
              <a:t>Prototype.java / Monstro.java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public interface Prototype&lt;T&gt; {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T clonar();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}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// Monstro.java (construtor de copia)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protected Monstro(Monstro original) {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this.nome = original.nome;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this.hp = original.hp;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this.loot = new ArrayList&lt;&gt;(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    original.loot); // deep copy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}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16016" y="4150000"/>
            <a:ext cx="3100000" cy="2350000"/>
          </a:xfrm>
          <a:prstGeom prst="rect">
            <a:avLst/>
          </a:prstGeom>
          <a:solidFill>
            <a:srgbClr val="1E1E1E"/>
          </a:solidFill>
          <a:ln>
            <a:solidFill>
              <a:srgbClr val="3C3C3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80000" rIns="60000" tIns="60000" bIns="60000"/>
          <a:lstStyle/>
          <a:p>
            <a:pPr algn="ctr"/>
            <a:r>
              <a:rPr b="1" sz="1100">
                <a:solidFill>
                  <a:srgbClr val="9CDCFE"/>
                </a:solidFill>
              </a:rPr>
              <a:t>MonstroRegistro.java / Main.java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// MonstroRegistro.java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Monstro criarMonstro(String tipo) {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return prototipos.get(tipo)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        .clonar();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}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// Main.java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registro.registrar("goblin",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new Goblin());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Monstro g = registro</a:t>
            </a:r>
          </a:p>
          <a:p>
            <a:r>
              <a:rPr sz="900">
                <a:solidFill>
                  <a:srgbClr val="D4D4D4"/>
                </a:solidFill>
                <a:latin typeface="Consolas"/>
              </a:rPr>
              <a:t>    .criarMonstro("goblin");</a:t>
            </a:r>
          </a:p>
        </p:txBody>
      </p:sp>
    </p:spTree>
    <p:extLst>
      <p:ext uri="{BB962C8B-B14F-4D97-AF65-F5344CB8AC3E}">
        <p14:creationId xmlns:p14="http://schemas.microsoft.com/office/powerpoint/2010/main" val="135379063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Prototype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  <a:p>
            <a:pPr lvl="1" algn="just">
              <a:buFont typeface="Wingdings" panose="05000000000000000000" pitchFamily="2" charset="2"/>
              <a:buChar char="Ø"/>
            </a:pPr>
            <a:r>
              <a:rPr lang="en-US" sz="2000" i="1" dirty="0">
                <a:solidFill>
                  <a:srgbClr val="333399"/>
                </a:solidFill>
              </a:rPr>
              <a:t>Prototype</a:t>
            </a:r>
            <a:r>
              <a:rPr lang="en-US" sz="2000" i="1" dirty="0" err="1">
                <a:solidFill>
                  <a:srgbClr val="333399"/>
                </a:solidFill>
              </a:rPr>
              <a:t/>
            </a:r>
            <a:endParaRPr lang="en-US" sz="2000" i="1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r>
              <a:rPr lang="en-US" sz="1800" u="sng" dirty="0" err="1">
                <a:solidFill>
                  <a:srgbClr val="333399"/>
                </a:solidFill>
              </a:rPr>
              <a:t>Aplicabilidade</a:t>
            </a:r>
            <a:r>
              <a:rPr lang="en-US" sz="1800" dirty="0">
                <a:solidFill>
                  <a:srgbClr val="333399"/>
                </a:solidFill>
              </a:rPr>
              <a:t>: 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Quando as classes a instanciar são definidas em tempo de execução (ex.: carregadas dinamicamente, ou vindas de um plugin).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Para evitar criar uma hierarquia paralela de fábricas só para produzir objetos — basta clonar um protótipo já pronto.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Quando existem poucas combinações de estado possíveis e é mais simples manter protótipos prontos do que configurar cada objeto novo do zero.</a:t>
            </a:r>
          </a:p>
          <a:p>
            <a:pPr lvl="3" algn="just">
              <a:buFont typeface="Wingdings" panose="05000000000000000000" pitchFamily="2" charset="2"/>
              <a:buChar char="§"/>
            </a:pPr>
            <a:r>
              <a:rPr lang="pt-BR" sz="1400" dirty="0">
                <a:solidFill>
                  <a:srgbClr val="333399"/>
                </a:solidFill>
              </a:rPr>
              <a:t>Quando a criação de um objeto do zero é cara (jogos com muitas entidades, editores gráficos, geração de documentos a partir de templates).</a:t>
            </a:r>
            <a:r>
              <a:rPr lang="pt-BR" sz="1400" i="1" dirty="0">
                <a:solidFill>
                  <a:srgbClr val="333399"/>
                </a:solidFill>
              </a:rPr>
              <a:t/>
            </a:r>
            <a:r>
              <a:rPr lang="pt-BR" sz="1400" dirty="0">
                <a:solidFill>
                  <a:srgbClr val="333399"/>
                </a:solidFill>
              </a:rPr>
              <a:t/>
            </a:r>
            <a:endParaRPr lang="en-US" sz="1400" dirty="0">
              <a:solidFill>
                <a:srgbClr val="333399"/>
              </a:solidFill>
            </a:endParaRPr>
          </a:p>
          <a:p>
            <a:pPr lvl="2" algn="just">
              <a:buFont typeface="Wingdings" panose="05000000000000000000" pitchFamily="2" charset="2"/>
              <a:buChar char="ü"/>
            </a:pPr>
            <a:endParaRPr lang="pt-BR" sz="1800" dirty="0">
              <a:solidFill>
                <a:srgbClr val="333399"/>
              </a:solidFill>
            </a:endParaRP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6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sp>
        <p:nvSpPr>
          <p:cNvPr id="5" name="Rectangle 14">
            <a:extLst>
              <a:ext uri="{FF2B5EF4-FFF2-40B4-BE49-F238E27FC236}">
                <a16:creationId xmlns:a16="http://schemas.microsoft.com/office/drawing/2014/main" id="{19D190A5-4B0B-0CC4-B09F-E91B1140099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107808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oup 4"/>
          <p:cNvGrpSpPr>
            <a:grpSpLocks/>
          </p:cNvGrpSpPr>
          <p:nvPr/>
        </p:nvGrpSpPr>
        <p:grpSpPr bwMode="auto">
          <a:xfrm>
            <a:off x="0" y="6305550"/>
            <a:ext cx="9144000" cy="400050"/>
            <a:chOff x="0" y="3546"/>
            <a:chExt cx="5760" cy="684"/>
          </a:xfrm>
        </p:grpSpPr>
        <p:sp>
          <p:nvSpPr>
            <p:cNvPr id="12" name="Rectangle 5"/>
            <p:cNvSpPr>
              <a:spLocks noChangeArrowheads="1"/>
            </p:cNvSpPr>
            <p:nvPr userDrawn="1"/>
          </p:nvSpPr>
          <p:spPr bwMode="auto">
            <a:xfrm>
              <a:off x="0" y="3546"/>
              <a:ext cx="5760" cy="679"/>
            </a:xfrm>
            <a:prstGeom prst="rect">
              <a:avLst/>
            </a:prstGeom>
            <a:solidFill>
              <a:srgbClr val="BAC4D8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3" name="Rectangle 6"/>
            <p:cNvSpPr>
              <a:spLocks noChangeArrowheads="1"/>
            </p:cNvSpPr>
            <p:nvPr userDrawn="1"/>
          </p:nvSpPr>
          <p:spPr bwMode="auto">
            <a:xfrm>
              <a:off x="0" y="3551"/>
              <a:ext cx="5760" cy="679"/>
            </a:xfrm>
            <a:prstGeom prst="rect">
              <a:avLst/>
            </a:prstGeom>
            <a:solidFill>
              <a:schemeClr val="bg1">
                <a:alpha val="60001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grpSp>
        <p:nvGrpSpPr>
          <p:cNvPr id="16" name="Group 8"/>
          <p:cNvGrpSpPr>
            <a:grpSpLocks/>
          </p:cNvGrpSpPr>
          <p:nvPr/>
        </p:nvGrpSpPr>
        <p:grpSpPr bwMode="auto">
          <a:xfrm>
            <a:off x="0" y="209550"/>
            <a:ext cx="9144000" cy="1085850"/>
            <a:chOff x="0" y="-726"/>
            <a:chExt cx="5760" cy="684"/>
          </a:xfrm>
        </p:grpSpPr>
        <p:sp>
          <p:nvSpPr>
            <p:cNvPr id="17" name="Rectangle 9"/>
            <p:cNvSpPr>
              <a:spLocks noChangeArrowheads="1"/>
            </p:cNvSpPr>
            <p:nvPr userDrawn="1"/>
          </p:nvSpPr>
          <p:spPr bwMode="auto">
            <a:xfrm>
              <a:off x="0" y="-726"/>
              <a:ext cx="5760" cy="678"/>
            </a:xfrm>
            <a:prstGeom prst="rect">
              <a:avLst/>
            </a:prstGeom>
            <a:solidFill>
              <a:srgbClr val="96A5C4">
                <a:alpha val="60001"/>
              </a:srgb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  <p:sp>
          <p:nvSpPr>
            <p:cNvPr id="18" name="Rectangle 10"/>
            <p:cNvSpPr>
              <a:spLocks noChangeArrowheads="1"/>
            </p:cNvSpPr>
            <p:nvPr userDrawn="1"/>
          </p:nvSpPr>
          <p:spPr bwMode="auto">
            <a:xfrm>
              <a:off x="0" y="-720"/>
              <a:ext cx="5760" cy="678"/>
            </a:xfrm>
            <a:prstGeom prst="rect">
              <a:avLst/>
            </a:prstGeom>
            <a:solidFill>
              <a:schemeClr val="bg1">
                <a:alpha val="31000"/>
              </a:schemeClr>
            </a:solidFill>
            <a:ln w="9525">
              <a:noFill/>
              <a:miter lim="800000"/>
              <a:headEnd/>
              <a:tailEnd/>
            </a:ln>
            <a:effectLst/>
          </p:spPr>
          <p:txBody>
            <a:bodyPr wrap="none" anchor="ctr"/>
            <a:lstStyle/>
            <a:p>
              <a:pPr algn="ctr">
                <a:defRPr/>
              </a:pPr>
              <a:endParaRPr lang="pt-BR" dirty="0">
                <a:latin typeface="Tahoma" pitchFamily="34" charset="0"/>
                <a:ea typeface="+mn-ea"/>
              </a:endParaRPr>
            </a:p>
          </p:txBody>
        </p:sp>
      </p:grpSp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Prototype</a:t>
            </a:r>
            <a:r>
              <a:rPr lang="pt-BR" sz="4000" i="1" dirty="0" err="1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  <a:r>
              <a:rPr lang="pt-BR" sz="4000" i="1" dirty="0">
                <a:solidFill>
                  <a:srgbClr val="333399"/>
                </a:solidFill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/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9BF4AECB-AAC1-46E3-AF09-A631E4BCB1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7200" y="1600201"/>
            <a:ext cx="8229600" cy="4337662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2400" b="1" i="1" dirty="0">
                <a:solidFill>
                  <a:srgbClr val="333399"/>
                </a:solidFill>
              </a:rPr>
              <a:t>Padrões de Projeto Orientado a Objetos</a:t>
            </a:r>
            <a:endParaRPr lang="pt-BR" sz="2400" b="1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endParaRPr lang="pt-BR" sz="1800" dirty="0">
              <a:solidFill>
                <a:srgbClr val="333399"/>
              </a:solidFill>
            </a:endParaRPr>
          </a:p>
          <a:p>
            <a:pPr marL="57150" indent="0" algn="just">
              <a:buNone/>
            </a:pPr>
            <a:r>
              <a:rPr lang="pt-BR" sz="2400" b="1" dirty="0">
                <a:solidFill>
                  <a:srgbClr val="333399"/>
                </a:solidFill>
              </a:rPr>
              <a:t>Padrões Criacionais:</a:t>
            </a:r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202C95A-2AF6-49B0-BE51-226E5A34C307}" type="slidenum">
              <a:rPr lang="pt-BR" smtClean="0"/>
              <a:t>7</a:t>
            </a:fld>
            <a:endParaRPr lang="pt-BR" dirty="0"/>
          </a:p>
        </p:txBody>
      </p:sp>
      <p:pic>
        <p:nvPicPr>
          <p:cNvPr id="15" name="Imagem 1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44409" y="328339"/>
            <a:ext cx="514732" cy="792000"/>
          </a:xfrm>
          <a:prstGeom prst="rect">
            <a:avLst/>
          </a:prstGeom>
        </p:spPr>
      </p:pic>
      <p:pic>
        <p:nvPicPr>
          <p:cNvPr id="23" name="Imagem 2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286" y="567712"/>
            <a:ext cx="1200000" cy="360000"/>
          </a:xfrm>
          <a:prstGeom prst="rect">
            <a:avLst/>
          </a:prstGeom>
        </p:spPr>
      </p:pic>
      <p:graphicFrame>
        <p:nvGraphicFramePr>
          <p:cNvPr id="6" name="Tabela 6">
            <a:extLst>
              <a:ext uri="{FF2B5EF4-FFF2-40B4-BE49-F238E27FC236}">
                <a16:creationId xmlns:a16="http://schemas.microsoft.com/office/drawing/2014/main" id="{19AF9261-8EF8-490B-BB71-B2DC1BEC264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1361928"/>
              </p:ext>
            </p:extLst>
          </p:nvPr>
        </p:nvGraphicFramePr>
        <p:xfrm>
          <a:off x="457200" y="2852936"/>
          <a:ext cx="8229600" cy="1818640"/>
        </p:xfrm>
        <a:graphic>
          <a:graphicData uri="http://schemas.openxmlformats.org/drawingml/2006/table">
            <a:tbl>
              <a:tblPr firstRow="1" bandRow="1">
                <a:tableStyleId>{6E25E649-3F16-4E02-A733-19D2CDBF48F0}</a:tableStyleId>
              </a:tblPr>
              <a:tblGrid>
                <a:gridCol w="4114800">
                  <a:extLst>
                    <a:ext uri="{9D8B030D-6E8A-4147-A177-3AD203B41FA5}">
                      <a16:colId xmlns:a16="http://schemas.microsoft.com/office/drawing/2014/main" val="1474462612"/>
                    </a:ext>
                  </a:extLst>
                </a:gridCol>
                <a:gridCol w="4114800">
                  <a:extLst>
                    <a:ext uri="{9D8B030D-6E8A-4147-A177-3AD203B41FA5}">
                      <a16:colId xmlns:a16="http://schemas.microsoft.com/office/drawing/2014/main" val="3038140659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PRÓS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pt-BR" sz="1600" dirty="0"/>
                        <a:t>CONTRAS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736675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/>
                        <a:t>Permite adicionar/remover "tipos" de produto em tempo de execução, só registrando um novo protótipo.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Clonar objetos complexos com referências circulares pode ser difícil de implementar corretamente.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164876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/>
                        <a:t>Reduz a necessidade de subclasses de fábrica (comparado ao Factory Method) — basta variar valores, não código.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Exige atenção à diferença entre cópia rasa (shallow) e cópia profunda (deep) — um erro aqui gera bugs sutis de estado compartilhado.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12569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sz="1200"/>
                        <a:t>Evita repetir configuração cara: o objeto complexo é montado uma vez e depois só copiado.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200"/>
                        <a:t>Toda subclasse concreta precisa implementar sua própria lógica correta de clonagem.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10627154"/>
                  </a:ext>
                </a:extLst>
              </a:tr>
            </a:tbl>
          </a:graphicData>
        </a:graphic>
      </p:graphicFrame>
      <p:sp>
        <p:nvSpPr>
          <p:cNvPr id="5" name="Rectangle 14">
            <a:extLst>
              <a:ext uri="{FF2B5EF4-FFF2-40B4-BE49-F238E27FC236}">
                <a16:creationId xmlns:a16="http://schemas.microsoft.com/office/drawing/2014/main" id="{0F619050-3846-9DAA-2ABB-E5FFC94C5D2D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 bwMode="auto">
          <a:xfrm>
            <a:off x="3124200" y="6356350"/>
            <a:ext cx="3752056" cy="3651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>
              <a:defRPr sz="1400" b="1" u="none">
                <a:solidFill>
                  <a:srgbClr val="83A5D7"/>
                </a:solidFill>
                <a:latin typeface="Arial" charset="0"/>
              </a:defRPr>
            </a:lvl1pPr>
          </a:lstStyle>
          <a:p>
            <a:pPr algn="just"/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>Nome do Aluno: Marcus Paulo — marcuspaulodev@gmail.com</a:t>
            </a:r>
            <a:r>
              <a:rPr lang="en-US" i="1" dirty="0" err="1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  <a:r>
              <a:rPr lang="en-US" i="1" dirty="0">
                <a:solidFill>
                  <a:schemeClr val="tx2">
                    <a:lumMod val="40000"/>
                    <a:lumOff val="60000"/>
                  </a:schemeClr>
                </a:solidFill>
              </a:rPr>
              <a:t/>
            </a:r>
          </a:p>
        </p:txBody>
      </p:sp>
    </p:spTree>
    <p:extLst>
      <p:ext uri="{BB962C8B-B14F-4D97-AF65-F5344CB8AC3E}">
        <p14:creationId xmlns:p14="http://schemas.microsoft.com/office/powerpoint/2010/main" val="2082052203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Escritório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ema do Office">
  <a:themeElements>
    <a:clrScheme name="Escritório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Escritório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Escritório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EmbeddedLab</Template>
  <TotalTime>118500</TotalTime>
  <Words>288</Words>
  <Application>Microsoft Office PowerPoint</Application>
  <PresentationFormat>Apresentação na tela (4:3)</PresentationFormat>
  <Paragraphs>91</Paragraphs>
  <Slides>7</Slides>
  <Notes>7</Notes>
  <HiddenSlides>0</HiddenSlides>
  <MMClips>0</MMClips>
  <ScaleCrop>false</ScaleCrop>
  <HeadingPairs>
    <vt:vector size="6" baseType="variant">
      <vt:variant>
        <vt:lpstr>Fontes usadas</vt:lpstr>
      </vt:variant>
      <vt:variant>
        <vt:i4>5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7</vt:i4>
      </vt:variant>
    </vt:vector>
  </HeadingPairs>
  <TitlesOfParts>
    <vt:vector size="13" baseType="lpstr">
      <vt:lpstr>Arial</vt:lpstr>
      <vt:lpstr>Calibri</vt:lpstr>
      <vt:lpstr>Tahoma</vt:lpstr>
      <vt:lpstr>Wingdings</vt:lpstr>
      <vt:lpstr>Wingdings 2</vt:lpstr>
      <vt:lpstr>Tema do Office</vt:lpstr>
      <vt:lpstr>Design Patterns </vt:lpstr>
      <vt:lpstr>Design Patterns </vt:lpstr>
      <vt:lpstr>Design Patterns </vt:lpstr>
      <vt:lpstr>Design Patterns </vt:lpstr>
      <vt:lpstr>Design Patterns </vt:lpstr>
      <vt:lpstr>Design Patterns </vt:lpstr>
      <vt:lpstr>Design Patterns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Sistemas Multimídia</dc:title>
  <dc:creator>lenardocs</dc:creator>
  <cp:lastModifiedBy>Lenardo Chaves</cp:lastModifiedBy>
  <cp:revision>2228</cp:revision>
  <cp:lastPrinted>2015-03-03T10:46:54Z</cp:lastPrinted>
  <dcterms:created xsi:type="dcterms:W3CDTF">2012-08-10T18:51:58Z</dcterms:created>
  <dcterms:modified xsi:type="dcterms:W3CDTF">2026-08-18T18:57:08Z</dcterms:modified>
</cp:coreProperties>
</file>