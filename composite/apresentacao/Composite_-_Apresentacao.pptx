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6B8AA2-8D9A-42E2-AC8B-AF8D27B7C09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843D3-0AA9-4F39-9834-A4C1993E68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E8617-01B9-4233-8CD3-D0F324B0920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A6065-8D21-47B4-97FB-33CA1B77AA3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D9E57-757B-4357-9042-015B17E759E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FB6FA-4827-4DC6-B98A-F8FEB163673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9FC1B-10D6-4964-B98D-DDDF78FD60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D6152-10C6-48D4-B8B0-40F43AEF029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02B52-CB80-4704-A236-2EC0F6B40DC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38045-3D08-4710-AA4C-A36939B9F56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DB8CE-0DE9-4A97-A013-501CE201453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40CB8-F393-4F55-B8C3-06E74C887CE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EB828-C684-4F14-BAEF-181C23567C0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444DD-1FDC-4EE2-9BC1-C64DD7FE76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51835-420F-4434-ACB7-F8937F4D3AB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71A90-273E-4AD2-A8E2-F21668F049A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4B3A7-B971-4FDB-BD2D-6318722AD7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7DE757-8E53-4654-8AF4-3FC44C1B109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75399-33C1-4D26-9C8B-F489C819CA5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Composite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Composite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Compõe objetos em estruturas de árvore para representar hierarquias parte-todo, permitindo que o cliente trate objetos individuais e composições de maneira uniforme.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9BD921-545F-42EE-9793-D8F6DD0CBA0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Composite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Composite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Muitos domínios têm estruturas hierárquicas: uma Pasta contém Arquivos e também outras Pastas, que por sua vez contêm mais itens, formando uma árvore.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Se Arquivo e Pasta não têm nada em comum, o cliente precisa testar o tipo de cada item (instanceof, if/else) para decidir como tratá-lo.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Operações sobre a árvore inteira (ex.: calcular o tamanho total) ficam cheias de condicionais e precisam descer manualmente por cada nível.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Adicionar um novo tipo de item (ex.: Atalho) obriga a alterar todo código cliente que percorre a estrutura.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825F48-5D32-4F8D-A2E7-CD12E23C4CF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Composite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Composite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Definir uma interface comum, o Component (ItemSistemaArquivos), com as operações que fazem sentido tanto para itens simples quanto para compostos (nome(), tamanho(), exibir()).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 Folha (Arquivo) implementa a interface e faz o trabalho real, sem ter filhos.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Composto (Pasta) também implementa a interface, mas guarda uma lista de filhos do tipo Component.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Composto delega o trabalho aos filhos e combina os resultados (ex.: tamanho() = soma dos tamanhos dos filhos), de forma recursiva.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cliente trabalha apenas com a interface Component, sem saber se está lidando com uma folha ou uma árvore inteira.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311CF6-1F9A-4969-BDE2-A168238A21A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Composite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Composite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Main (Cliente) usa apenas a interface ItemSistemaArquivos.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ItemSistemaArquivos é o Component: interface comum a folhas e compostos (nome, tamanho, exibir).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Arquivo é a Folha: implementa as operações diretamente e não possui filhos.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Pasta é o Composto: guarda filhos do tipo ItemSistemaArquivos e delega a eles, recursivamente.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angle 23"/>
          <p:cNvSpPr/>
          <p:nvPr/>
        </p:nvSpPr>
        <p:spPr>
          <a:xfrm>
            <a:off x="4716000" y="1749960"/>
            <a:ext cx="2599560" cy="50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Main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(Cliente)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24"/>
          <p:cNvSpPr/>
          <p:nvPr/>
        </p:nvSpPr>
        <p:spPr>
          <a:xfrm>
            <a:off x="4716000" y="2649960"/>
            <a:ext cx="2599560" cy="70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«interface»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ItemSistemaArquivos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nome()/tamanho()/exibir()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5"/>
          <p:cNvSpPr/>
          <p:nvPr/>
        </p:nvSpPr>
        <p:spPr>
          <a:xfrm>
            <a:off x="4716000" y="3949560"/>
            <a:ext cx="1200000" cy="65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Arquivo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(Folha)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6066000" y="3949560"/>
            <a:ext cx="1500000" cy="95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Pasta (Composto)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filhos: List&lt;...&gt;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adicionar(item)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remover(item)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Connector 26"/>
          <p:cNvCxnSpPr/>
          <p:nvPr/>
        </p:nvCxnSpPr>
        <p:spPr>
          <a:xfrm>
            <a:off x="6015780" y="2249960"/>
            <a:ext cx="0" cy="4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09" name="Connector 27"/>
          <p:cNvCxnSpPr/>
          <p:nvPr/>
        </p:nvCxnSpPr>
        <p:spPr>
          <a:xfrm flipV="1">
            <a:off x="5316000" y="3349960"/>
            <a:ext cx="399780" cy="5996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0" name="Connector 110"/>
          <p:cNvCxnSpPr/>
          <p:nvPr/>
        </p:nvCxnSpPr>
        <p:spPr>
          <a:xfrm flipH="1" flipV="1">
            <a:off x="6215780" y="3349960"/>
            <a:ext cx="250220" cy="5996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200" name="Connector 200"/>
          <p:cNvCxnSpPr/>
          <p:nvPr/>
        </p:nvCxnSpPr>
        <p:spPr>
          <a:xfrm flipV="1">
            <a:off x="7216000" y="3349960"/>
            <a:ext cx="0" cy="599600"/>
          </a:xfrm>
          <a:prstGeom prst="straightConnector1">
            <a:avLst/>
          </a:prstGeom>
          <a:ln w="15875">
            <a:solidFill>
              <a:srgbClr val="606060"/>
            </a:solidFill>
            <a:prstDash val="dash"/>
            <a:round/>
            <a:headEnd type="diamond" w="med" len="med"/>
            <a:tailEnd type="arrow" w="med" len="med"/>
          </a:ln>
        </p:spPr>
      </p:cxn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CAB2AB-BA36-483E-B4A8-2FD0474FE398}" type="slidenum">
              <a:t>4</a:t>
            </a:fld>
          </a:p>
        </p:txBody>
      </p:sp>
      <p:sp>
        <p:nvSpPr>
          <p:cNvPr id="201" name="TextBox 200"/>
          <p:cNvSpPr txBox="1"/>
          <p:nvPr/>
        </p:nvSpPr>
        <p:spPr>
          <a:xfrm>
            <a:off x="7246000" y="346996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latin typeface="Calibri"/>
              </a:rPr>
              <a:t>filhos 0..*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11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2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13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14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5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Composite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Composite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ItemSistemaArquivos é a interface comum; Arquivo é a Folha, com tamanho fixo.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Pasta é o Composto: guarda uma lista de filhos e calcula tamanho() somando o tamanho de cada um, recursivamente.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monta a árvore e chama exibir() e tamanho() na raiz, sem se importar se cada item é Arquivo ou Pasta.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angle 23"/>
          <p:cNvSpPr/>
          <p:nvPr/>
        </p:nvSpPr>
        <p:spPr>
          <a:xfrm>
            <a:off x="4716000" y="16498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ItemSistemaArquivos.java / Arquivo.java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interface ItemSistemaArquivos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String nome();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int tamanho();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void exibir(String indentacao);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Arquivo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implements ItemSistemaArquivos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final int tamanho;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int tamanho()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return tamanho;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4"/>
          <p:cNvSpPr/>
          <p:nvPr/>
        </p:nvSpPr>
        <p:spPr>
          <a:xfrm>
            <a:off x="4716000" y="41500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Pasta.java / Main.java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Pasta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implements ItemSistemaArquivos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List&lt;ItemSistemaArquivos&gt; filhos;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int tamanho()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int total = 0;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for (ItemSistemaArquivos f : filhos)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total += f.tamanho();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return total;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// Main.java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projeto.adicionar(src); // Pasta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projeto.tamanho();      // 132 KB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4F17A84-12A4-4BB9-B4F6-F9BCC4D7D1B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Composite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Composite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o modelo do domínio forma uma hierarquia parte-todo que pode ser representada como uma árvore (ex.: pastas e arquivos, organogramas, menus e submenus).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se quer que o cliente trate objetos simples e composições da mesma forma, sem condicionais por tipo.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Interfaces gráficas: um painel (container) contém botões, campos e outros painéis, e todos respondem a desenhar().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Expressões e documentos: uma expressão composta contém subexpressões; um documento contém seções, parágrafos e imagens.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DA7002-B8DF-4828-8539-74A945FBD05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Composite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2" name="Tabela 6"/>
          <p:cNvGraphicFramePr/>
          <p:nvPr/>
        </p:nvGraphicFramePr>
        <p:xfrm>
          <a:off x="457200" y="2853000"/>
          <a:ext cx="8229240" cy="2073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Permite trabalhar com estruturas de árvore complexas de forma simples, usando polimorfismo e recursão.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Pode ser difícil definir uma interface comum para classes com funcionalidades muito diferentes; ela tende a ficar genérica demais.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Princípio Aberto/Fechado: novos tipos de elementos (folhas ou compostos) podem ser adicionados sem quebrar o código cliente existente.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Fica difícil restringir quais tipos de filhos um composto pode ter; o sistema de tipos não ajuda, exigindo verificações em tempo de execução.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 cliente não precisa distinguir folhas de compostos: o mesmo código funciona para um item isolado ou para a árvore inteira.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Operações como adicionar()/remover() não fazem sentido para folhas; colocá-las na interface comum sacrifica a segurança de tipos.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8FBF21-7E69-462B-9176-ABF03D84F65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Application>LibreOffice/26.2.6.1$Linux_X86_64 LibreOffice_project/620$Build-1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2026-09-15T19:31:40Z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